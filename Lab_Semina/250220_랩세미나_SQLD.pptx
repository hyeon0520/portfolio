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68" r:id="rId2"/>
    <p:sldId id="262" r:id="rId3"/>
    <p:sldId id="258" r:id="rId4"/>
    <p:sldId id="277" r:id="rId5"/>
    <p:sldId id="293" r:id="rId6"/>
    <p:sldId id="294" r:id="rId7"/>
    <p:sldId id="292" r:id="rId8"/>
    <p:sldId id="295" r:id="rId9"/>
    <p:sldId id="296" r:id="rId10"/>
    <p:sldId id="297" r:id="rId11"/>
    <p:sldId id="274" r:id="rId12"/>
    <p:sldId id="298" r:id="rId13"/>
    <p:sldId id="299" r:id="rId14"/>
    <p:sldId id="273" r:id="rId15"/>
    <p:sldId id="291" r:id="rId16"/>
    <p:sldId id="266" r:id="rId17"/>
    <p:sldId id="271" r:id="rId18"/>
    <p:sldId id="259" r:id="rId19"/>
    <p:sldId id="264" r:id="rId20"/>
    <p:sldId id="267" r:id="rId21"/>
    <p:sldId id="282" r:id="rId22"/>
    <p:sldId id="265" r:id="rId2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2025/01/09 세미나" id="{49F484D5-1B96-41D9-90C0-4F5183045A2B}">
          <p14:sldIdLst>
            <p14:sldId id="268"/>
            <p14:sldId id="262"/>
            <p14:sldId id="258"/>
            <p14:sldId id="277"/>
            <p14:sldId id="293"/>
            <p14:sldId id="294"/>
            <p14:sldId id="292"/>
            <p14:sldId id="295"/>
            <p14:sldId id="296"/>
            <p14:sldId id="297"/>
            <p14:sldId id="274"/>
            <p14:sldId id="298"/>
            <p14:sldId id="299"/>
            <p14:sldId id="273"/>
            <p14:sldId id="291"/>
            <p14:sldId id="266"/>
            <p14:sldId id="271"/>
            <p14:sldId id="259"/>
            <p14:sldId id="264"/>
            <p14:sldId id="267"/>
            <p14:sldId id="282"/>
            <p14:sldId id="265"/>
          </p14:sldIdLst>
        </p14:section>
        <p14:section name="기본 구역" id="{1121E7F8-DE13-4027-8193-0B7FE7AA0841}">
          <p14:sldIdLst/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EB6018-8362-49E0-BE30-5235C47A570F}" type="datetimeFigureOut">
              <a:rPr lang="ko-KR" altLang="en-US" smtClean="0"/>
              <a:t>2025-02-20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7EF002-BBD0-418C-9DFF-90595CB95E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12810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BE40CF-CCAD-474F-A4C6-64013693D155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13992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BE40CF-CCAD-474F-A4C6-64013693D155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4742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BE40CF-CCAD-474F-A4C6-64013693D155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66236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FB7651-CDC2-1423-3C3E-7205B6714F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E08F870-41DE-F508-D93F-F65BCF10F3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92884DE-07B7-B505-7772-28F3EB436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87A06-D602-4FB5-8E9C-2BD14091A373}" type="datetimeFigureOut">
              <a:rPr lang="ko-KR" altLang="en-US" smtClean="0"/>
              <a:t>2025-02-20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244C69F-50ED-781B-B767-1218C2935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B5162A2-549F-6B5F-0E86-00DE6F91A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3A3B-7607-4D5B-B8AD-432D9F4043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34896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EA5F62-D7B1-F3BE-6AB5-476C6DECE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8E3975-2E1C-9C88-BEF9-FC0148AA58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D730332-3313-5293-6E09-3703E4D0E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87A06-D602-4FB5-8E9C-2BD14091A373}" type="datetimeFigureOut">
              <a:rPr lang="ko-KR" altLang="en-US" smtClean="0"/>
              <a:t>2025-02-20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F6D30A9-D432-96DC-BC79-7077CE5F8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3EA830C-A5A8-350B-CEFA-2759D471D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3A3B-7607-4D5B-B8AD-432D9F4043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21740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752A0E-1585-DA86-584B-66AAAF766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10D46BD-041E-206F-60B5-74DD9C37C1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E46665-0E99-3647-049D-02584DC3C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87A06-D602-4FB5-8E9C-2BD14091A373}" type="datetimeFigureOut">
              <a:rPr lang="ko-KR" altLang="en-US" smtClean="0"/>
              <a:t>2025-02-20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ACC1A9-40A5-AB32-27A0-2492A97C7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0FA48F1-2280-EF61-404E-BF33F28A9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3A3B-7607-4D5B-B8AD-432D9F4043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8278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4A51BC-A5D4-600B-3D75-0E5F4C483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B78659C-EBAA-6DED-DBDD-A9710CBDE4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96425B-4928-42BA-C5A6-AC5CA9A28E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59BA6C5-9E18-5D6D-4C02-840FE2278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87A06-D602-4FB5-8E9C-2BD14091A373}" type="datetimeFigureOut">
              <a:rPr lang="ko-KR" altLang="en-US" smtClean="0"/>
              <a:t>2025-02-20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5BEDF55-0E56-44A8-7214-E84A1871B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777356E-0153-49D9-C711-EB66488F5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3A3B-7607-4D5B-B8AD-432D9F4043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656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6A5A29-28CB-C7F3-8FE5-F006266EE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70AB0A-9668-B75C-C960-6B1EFE39D1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67E4241-8E11-8F4B-968E-E6803611A6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77A3C22-D1F8-B14B-A9CC-26AEE6DDDF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A52C0D8-DCC8-E30E-09D4-BAAA9258C6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4E028E8-AA1C-C7C6-9702-960A5179C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87A06-D602-4FB5-8E9C-2BD14091A373}" type="datetimeFigureOut">
              <a:rPr lang="ko-KR" altLang="en-US" smtClean="0"/>
              <a:t>2025-02-20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30791D4-E26B-D730-86CD-802EA429C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05CABF2-74F5-6CD5-5468-D10A95E68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3A3B-7607-4D5B-B8AD-432D9F4043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8018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7D10C0-A2A8-CB50-B6B4-5304B2FED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2C62410-BEDE-A7A4-3AB2-7BA1608BC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87A06-D602-4FB5-8E9C-2BD14091A373}" type="datetimeFigureOut">
              <a:rPr lang="ko-KR" altLang="en-US" smtClean="0"/>
              <a:t>2025-02-20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98BF648-E135-4747-C72D-9D2EA9539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FBA70A4-8E4C-25EE-4117-7C693C870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3A3B-7607-4D5B-B8AD-432D9F4043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72928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F1F1B0C-54A4-0BEE-8CC5-697AD433B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87A06-D602-4FB5-8E9C-2BD14091A373}" type="datetimeFigureOut">
              <a:rPr lang="ko-KR" altLang="en-US" smtClean="0"/>
              <a:t>2025-02-20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AB413E1-242B-6630-D088-11EB6BBAB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2C93858-AD29-C378-29A2-E16E1BD22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3A3B-7607-4D5B-B8AD-432D9F4043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73790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5DD5A6-757C-FA09-5E9F-2C917CE63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3D7965-B521-B8D1-1D2C-537F00AE42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B269954-05E3-3FAD-D387-331E049CF7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C702D75-954C-3A58-05CE-01F75A357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87A06-D602-4FB5-8E9C-2BD14091A373}" type="datetimeFigureOut">
              <a:rPr lang="ko-KR" altLang="en-US" smtClean="0"/>
              <a:t>2025-02-20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30976D6-5879-3A84-A2DB-993BE7E1C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8E08BD2-4714-2E71-08FB-7ED53A530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3A3B-7607-4D5B-B8AD-432D9F4043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7806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06A62E-AFA3-630F-1DBD-EFCC796B7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2BC6115-6111-2C32-0C48-E4C40288CC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0F2D989-D2A7-8136-F9C7-D72C912199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6E5A240-99D6-786F-E718-A9CDA863E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87A06-D602-4FB5-8E9C-2BD14091A373}" type="datetimeFigureOut">
              <a:rPr lang="ko-KR" altLang="en-US" smtClean="0"/>
              <a:t>2025-02-20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ADF60EE-6DD0-32A1-F10F-758790B74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098170D-070E-8622-9B8F-2A9316A0B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3A3B-7607-4D5B-B8AD-432D9F4043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94192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DA2F51-5261-4702-0B51-18165F09C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0FF04A6-4CDD-0458-6693-0338CD3898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4E9F75F-CFB3-0A69-92E6-B04948FB6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87A06-D602-4FB5-8E9C-2BD14091A373}" type="datetimeFigureOut">
              <a:rPr lang="ko-KR" altLang="en-US" smtClean="0"/>
              <a:t>2025-02-20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CF88E7C-FD57-528D-4187-CC1389963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08E37FF-E055-AEDE-4F5D-578A1237F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3A3B-7607-4D5B-B8AD-432D9F4043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76563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96C5EDC-8C11-80F5-AF83-116A9C247C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326FFAE-4599-2802-4266-974ACAFF9D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35A3912-75CD-DF91-5DF1-0DD9DB8A0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87A06-D602-4FB5-8E9C-2BD14091A373}" type="datetimeFigureOut">
              <a:rPr lang="ko-KR" altLang="en-US" smtClean="0"/>
              <a:t>2025-02-20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08CFD93-19C2-5983-3914-AD4CDA6A5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B23F57B-C8FB-A19D-89DC-63A8BEA78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3A3B-7607-4D5B-B8AD-432D9F4043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66928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B2C5D5C-1A87-103C-6073-5716AECB5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5357A99-4BE2-EC67-B7CE-E9F614AEF2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1EA0E0-B8DF-1C32-390D-5336B9AD3A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B87A06-D602-4FB5-8E9C-2BD14091A373}" type="datetimeFigureOut">
              <a:rPr lang="ko-KR" altLang="en-US" smtClean="0"/>
              <a:t>2025-02-20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FCE18F7-7961-B1B2-F560-912181FD28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BAEDF7-73EF-1E5B-25CB-0A32BD32DC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3F3A3B-7607-4D5B-B8AD-432D9F4043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8881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11" Type="http://schemas.openxmlformats.org/officeDocument/2006/relationships/image" Target="../media/image32.svg"/><Relationship Id="rId5" Type="http://schemas.openxmlformats.org/officeDocument/2006/relationships/image" Target="../media/image27.png"/><Relationship Id="rId10" Type="http://schemas.openxmlformats.org/officeDocument/2006/relationships/image" Target="../media/image31.png"/><Relationship Id="rId4" Type="http://schemas.openxmlformats.org/officeDocument/2006/relationships/image" Target="../media/image10.png"/><Relationship Id="rId9" Type="http://schemas.openxmlformats.org/officeDocument/2006/relationships/image" Target="../media/image30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.png"/><Relationship Id="rId9" Type="http://schemas.openxmlformats.org/officeDocument/2006/relationships/image" Target="../media/image36.jpe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10" Type="http://schemas.openxmlformats.org/officeDocument/2006/relationships/image" Target="../media/image16.png"/><Relationship Id="rId4" Type="http://schemas.openxmlformats.org/officeDocument/2006/relationships/image" Target="../media/image3.png"/><Relationship Id="rId9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27.png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10" Type="http://schemas.openxmlformats.org/officeDocument/2006/relationships/image" Target="../media/image45.png"/><Relationship Id="rId4" Type="http://schemas.openxmlformats.org/officeDocument/2006/relationships/image" Target="../media/image3.png"/><Relationship Id="rId9" Type="http://schemas.openxmlformats.org/officeDocument/2006/relationships/image" Target="../media/image44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10.png"/><Relationship Id="rId9" Type="http://schemas.openxmlformats.org/officeDocument/2006/relationships/image" Target="../media/image46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12" Type="http://schemas.openxmlformats.org/officeDocument/2006/relationships/image" Target="../media/image5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png"/><Relationship Id="rId11" Type="http://schemas.openxmlformats.org/officeDocument/2006/relationships/image" Target="../media/image52.png"/><Relationship Id="rId5" Type="http://schemas.openxmlformats.org/officeDocument/2006/relationships/image" Target="../media/image47.png"/><Relationship Id="rId10" Type="http://schemas.openxmlformats.org/officeDocument/2006/relationships/image" Target="../media/image51.png"/><Relationship Id="rId4" Type="http://schemas.openxmlformats.org/officeDocument/2006/relationships/image" Target="../media/image3.png"/><Relationship Id="rId9" Type="http://schemas.openxmlformats.org/officeDocument/2006/relationships/image" Target="../media/image5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10" Type="http://schemas.openxmlformats.org/officeDocument/2006/relationships/image" Target="../media/image56.png"/><Relationship Id="rId4" Type="http://schemas.openxmlformats.org/officeDocument/2006/relationships/image" Target="../media/image3.png"/><Relationship Id="rId9" Type="http://schemas.openxmlformats.org/officeDocument/2006/relationships/image" Target="../media/image55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11" Type="http://schemas.openxmlformats.org/officeDocument/2006/relationships/image" Target="../media/image45.png"/><Relationship Id="rId5" Type="http://schemas.openxmlformats.org/officeDocument/2006/relationships/image" Target="../media/image3.png"/><Relationship Id="rId10" Type="http://schemas.openxmlformats.org/officeDocument/2006/relationships/image" Target="../media/image44.png"/><Relationship Id="rId4" Type="http://schemas.openxmlformats.org/officeDocument/2006/relationships/image" Target="../media/image2.png"/><Relationship Id="rId9" Type="http://schemas.openxmlformats.org/officeDocument/2006/relationships/image" Target="../media/image43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61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12" Type="http://schemas.openxmlformats.org/officeDocument/2006/relationships/image" Target="../media/image6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11" Type="http://schemas.openxmlformats.org/officeDocument/2006/relationships/image" Target="../media/image59.png"/><Relationship Id="rId5" Type="http://schemas.openxmlformats.org/officeDocument/2006/relationships/image" Target="../media/image33.png"/><Relationship Id="rId10" Type="http://schemas.openxmlformats.org/officeDocument/2006/relationships/image" Target="../media/image58.png"/><Relationship Id="rId4" Type="http://schemas.openxmlformats.org/officeDocument/2006/relationships/image" Target="../media/image3.png"/><Relationship Id="rId9" Type="http://schemas.openxmlformats.org/officeDocument/2006/relationships/image" Target="../media/image5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7333" y="381000"/>
            <a:ext cx="2573867" cy="508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7600" y="381000"/>
            <a:ext cx="2573867" cy="508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7867" y="381000"/>
            <a:ext cx="2573867" cy="5080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20133"/>
            <a:ext cx="3251200" cy="643467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753533"/>
            <a:ext cx="12192000" cy="6104467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>
            <a:alphaModFix amt="60000"/>
          </a:blip>
          <a:stretch>
            <a:fillRect/>
          </a:stretch>
        </p:blipFill>
        <p:spPr>
          <a:xfrm>
            <a:off x="575733" y="4766734"/>
            <a:ext cx="11049000" cy="1515533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8">
            <a:alphaModFix amt="35000"/>
          </a:blip>
          <a:stretch>
            <a:fillRect/>
          </a:stretch>
        </p:blipFill>
        <p:spPr>
          <a:xfrm>
            <a:off x="889000" y="5528734"/>
            <a:ext cx="10414000" cy="16933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63667" y="1456267"/>
            <a:ext cx="1625600" cy="16256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31400" y="1397000"/>
            <a:ext cx="1947333" cy="2192867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9313333" y="5147734"/>
            <a:ext cx="1913467" cy="270933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>
              <a:lnSpc>
                <a:spcPct val="104580"/>
              </a:lnSpc>
            </a:pPr>
            <a:r>
              <a:rPr lang="en-US" sz="1500" spc="133">
                <a:solidFill>
                  <a:srgbClr val="FADE6E"/>
                </a:solidFill>
                <a:latin typeface="Pretendard Light"/>
              </a:rPr>
              <a:t>2025.02.13</a:t>
            </a:r>
            <a:endParaRPr lang="en-US" sz="1533" b="0" i="0" u="none" strike="noStrike" spc="133">
              <a:solidFill>
                <a:srgbClr val="FADE6E"/>
              </a:solidFill>
              <a:latin typeface="Pretendard Light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956733" y="5071533"/>
            <a:ext cx="3463471" cy="346529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4580"/>
              </a:lnSpc>
            </a:pPr>
            <a:r>
              <a:rPr lang="en-US" altLang="ko-KR" sz="2000" err="1">
                <a:solidFill>
                  <a:srgbClr val="FFFFFF"/>
                </a:solidFill>
                <a:latin typeface="맑은 고딕"/>
                <a:ea typeface="맑은 고딕"/>
                <a:cs typeface="ADLaM Display"/>
              </a:rPr>
              <a:t>강한성</a:t>
            </a:r>
            <a:r>
              <a:rPr lang="en-US" altLang="ko-KR" sz="2000">
                <a:solidFill>
                  <a:srgbClr val="FFFFFF"/>
                </a:solidFill>
                <a:latin typeface="맑은 고딕"/>
                <a:ea typeface="맑은 고딕"/>
                <a:cs typeface="ADLaM Display"/>
              </a:rPr>
              <a:t> </a:t>
            </a:r>
            <a:r>
              <a:rPr lang="en-US" altLang="ko-KR" sz="2000" err="1">
                <a:solidFill>
                  <a:srgbClr val="FFFFFF"/>
                </a:solidFill>
                <a:latin typeface="맑은 고딕"/>
                <a:ea typeface="맑은 고딕"/>
                <a:cs typeface="ADLaM Display"/>
              </a:rPr>
              <a:t>권우현</a:t>
            </a:r>
            <a:r>
              <a:rPr lang="en-US" altLang="ko-KR" sz="2000">
                <a:solidFill>
                  <a:srgbClr val="FFFFFF"/>
                </a:solidFill>
                <a:latin typeface="맑은 고딕"/>
                <a:ea typeface="맑은 고딕"/>
                <a:cs typeface="ADLaM Display"/>
              </a:rPr>
              <a:t> </a:t>
            </a:r>
            <a:r>
              <a:rPr lang="en-US" altLang="ko-KR" sz="2000" err="1">
                <a:solidFill>
                  <a:srgbClr val="FFFFFF"/>
                </a:solidFill>
                <a:latin typeface="맑은 고딕"/>
                <a:ea typeface="맑은 고딕"/>
                <a:cs typeface="ADLaM Display"/>
              </a:rPr>
              <a:t>박준성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56733" y="1701800"/>
            <a:ext cx="9855200" cy="2480733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4580"/>
              </a:lnSpc>
            </a:pPr>
            <a:r>
              <a:rPr lang="ko-KR" altLang="en-US" sz="7300" b="1" spc="200">
                <a:solidFill>
                  <a:srgbClr val="FFFFFF"/>
                </a:solidFill>
                <a:ea typeface="ONE Mobile Title OTF"/>
              </a:rPr>
              <a:t>랩세미나 4주차</a:t>
            </a:r>
            <a:endParaRPr lang="ko-KR" altLang="en-US" sz="7300" b="1" i="0" u="none" strike="noStrike" spc="200">
              <a:solidFill>
                <a:srgbClr val="FFFFFF"/>
              </a:solidFill>
              <a:ea typeface="ONE Mobile Title OTF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491067" y="376768"/>
            <a:ext cx="2197704" cy="388860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4580"/>
              </a:lnSpc>
            </a:pPr>
            <a:r>
              <a:rPr lang="en-US" sz="1500" spc="600">
                <a:solidFill>
                  <a:srgbClr val="FFFC9F"/>
                </a:solidFill>
                <a:latin typeface="Pretendard Light"/>
              </a:rPr>
              <a:t>Eco AI Lab</a:t>
            </a:r>
            <a:endParaRPr lang="en-US" sz="1500" b="0" i="0" u="none" strike="noStrike" spc="600">
              <a:solidFill>
                <a:srgbClr val="FFFC9F"/>
              </a:solidFill>
              <a:latin typeface="Pretendard Light"/>
            </a:endParaRPr>
          </a:p>
        </p:txBody>
      </p:sp>
      <p:sp>
        <p:nvSpPr>
          <p:cNvPr id="23" name="TextBox 20">
            <a:extLst>
              <a:ext uri="{FF2B5EF4-FFF2-40B4-BE49-F238E27FC236}">
                <a16:creationId xmlns:a16="http://schemas.microsoft.com/office/drawing/2014/main" id="{F7A99A4D-5177-E741-FD23-D8A55153D92D}"/>
              </a:ext>
            </a:extLst>
          </p:cNvPr>
          <p:cNvSpPr txBox="1"/>
          <p:nvPr/>
        </p:nvSpPr>
        <p:spPr>
          <a:xfrm>
            <a:off x="1110947" y="4327675"/>
            <a:ext cx="1930400" cy="355600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b="1">
                <a:solidFill>
                  <a:srgbClr val="FFFFFF"/>
                </a:solidFill>
                <a:latin typeface="Malgun Gothic"/>
                <a:ea typeface="Malgun Gothic"/>
              </a:rPr>
              <a:t>SQLD</a:t>
            </a:r>
            <a:endParaRPr lang="en-US" sz="3200" b="1">
              <a:solidFill>
                <a:srgbClr val="000000"/>
              </a:solidFill>
              <a:latin typeface="Malgun Gothic"/>
              <a:ea typeface="Malgun Gothic"/>
            </a:endParaRPr>
          </a:p>
          <a:p>
            <a:pPr>
              <a:lnSpc>
                <a:spcPct val="104580"/>
              </a:lnSpc>
            </a:pPr>
            <a:endParaRPr lang="en-US" altLang="ko-KR" sz="3200" b="1">
              <a:solidFill>
                <a:srgbClr val="FFFFFF"/>
              </a:solidFill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8246080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7333" y="381000"/>
            <a:ext cx="2573867" cy="508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7600" y="381000"/>
            <a:ext cx="2573867" cy="508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7867" y="381000"/>
            <a:ext cx="2573867" cy="5080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20133"/>
            <a:ext cx="3251200" cy="643467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753533"/>
            <a:ext cx="12192000" cy="6104467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1989" y="1109719"/>
            <a:ext cx="11557000" cy="5469467"/>
          </a:xfrm>
          <a:prstGeom prst="rect">
            <a:avLst/>
          </a:prstGeom>
          <a:effectLst>
            <a:outerShdw blurRad="669826" dist="252339" dir="2700000">
              <a:srgbClr val="000000">
                <a:alpha val="10000"/>
              </a:srgbClr>
            </a:outerShdw>
          </a:effectLst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>
            <a:alphaModFix amt="30000"/>
          </a:blip>
          <a:stretch>
            <a:fillRect/>
          </a:stretch>
        </p:blipFill>
        <p:spPr>
          <a:xfrm>
            <a:off x="9618133" y="4546600"/>
            <a:ext cx="1100667" cy="1100667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63667" y="4792133"/>
            <a:ext cx="609600" cy="6096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0700000">
            <a:off x="10261600" y="4961467"/>
            <a:ext cx="448733" cy="745067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29252" y="4052509"/>
            <a:ext cx="1676400" cy="1303867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55933" y="1854200"/>
            <a:ext cx="1676400" cy="1303867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252910" y="1854200"/>
            <a:ext cx="1676400" cy="1303867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022600" y="1854200"/>
            <a:ext cx="1676400" cy="1303867"/>
          </a:xfrm>
          <a:prstGeom prst="rect">
            <a:avLst/>
          </a:prstGeom>
        </p:spPr>
      </p:pic>
      <p:sp>
        <p:nvSpPr>
          <p:cNvPr id="22" name="TextBox 22"/>
          <p:cNvSpPr txBox="1"/>
          <p:nvPr/>
        </p:nvSpPr>
        <p:spPr>
          <a:xfrm>
            <a:off x="3165927" y="4449233"/>
            <a:ext cx="1490133" cy="685800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08729"/>
              </a:lnSpc>
            </a:pPr>
            <a:r>
              <a:rPr lang="en-US" altLang="ko-KR" sz="2000" b="1" i="0" u="none" strike="noStrike" spc="67" dirty="0">
                <a:solidFill>
                  <a:srgbClr val="FFFFFF"/>
                </a:solidFill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NULL</a:t>
            </a:r>
            <a:endParaRPr lang="ko-KR" sz="2000" b="1" i="0" u="none" strike="noStrike" spc="67" dirty="0">
              <a:solidFill>
                <a:srgbClr val="FFFFFF"/>
              </a:solidFill>
              <a:latin typeface="ONE Mobile Title OTF" panose="00000500000000000000" pitchFamily="50" charset="-127"/>
              <a:ea typeface="ONE Mobile Title OTF" panose="00000500000000000000" pitchFamily="50" charset="-127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3229428" y="5438624"/>
            <a:ext cx="1363133" cy="220133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08729"/>
              </a:lnSpc>
            </a:pPr>
            <a:r>
              <a:rPr lang="en-US" sz="1267" b="0" i="0" u="none" strike="noStrike" spc="67">
                <a:solidFill>
                  <a:srgbClr val="000000"/>
                </a:solidFill>
                <a:latin typeface="Pretendard Regular"/>
              </a:rPr>
              <a:t>CONTENTS 04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349067" y="2260600"/>
            <a:ext cx="1490133" cy="685800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8729"/>
              </a:lnSpc>
            </a:pPr>
            <a:r>
              <a:rPr lang="ko-KR" altLang="en-US" sz="2000" b="1" spc="67">
                <a:solidFill>
                  <a:srgbClr val="FFFFFF"/>
                </a:solidFill>
                <a:latin typeface="ONE Mobile Title OTF" panose="00000500000000000000" pitchFamily="50" charset="-127"/>
                <a:ea typeface="ONE Mobile Title OTF"/>
              </a:rPr>
              <a:t>트랜잭션</a:t>
            </a:r>
            <a:endParaRPr lang="ko-KR" altLang="en-US" sz="2000" b="1" i="0" u="none" strike="noStrike" spc="67">
              <a:solidFill>
                <a:srgbClr val="FFFFFF"/>
              </a:solidFill>
              <a:latin typeface="ONE Mobile Title OTF" panose="00000500000000000000" pitchFamily="50" charset="-127"/>
              <a:ea typeface="ONE Mobile Title OTF" panose="00000500000000000000" pitchFamily="50" charset="-127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7408334" y="3234267"/>
            <a:ext cx="1363133" cy="220133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08729"/>
              </a:lnSpc>
            </a:pPr>
            <a:r>
              <a:rPr lang="en-US" sz="1267" b="0" i="0" u="none" strike="noStrike" spc="67">
                <a:solidFill>
                  <a:srgbClr val="000000"/>
                </a:solidFill>
                <a:latin typeface="Pretendard Regular"/>
              </a:rPr>
              <a:t>CONTENTS 03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232400" y="2260600"/>
            <a:ext cx="1490133" cy="685800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8729"/>
              </a:lnSpc>
            </a:pPr>
            <a:r>
              <a:rPr lang="ko-KR" altLang="en-US" sz="2000" spc="67">
                <a:solidFill>
                  <a:srgbClr val="FFFFFF"/>
                </a:solidFill>
                <a:ea typeface="ONE Mobile Title OTF"/>
              </a:rPr>
              <a:t>자격증 취득 방법</a:t>
            </a:r>
            <a:endParaRPr lang="ko-KR" altLang="en-US" sz="2000" b="0" i="0" u="none" strike="noStrike" spc="67">
              <a:solidFill>
                <a:srgbClr val="FFFFFF"/>
              </a:solidFill>
              <a:ea typeface="ONE Mobile Title OTF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5291667" y="3234267"/>
            <a:ext cx="1363133" cy="220133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08729"/>
              </a:lnSpc>
            </a:pPr>
            <a:r>
              <a:rPr lang="en-US" sz="1267" b="0" i="0" u="none" strike="noStrike" spc="67">
                <a:solidFill>
                  <a:srgbClr val="000000"/>
                </a:solidFill>
                <a:latin typeface="Pretendard Regular"/>
              </a:rPr>
              <a:t>CONTENTS 02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115734" y="2260600"/>
            <a:ext cx="1490133" cy="685800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8729"/>
              </a:lnSpc>
            </a:pPr>
            <a:r>
              <a:rPr lang="en-US" altLang="ko-KR" sz="2000" b="1" spc="67" err="1">
                <a:solidFill>
                  <a:srgbClr val="FFFFFF"/>
                </a:solidFill>
                <a:ea typeface="ONE Mobile Title OTF"/>
              </a:rPr>
              <a:t>정규화</a:t>
            </a:r>
            <a:endParaRPr lang="en-US" altLang="ko-KR" sz="2000" b="1" spc="67">
              <a:solidFill>
                <a:srgbClr val="FFFFFF"/>
              </a:solidFill>
              <a:ea typeface="ONE Mobile Title OTF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3175000" y="3234267"/>
            <a:ext cx="1363133" cy="220133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08729"/>
              </a:lnSpc>
            </a:pPr>
            <a:r>
              <a:rPr lang="en-US" sz="1267" b="0" i="0" u="none" strike="noStrike" spc="67">
                <a:solidFill>
                  <a:srgbClr val="000000"/>
                </a:solidFill>
                <a:latin typeface="Pretendard Regular"/>
              </a:rPr>
              <a:t>CONTENTS 01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22867" y="1727200"/>
            <a:ext cx="1337733" cy="855133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16199"/>
              </a:lnSpc>
            </a:pPr>
            <a:r>
              <a:rPr lang="ko-KR" sz="4800" b="0" i="0" u="none" strike="noStrike" spc="333">
                <a:solidFill>
                  <a:srgbClr val="FADE6E"/>
                </a:solidFill>
                <a:ea typeface="ONE Mobile Title OTF"/>
              </a:rPr>
              <a:t>목차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91067" y="423333"/>
            <a:ext cx="1998133" cy="279400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04580"/>
              </a:lnSpc>
            </a:pPr>
            <a:r>
              <a:rPr lang="en-US" sz="1600" b="0" i="0" u="none" strike="noStrike" spc="400">
                <a:solidFill>
                  <a:srgbClr val="FFFFFF"/>
                </a:solidFill>
                <a:latin typeface="Pretendard Bold"/>
              </a:rPr>
              <a:t>CONTENTS</a:t>
            </a:r>
          </a:p>
        </p:txBody>
      </p:sp>
      <p:pic>
        <p:nvPicPr>
          <p:cNvPr id="34" name="Picture 15" descr="스크린샷, 디자인이(가) 표시된 사진&#10;&#10;자동 생성된 설명">
            <a:extLst>
              <a:ext uri="{FF2B5EF4-FFF2-40B4-BE49-F238E27FC236}">
                <a16:creationId xmlns:a16="http://schemas.microsoft.com/office/drawing/2014/main" id="{8A034795-96F8-BF53-510C-969ACBFD3C7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42289" y="1854199"/>
            <a:ext cx="1676400" cy="1303867"/>
          </a:xfrm>
          <a:prstGeom prst="rect">
            <a:avLst/>
          </a:prstGeom>
        </p:spPr>
      </p:pic>
      <p:sp>
        <p:nvSpPr>
          <p:cNvPr id="35" name="TextBox 26">
            <a:extLst>
              <a:ext uri="{FF2B5EF4-FFF2-40B4-BE49-F238E27FC236}">
                <a16:creationId xmlns:a16="http://schemas.microsoft.com/office/drawing/2014/main" id="{280D90B7-45FA-0B74-5201-1BD671E29FE0}"/>
              </a:ext>
            </a:extLst>
          </p:cNvPr>
          <p:cNvSpPr txBox="1"/>
          <p:nvPr/>
        </p:nvSpPr>
        <p:spPr>
          <a:xfrm>
            <a:off x="5235423" y="2242456"/>
            <a:ext cx="1490133" cy="685800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8729"/>
              </a:lnSpc>
            </a:pPr>
            <a:r>
              <a:rPr lang="ko-KR" altLang="en-US" sz="2000" b="1" spc="67">
                <a:solidFill>
                  <a:srgbClr val="FFFFFF"/>
                </a:solidFill>
                <a:latin typeface="ONE Mobile Title OTF" panose="00000500000000000000" pitchFamily="50" charset="-127"/>
                <a:ea typeface="ONE Mobile Title OTF"/>
              </a:rPr>
              <a:t>반정규화</a:t>
            </a:r>
            <a:endParaRPr lang="ko-KR" altLang="en-US" sz="2000" b="1" i="0" u="none" strike="noStrike" spc="67">
              <a:solidFill>
                <a:srgbClr val="FFFFFF"/>
              </a:solidFill>
              <a:latin typeface="ONE Mobile Title OTF" panose="00000500000000000000" pitchFamily="50" charset="-127"/>
              <a:ea typeface="ONE Mobile Title OTF" panose="000005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660438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7600" y="381000"/>
            <a:ext cx="2573867" cy="508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7867" y="381000"/>
            <a:ext cx="2573867" cy="5080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20133"/>
            <a:ext cx="3251200" cy="643467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753533"/>
            <a:ext cx="12192000" cy="6104467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7714" y="1071032"/>
            <a:ext cx="11557000" cy="5469467"/>
          </a:xfrm>
          <a:prstGeom prst="rect">
            <a:avLst/>
          </a:prstGeom>
          <a:effectLst>
            <a:outerShdw blurRad="669826" dist="252339" dir="2700000">
              <a:srgbClr val="000000">
                <a:alpha val="10000"/>
              </a:srgbClr>
            </a:outerShdw>
          </a:effectLst>
        </p:spPr>
      </p:pic>
      <p:sp>
        <p:nvSpPr>
          <p:cNvPr id="29" name="TextBox 29"/>
          <p:cNvSpPr txBox="1"/>
          <p:nvPr/>
        </p:nvSpPr>
        <p:spPr>
          <a:xfrm>
            <a:off x="980225" y="1141285"/>
            <a:ext cx="9475437" cy="855133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6199"/>
              </a:lnSpc>
            </a:pPr>
            <a:r>
              <a:rPr lang="ko-KR" altLang="en-US" sz="3200" b="0" i="0" u="none" strike="noStrike">
                <a:solidFill>
                  <a:srgbClr val="FBAE84"/>
                </a:solidFill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정규화</a:t>
            </a:r>
            <a:endParaRPr lang="en-US" altLang="ko-KR" sz="3200" b="0" i="0" u="none" strike="noStrike">
              <a:solidFill>
                <a:srgbClr val="FBAE84"/>
              </a:solidFill>
              <a:latin typeface="ONE Mobile Title OTF" panose="00000500000000000000" pitchFamily="50" charset="-127"/>
              <a:ea typeface="ONE Mobile Title OTF" panose="00000500000000000000" pitchFamily="50" charset="-127"/>
            </a:endParaRPr>
          </a:p>
          <a:p>
            <a:pPr>
              <a:lnSpc>
                <a:spcPct val="116199"/>
              </a:lnSpc>
            </a:pPr>
            <a:r>
              <a:rPr lang="ko-KR" altLang="en-US" sz="2400" b="0" i="0" u="none" strike="noStrike"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  </a:t>
            </a:r>
            <a:r>
              <a:rPr lang="ko-KR" altLang="en-US" sz="1800" b="0" i="0" u="none" strike="noStrike"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데이터의 정합성을 위해 </a:t>
            </a:r>
            <a:r>
              <a:rPr lang="ko-KR" altLang="en-US" sz="1800" b="0" i="0" u="none" strike="noStrike" err="1"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엔터티를</a:t>
            </a:r>
            <a:r>
              <a:rPr lang="ko-KR" altLang="en-US" sz="1800" b="0" i="0" u="none" strike="noStrike"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 작은 단위로 분리하는 과정 </a:t>
            </a:r>
            <a:endParaRPr lang="en-US" altLang="ko-KR" sz="3200" b="0" i="0" u="none" strike="noStrike">
              <a:latin typeface="ONE Mobile Title OTF" panose="00000500000000000000" pitchFamily="50" charset="-127"/>
              <a:ea typeface="ONE Mobile Title OTF" panose="00000500000000000000" pitchFamily="50" charset="-127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347714" y="529872"/>
            <a:ext cx="2337032" cy="116543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4580"/>
              </a:lnSpc>
            </a:pPr>
            <a:r>
              <a:rPr lang="ko-KR" altLang="en-US" sz="1600" b="0" i="0" u="none" strike="noStrike" spc="400">
                <a:solidFill>
                  <a:srgbClr val="FFFFFF"/>
                </a:solidFill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정규화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B35377B-0194-FECA-FCB4-90B4C017CD46}"/>
              </a:ext>
            </a:extLst>
          </p:cNvPr>
          <p:cNvSpPr txBox="1"/>
          <p:nvPr/>
        </p:nvSpPr>
        <p:spPr>
          <a:xfrm>
            <a:off x="602852" y="6113956"/>
            <a:ext cx="376615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ko-KR" altLang="en-US">
              <a:latin typeface="ONE Mobile Title OTF" panose="00000500000000000000" pitchFamily="50" charset="-127"/>
              <a:ea typeface="ONE Mobile Title OTF" panose="00000500000000000000" pitchFamily="50" charset="-127"/>
            </a:endParaRP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D1935CC0-A93B-05DE-6B43-E8632E587E4B}"/>
              </a:ext>
            </a:extLst>
          </p:cNvPr>
          <p:cNvGrpSpPr/>
          <p:nvPr/>
        </p:nvGrpSpPr>
        <p:grpSpPr>
          <a:xfrm>
            <a:off x="512728" y="2380700"/>
            <a:ext cx="3002916" cy="2528416"/>
            <a:chOff x="942718" y="2744412"/>
            <a:chExt cx="3002916" cy="2528416"/>
          </a:xfrm>
        </p:grpSpPr>
        <p:grpSp>
          <p:nvGrpSpPr>
            <p:cNvPr id="37" name="그룹 36">
              <a:extLst>
                <a:ext uri="{FF2B5EF4-FFF2-40B4-BE49-F238E27FC236}">
                  <a16:creationId xmlns:a16="http://schemas.microsoft.com/office/drawing/2014/main" id="{E91045C6-07C2-E7DC-E635-174A05671F7E}"/>
                </a:ext>
              </a:extLst>
            </p:cNvPr>
            <p:cNvGrpSpPr/>
            <p:nvPr/>
          </p:nvGrpSpPr>
          <p:grpSpPr>
            <a:xfrm>
              <a:off x="942718" y="2744412"/>
              <a:ext cx="3002916" cy="2528416"/>
              <a:chOff x="683880" y="2808796"/>
              <a:chExt cx="3002916" cy="2528416"/>
            </a:xfrm>
          </p:grpSpPr>
          <p:pic>
            <p:nvPicPr>
              <p:cNvPr id="20" name="Picture 5">
                <a:extLst>
                  <a:ext uri="{FF2B5EF4-FFF2-40B4-BE49-F238E27FC236}">
                    <a16:creationId xmlns:a16="http://schemas.microsoft.com/office/drawing/2014/main" id="{58758A68-74CB-B6A4-3813-9F6187993EF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83880" y="2808796"/>
                <a:ext cx="1817699" cy="551929"/>
              </a:xfrm>
              <a:prstGeom prst="rect">
                <a:avLst/>
              </a:prstGeom>
            </p:spPr>
          </p:pic>
          <p:grpSp>
            <p:nvGrpSpPr>
              <p:cNvPr id="31" name="그룹 30">
                <a:extLst>
                  <a:ext uri="{FF2B5EF4-FFF2-40B4-BE49-F238E27FC236}">
                    <a16:creationId xmlns:a16="http://schemas.microsoft.com/office/drawing/2014/main" id="{1A0ECD5D-582E-049D-5775-0624B9E05FFE}"/>
                  </a:ext>
                </a:extLst>
              </p:cNvPr>
              <p:cNvGrpSpPr/>
              <p:nvPr/>
            </p:nvGrpSpPr>
            <p:grpSpPr>
              <a:xfrm>
                <a:off x="689120" y="3191671"/>
                <a:ext cx="2997676" cy="2145541"/>
                <a:chOff x="4517926" y="5525669"/>
                <a:chExt cx="914400" cy="620042"/>
              </a:xfrm>
            </p:grpSpPr>
            <p:sp>
              <p:nvSpPr>
                <p:cNvPr id="26" name="사각형: 둥근 모서리 25">
                  <a:extLst>
                    <a:ext uri="{FF2B5EF4-FFF2-40B4-BE49-F238E27FC236}">
                      <a16:creationId xmlns:a16="http://schemas.microsoft.com/office/drawing/2014/main" id="{77FA63ED-531B-2A10-071B-9B3AD404F84E}"/>
                    </a:ext>
                  </a:extLst>
                </p:cNvPr>
                <p:cNvSpPr/>
                <p:nvPr/>
              </p:nvSpPr>
              <p:spPr>
                <a:xfrm>
                  <a:off x="4517926" y="5525669"/>
                  <a:ext cx="914400" cy="620042"/>
                </a:xfrm>
                <a:prstGeom prst="roundRect">
                  <a:avLst>
                    <a:gd name="adj" fmla="val 6404"/>
                  </a:avLst>
                </a:prstGeom>
                <a:solidFill>
                  <a:srgbClr val="F6AB8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ONE Mobile Title OTF" panose="00000500000000000000" pitchFamily="50" charset="-127"/>
                    <a:ea typeface="ONE Mobile Title OTF" panose="00000500000000000000" pitchFamily="50" charset="-127"/>
                  </a:endParaRPr>
                </a:p>
              </p:txBody>
            </p:sp>
            <p:sp>
              <p:nvSpPr>
                <p:cNvPr id="24" name="사각형: 둥근 모서리 23">
                  <a:extLst>
                    <a:ext uri="{FF2B5EF4-FFF2-40B4-BE49-F238E27FC236}">
                      <a16:creationId xmlns:a16="http://schemas.microsoft.com/office/drawing/2014/main" id="{5EC01E8B-D5DA-53B9-7399-9B230D2D6202}"/>
                    </a:ext>
                  </a:extLst>
                </p:cNvPr>
                <p:cNvSpPr/>
                <p:nvPr/>
              </p:nvSpPr>
              <p:spPr>
                <a:xfrm>
                  <a:off x="4537337" y="5541701"/>
                  <a:ext cx="876913" cy="583660"/>
                </a:xfrm>
                <a:prstGeom prst="roundRect">
                  <a:avLst>
                    <a:gd name="adj" fmla="val 4789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742950" lvl="1" indent="-285750">
                    <a:buFont typeface="Arial" panose="020B0604020202020204" pitchFamily="34" charset="0"/>
                    <a:buChar char="•"/>
                  </a:pPr>
                  <a:endParaRPr lang="ko-KR" altLang="en-US" sz="1600">
                    <a:solidFill>
                      <a:schemeClr val="tx1"/>
                    </a:solidFill>
                    <a:latin typeface="ONE Mobile Title OTF" panose="00000500000000000000" pitchFamily="50" charset="-127"/>
                    <a:ea typeface="ONE Mobile Title OTF" panose="00000500000000000000" pitchFamily="50" charset="-127"/>
                  </a:endParaRPr>
                </a:p>
              </p:txBody>
            </p:sp>
          </p:grpSp>
        </p:grp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82561929-1211-30F3-4A20-85A621FD230B}"/>
                </a:ext>
              </a:extLst>
            </p:cNvPr>
            <p:cNvSpPr txBox="1"/>
            <p:nvPr/>
          </p:nvSpPr>
          <p:spPr>
            <a:xfrm>
              <a:off x="1180950" y="2774266"/>
              <a:ext cx="11673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>
                  <a:solidFill>
                    <a:schemeClr val="bg1"/>
                  </a:solidFill>
                  <a:latin typeface="ONE Mobile Title OTF" panose="00000500000000000000" pitchFamily="50" charset="-127"/>
                  <a:ea typeface="ONE Mobile Title OTF" panose="00000500000000000000" pitchFamily="50" charset="-127"/>
                </a:rPr>
                <a:t>제</a:t>
              </a:r>
              <a:r>
                <a:rPr lang="en-US" altLang="ko-KR">
                  <a:solidFill>
                    <a:schemeClr val="bg1"/>
                  </a:solidFill>
                  <a:latin typeface="ONE Mobile Title OTF" panose="00000500000000000000" pitchFamily="50" charset="-127"/>
                  <a:ea typeface="ONE Mobile Title OTF" panose="00000500000000000000" pitchFamily="50" charset="-127"/>
                </a:rPr>
                <a:t>1</a:t>
              </a:r>
              <a:r>
                <a:rPr lang="ko-KR" altLang="en-US">
                  <a:solidFill>
                    <a:schemeClr val="bg1"/>
                  </a:solidFill>
                  <a:latin typeface="ONE Mobile Title OTF" panose="00000500000000000000" pitchFamily="50" charset="-127"/>
                  <a:ea typeface="ONE Mobile Title OTF" panose="00000500000000000000" pitchFamily="50" charset="-127"/>
                </a:rPr>
                <a:t>정규형</a:t>
              </a:r>
            </a:p>
          </p:txBody>
        </p:sp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113F4622-12C5-5FFE-9305-E48756C260B3}"/>
              </a:ext>
            </a:extLst>
          </p:cNvPr>
          <p:cNvGrpSpPr/>
          <p:nvPr/>
        </p:nvGrpSpPr>
        <p:grpSpPr>
          <a:xfrm>
            <a:off x="4572726" y="2380700"/>
            <a:ext cx="3002916" cy="2536606"/>
            <a:chOff x="942718" y="2744412"/>
            <a:chExt cx="3002916" cy="2536606"/>
          </a:xfrm>
        </p:grpSpPr>
        <p:grpSp>
          <p:nvGrpSpPr>
            <p:cNvPr id="52" name="그룹 51">
              <a:extLst>
                <a:ext uri="{FF2B5EF4-FFF2-40B4-BE49-F238E27FC236}">
                  <a16:creationId xmlns:a16="http://schemas.microsoft.com/office/drawing/2014/main" id="{51AA756F-9858-C69B-DC75-AEF09D1658C8}"/>
                </a:ext>
              </a:extLst>
            </p:cNvPr>
            <p:cNvGrpSpPr/>
            <p:nvPr/>
          </p:nvGrpSpPr>
          <p:grpSpPr>
            <a:xfrm>
              <a:off x="942718" y="2744412"/>
              <a:ext cx="3002916" cy="2536606"/>
              <a:chOff x="683880" y="2808796"/>
              <a:chExt cx="3002916" cy="2536606"/>
            </a:xfrm>
          </p:grpSpPr>
          <p:pic>
            <p:nvPicPr>
              <p:cNvPr id="54" name="Picture 5">
                <a:extLst>
                  <a:ext uri="{FF2B5EF4-FFF2-40B4-BE49-F238E27FC236}">
                    <a16:creationId xmlns:a16="http://schemas.microsoft.com/office/drawing/2014/main" id="{523C1801-2568-91A8-8A15-29DEEC62A31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83880" y="2808796"/>
                <a:ext cx="1817699" cy="551929"/>
              </a:xfrm>
              <a:prstGeom prst="rect">
                <a:avLst/>
              </a:prstGeom>
            </p:spPr>
          </p:pic>
          <p:grpSp>
            <p:nvGrpSpPr>
              <p:cNvPr id="55" name="그룹 54">
                <a:extLst>
                  <a:ext uri="{FF2B5EF4-FFF2-40B4-BE49-F238E27FC236}">
                    <a16:creationId xmlns:a16="http://schemas.microsoft.com/office/drawing/2014/main" id="{6501593C-664C-8304-0D77-11B5EBEA53B3}"/>
                  </a:ext>
                </a:extLst>
              </p:cNvPr>
              <p:cNvGrpSpPr/>
              <p:nvPr/>
            </p:nvGrpSpPr>
            <p:grpSpPr>
              <a:xfrm>
                <a:off x="689120" y="3191658"/>
                <a:ext cx="2997676" cy="2153744"/>
                <a:chOff x="4517926" y="5525669"/>
                <a:chExt cx="914400" cy="622413"/>
              </a:xfrm>
            </p:grpSpPr>
            <p:sp>
              <p:nvSpPr>
                <p:cNvPr id="56" name="사각형: 둥근 모서리 55">
                  <a:extLst>
                    <a:ext uri="{FF2B5EF4-FFF2-40B4-BE49-F238E27FC236}">
                      <a16:creationId xmlns:a16="http://schemas.microsoft.com/office/drawing/2014/main" id="{8D8719F4-6E3F-06A2-7076-AC88A50BC96E}"/>
                    </a:ext>
                  </a:extLst>
                </p:cNvPr>
                <p:cNvSpPr/>
                <p:nvPr/>
              </p:nvSpPr>
              <p:spPr>
                <a:xfrm>
                  <a:off x="4517926" y="5525669"/>
                  <a:ext cx="914400" cy="622413"/>
                </a:xfrm>
                <a:prstGeom prst="roundRect">
                  <a:avLst>
                    <a:gd name="adj" fmla="val 6404"/>
                  </a:avLst>
                </a:prstGeom>
                <a:solidFill>
                  <a:srgbClr val="F6AB8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ONE Mobile Title OTF" panose="00000500000000000000" pitchFamily="50" charset="-127"/>
                    <a:ea typeface="ONE Mobile Title OTF" panose="00000500000000000000" pitchFamily="50" charset="-127"/>
                  </a:endParaRPr>
                </a:p>
              </p:txBody>
            </p:sp>
            <p:sp>
              <p:nvSpPr>
                <p:cNvPr id="57" name="사각형: 둥근 모서리 56">
                  <a:extLst>
                    <a:ext uri="{FF2B5EF4-FFF2-40B4-BE49-F238E27FC236}">
                      <a16:creationId xmlns:a16="http://schemas.microsoft.com/office/drawing/2014/main" id="{7466629E-4265-DE9C-EF4F-3EAB5AE4FCA8}"/>
                    </a:ext>
                  </a:extLst>
                </p:cNvPr>
                <p:cNvSpPr/>
                <p:nvPr/>
              </p:nvSpPr>
              <p:spPr>
                <a:xfrm>
                  <a:off x="4531602" y="5541705"/>
                  <a:ext cx="887076" cy="583660"/>
                </a:xfrm>
                <a:prstGeom prst="roundRect">
                  <a:avLst>
                    <a:gd name="adj" fmla="val 4789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lvl="1"/>
                  <a:endParaRPr lang="ko-KR" altLang="en-US" sz="1600">
                    <a:solidFill>
                      <a:schemeClr val="tx1"/>
                    </a:solidFill>
                    <a:latin typeface="ONE Mobile Title OTF" panose="00000500000000000000" pitchFamily="50" charset="-127"/>
                    <a:ea typeface="ONE Mobile Title OTF" panose="00000500000000000000" pitchFamily="50" charset="-127"/>
                  </a:endParaRPr>
                </a:p>
              </p:txBody>
            </p:sp>
          </p:grpSp>
        </p:grp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940909A8-D640-09A1-083F-4D8190CA6485}"/>
                </a:ext>
              </a:extLst>
            </p:cNvPr>
            <p:cNvSpPr txBox="1"/>
            <p:nvPr/>
          </p:nvSpPr>
          <p:spPr>
            <a:xfrm>
              <a:off x="1180950" y="2774266"/>
              <a:ext cx="12057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>
                  <a:solidFill>
                    <a:schemeClr val="bg1"/>
                  </a:solidFill>
                  <a:latin typeface="ONE Mobile Title OTF" panose="00000500000000000000" pitchFamily="50" charset="-127"/>
                  <a:ea typeface="ONE Mobile Title OTF" panose="00000500000000000000" pitchFamily="50" charset="-127"/>
                </a:rPr>
                <a:t>제</a:t>
              </a:r>
              <a:r>
                <a:rPr lang="en-US" altLang="ko-KR">
                  <a:solidFill>
                    <a:schemeClr val="bg1"/>
                  </a:solidFill>
                  <a:latin typeface="ONE Mobile Title OTF" panose="00000500000000000000" pitchFamily="50" charset="-127"/>
                  <a:ea typeface="ONE Mobile Title OTF" panose="00000500000000000000" pitchFamily="50" charset="-127"/>
                </a:rPr>
                <a:t>2</a:t>
              </a:r>
              <a:r>
                <a:rPr lang="ko-KR" altLang="en-US">
                  <a:solidFill>
                    <a:schemeClr val="bg1"/>
                  </a:solidFill>
                  <a:latin typeface="ONE Mobile Title OTF" panose="00000500000000000000" pitchFamily="50" charset="-127"/>
                  <a:ea typeface="ONE Mobile Title OTF" panose="00000500000000000000" pitchFamily="50" charset="-127"/>
                </a:rPr>
                <a:t>정규형</a:t>
              </a:r>
            </a:p>
          </p:txBody>
        </p:sp>
      </p:grp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F26A081A-809B-AC58-025B-DF5101427444}"/>
              </a:ext>
            </a:extLst>
          </p:cNvPr>
          <p:cNvGrpSpPr/>
          <p:nvPr/>
        </p:nvGrpSpPr>
        <p:grpSpPr>
          <a:xfrm>
            <a:off x="8637963" y="2410554"/>
            <a:ext cx="3002916" cy="2506750"/>
            <a:chOff x="942718" y="2744412"/>
            <a:chExt cx="3002916" cy="2536624"/>
          </a:xfrm>
        </p:grpSpPr>
        <p:grpSp>
          <p:nvGrpSpPr>
            <p:cNvPr id="59" name="그룹 58">
              <a:extLst>
                <a:ext uri="{FF2B5EF4-FFF2-40B4-BE49-F238E27FC236}">
                  <a16:creationId xmlns:a16="http://schemas.microsoft.com/office/drawing/2014/main" id="{D929BC7A-407C-69E1-2806-E14C3223CEF6}"/>
                </a:ext>
              </a:extLst>
            </p:cNvPr>
            <p:cNvGrpSpPr/>
            <p:nvPr/>
          </p:nvGrpSpPr>
          <p:grpSpPr>
            <a:xfrm>
              <a:off x="942718" y="2744412"/>
              <a:ext cx="3002916" cy="2536624"/>
              <a:chOff x="683880" y="2808796"/>
              <a:chExt cx="3002916" cy="2536624"/>
            </a:xfrm>
          </p:grpSpPr>
          <p:pic>
            <p:nvPicPr>
              <p:cNvPr id="61" name="Picture 5">
                <a:extLst>
                  <a:ext uri="{FF2B5EF4-FFF2-40B4-BE49-F238E27FC236}">
                    <a16:creationId xmlns:a16="http://schemas.microsoft.com/office/drawing/2014/main" id="{DEBEF941-7A99-0675-C1F0-DFB87D206DD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83880" y="2808796"/>
                <a:ext cx="1817699" cy="551929"/>
              </a:xfrm>
              <a:prstGeom prst="rect">
                <a:avLst/>
              </a:prstGeom>
            </p:spPr>
          </p:pic>
          <p:grpSp>
            <p:nvGrpSpPr>
              <p:cNvPr id="62" name="그룹 61">
                <a:extLst>
                  <a:ext uri="{FF2B5EF4-FFF2-40B4-BE49-F238E27FC236}">
                    <a16:creationId xmlns:a16="http://schemas.microsoft.com/office/drawing/2014/main" id="{A1A70634-60FE-9213-F7BA-17CB7A573161}"/>
                  </a:ext>
                </a:extLst>
              </p:cNvPr>
              <p:cNvGrpSpPr/>
              <p:nvPr/>
            </p:nvGrpSpPr>
            <p:grpSpPr>
              <a:xfrm>
                <a:off x="689120" y="3166009"/>
                <a:ext cx="2997676" cy="2179411"/>
                <a:chOff x="4517926" y="5518252"/>
                <a:chExt cx="914400" cy="629830"/>
              </a:xfrm>
            </p:grpSpPr>
            <p:sp>
              <p:nvSpPr>
                <p:cNvPr id="63" name="사각형: 둥근 모서리 62">
                  <a:extLst>
                    <a:ext uri="{FF2B5EF4-FFF2-40B4-BE49-F238E27FC236}">
                      <a16:creationId xmlns:a16="http://schemas.microsoft.com/office/drawing/2014/main" id="{9C275430-9BBD-6CA0-9733-67241D2605F9}"/>
                    </a:ext>
                  </a:extLst>
                </p:cNvPr>
                <p:cNvSpPr/>
                <p:nvPr/>
              </p:nvSpPr>
              <p:spPr>
                <a:xfrm>
                  <a:off x="4517926" y="5518252"/>
                  <a:ext cx="914400" cy="629830"/>
                </a:xfrm>
                <a:prstGeom prst="roundRect">
                  <a:avLst>
                    <a:gd name="adj" fmla="val 6404"/>
                  </a:avLst>
                </a:prstGeom>
                <a:solidFill>
                  <a:srgbClr val="F6AB8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ONE Mobile Title OTF" panose="00000500000000000000" pitchFamily="50" charset="-127"/>
                    <a:ea typeface="ONE Mobile Title OTF" panose="00000500000000000000" pitchFamily="50" charset="-127"/>
                  </a:endParaRPr>
                </a:p>
              </p:txBody>
            </p:sp>
            <p:sp>
              <p:nvSpPr>
                <p:cNvPr id="64" name="사각형: 둥근 모서리 63">
                  <a:extLst>
                    <a:ext uri="{FF2B5EF4-FFF2-40B4-BE49-F238E27FC236}">
                      <a16:creationId xmlns:a16="http://schemas.microsoft.com/office/drawing/2014/main" id="{6C205935-7DF4-2F80-2494-262AD9D20A48}"/>
                    </a:ext>
                  </a:extLst>
                </p:cNvPr>
                <p:cNvSpPr/>
                <p:nvPr/>
              </p:nvSpPr>
              <p:spPr>
                <a:xfrm>
                  <a:off x="4533162" y="5534479"/>
                  <a:ext cx="882330" cy="590615"/>
                </a:xfrm>
                <a:prstGeom prst="roundRect">
                  <a:avLst>
                    <a:gd name="adj" fmla="val 4789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endParaRPr lang="ko-KR" altLang="en-US" sz="1600">
                    <a:solidFill>
                      <a:schemeClr val="tx1"/>
                    </a:solidFill>
                    <a:latin typeface="ONE Mobile Title OTF" panose="00000500000000000000" pitchFamily="50" charset="-127"/>
                    <a:ea typeface="ONE Mobile Title OTF" panose="00000500000000000000" pitchFamily="50" charset="-127"/>
                  </a:endParaRPr>
                </a:p>
              </p:txBody>
            </p:sp>
          </p:grpSp>
        </p:grp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A5A72B44-C2EB-C548-30AF-FFA8BD579A69}"/>
                </a:ext>
              </a:extLst>
            </p:cNvPr>
            <p:cNvSpPr txBox="1"/>
            <p:nvPr/>
          </p:nvSpPr>
          <p:spPr>
            <a:xfrm>
              <a:off x="1180950" y="2774266"/>
              <a:ext cx="1205779" cy="3737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>
                  <a:solidFill>
                    <a:schemeClr val="bg1"/>
                  </a:solidFill>
                  <a:latin typeface="ONE Mobile Title OTF" panose="00000500000000000000" pitchFamily="50" charset="-127"/>
                  <a:ea typeface="ONE Mobile Title OTF" panose="00000500000000000000" pitchFamily="50" charset="-127"/>
                </a:rPr>
                <a:t>제</a:t>
              </a:r>
              <a:r>
                <a:rPr lang="en-US" altLang="ko-KR">
                  <a:solidFill>
                    <a:schemeClr val="bg1"/>
                  </a:solidFill>
                  <a:latin typeface="ONE Mobile Title OTF" panose="00000500000000000000" pitchFamily="50" charset="-127"/>
                  <a:ea typeface="ONE Mobile Title OTF" panose="00000500000000000000" pitchFamily="50" charset="-127"/>
                </a:rPr>
                <a:t>3</a:t>
              </a:r>
              <a:r>
                <a:rPr lang="ko-KR" altLang="en-US">
                  <a:solidFill>
                    <a:schemeClr val="bg1"/>
                  </a:solidFill>
                  <a:latin typeface="ONE Mobile Title OTF" panose="00000500000000000000" pitchFamily="50" charset="-127"/>
                  <a:ea typeface="ONE Mobile Title OTF" panose="00000500000000000000" pitchFamily="50" charset="-127"/>
                </a:rPr>
                <a:t>정규형</a:t>
              </a:r>
            </a:p>
          </p:txBody>
        </p: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730858A5-16ED-A619-631A-53D8E5645AAF}"/>
              </a:ext>
            </a:extLst>
          </p:cNvPr>
          <p:cNvSpPr txBox="1"/>
          <p:nvPr/>
        </p:nvSpPr>
        <p:spPr>
          <a:xfrm>
            <a:off x="4604698" y="2961918"/>
            <a:ext cx="289676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800" err="1">
                <a:solidFill>
                  <a:schemeClr val="tx1"/>
                </a:solidFill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엔터티의</a:t>
            </a:r>
            <a:r>
              <a:rPr lang="ko-KR" altLang="en-US" sz="1800">
                <a:solidFill>
                  <a:schemeClr val="tx1"/>
                </a:solidFill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 모든 </a:t>
            </a:r>
            <a:br>
              <a:rPr lang="en-US" altLang="ko-KR" sz="1800">
                <a:solidFill>
                  <a:schemeClr val="tx1"/>
                </a:solidFill>
                <a:latin typeface="ONE Mobile Title OTF" panose="00000500000000000000" pitchFamily="50" charset="-127"/>
                <a:ea typeface="ONE Mobile Title OTF" panose="00000500000000000000" pitchFamily="50" charset="-127"/>
              </a:rPr>
            </a:br>
            <a:r>
              <a:rPr lang="ko-KR" altLang="en-US" sz="1800">
                <a:solidFill>
                  <a:schemeClr val="tx1"/>
                </a:solidFill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일반 속성은 반드시 </a:t>
            </a:r>
            <a:br>
              <a:rPr lang="en-US" altLang="ko-KR" sz="1800">
                <a:solidFill>
                  <a:schemeClr val="tx1"/>
                </a:solidFill>
                <a:latin typeface="ONE Mobile Title OTF" panose="00000500000000000000" pitchFamily="50" charset="-127"/>
                <a:ea typeface="ONE Mobile Title OTF" panose="00000500000000000000" pitchFamily="50" charset="-127"/>
              </a:rPr>
            </a:br>
            <a:r>
              <a:rPr lang="ko-KR" altLang="en-US" sz="1800">
                <a:solidFill>
                  <a:schemeClr val="tx1"/>
                </a:solidFill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모든 주식별자에 </a:t>
            </a:r>
            <a:br>
              <a:rPr lang="en-US" altLang="ko-KR" sz="1800">
                <a:solidFill>
                  <a:schemeClr val="tx1"/>
                </a:solidFill>
                <a:latin typeface="ONE Mobile Title OTF" panose="00000500000000000000" pitchFamily="50" charset="-127"/>
                <a:ea typeface="ONE Mobile Title OTF" panose="00000500000000000000" pitchFamily="50" charset="-127"/>
              </a:rPr>
            </a:br>
            <a:r>
              <a:rPr lang="ko-KR" altLang="en-US" sz="1800">
                <a:solidFill>
                  <a:schemeClr val="tx1"/>
                </a:solidFill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종속되어야 한다</a:t>
            </a:r>
            <a:r>
              <a:rPr lang="en-US" altLang="ko-KR" sz="1800">
                <a:solidFill>
                  <a:schemeClr val="tx1"/>
                </a:solidFill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.</a:t>
            </a:r>
            <a:endParaRPr lang="ko-KR" altLang="en-US" sz="1800">
              <a:solidFill>
                <a:schemeClr val="tx1"/>
              </a:solidFill>
              <a:latin typeface="ONE Mobile Title OTF" panose="00000500000000000000" pitchFamily="50" charset="-127"/>
              <a:ea typeface="ONE Mobile Title OTF" panose="000005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ko-KR" altLang="en-US">
              <a:latin typeface="ONE Mobile Title OTF" panose="00000500000000000000" pitchFamily="50" charset="-127"/>
              <a:ea typeface="ONE Mobile Title OTF" panose="00000500000000000000" pitchFamily="50" charset="-127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C962F2A-08A8-4696-097C-355FB180DDCA}"/>
              </a:ext>
            </a:extLst>
          </p:cNvPr>
          <p:cNvSpPr txBox="1"/>
          <p:nvPr/>
        </p:nvSpPr>
        <p:spPr>
          <a:xfrm>
            <a:off x="8679461" y="2961918"/>
            <a:ext cx="29441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800">
                <a:solidFill>
                  <a:schemeClr val="tx1"/>
                </a:solidFill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주 식별자가 아닌 </a:t>
            </a:r>
            <a:br>
              <a:rPr lang="en-US" altLang="ko-KR" sz="1800">
                <a:solidFill>
                  <a:schemeClr val="tx1"/>
                </a:solidFill>
                <a:latin typeface="ONE Mobile Title OTF" panose="00000500000000000000" pitchFamily="50" charset="-127"/>
                <a:ea typeface="ONE Mobile Title OTF" panose="00000500000000000000" pitchFamily="50" charset="-127"/>
              </a:rPr>
            </a:br>
            <a:r>
              <a:rPr lang="ko-KR" altLang="en-US" sz="1800">
                <a:solidFill>
                  <a:schemeClr val="tx1"/>
                </a:solidFill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모든 속성 간에는 </a:t>
            </a:r>
            <a:br>
              <a:rPr lang="en-US" altLang="ko-KR" sz="1800">
                <a:solidFill>
                  <a:schemeClr val="tx1"/>
                </a:solidFill>
                <a:latin typeface="ONE Mobile Title OTF" panose="00000500000000000000" pitchFamily="50" charset="-127"/>
                <a:ea typeface="ONE Mobile Title OTF" panose="00000500000000000000" pitchFamily="50" charset="-127"/>
              </a:rPr>
            </a:br>
            <a:r>
              <a:rPr lang="ko-KR" altLang="en-US" sz="1800">
                <a:solidFill>
                  <a:schemeClr val="tx1"/>
                </a:solidFill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서로 종속될 수 없다</a:t>
            </a:r>
            <a:r>
              <a:rPr lang="en-US" altLang="ko-KR" sz="1800">
                <a:solidFill>
                  <a:schemeClr val="tx1"/>
                </a:solidFill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.</a:t>
            </a:r>
            <a:endParaRPr lang="ko-KR" altLang="en-US" sz="1800">
              <a:solidFill>
                <a:schemeClr val="tx1"/>
              </a:solidFill>
              <a:latin typeface="ONE Mobile Title OTF" panose="00000500000000000000" pitchFamily="50" charset="-127"/>
              <a:ea typeface="ONE Mobile Title OTF" panose="00000500000000000000" pitchFamily="50" charset="-127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8E20CAF-4D43-A3C4-8F80-887B4880C0F8}"/>
              </a:ext>
            </a:extLst>
          </p:cNvPr>
          <p:cNvSpPr txBox="1"/>
          <p:nvPr/>
        </p:nvSpPr>
        <p:spPr>
          <a:xfrm>
            <a:off x="568429" y="2848187"/>
            <a:ext cx="283080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 rtl="0" eaLnBrk="1" latinLnBrk="1" hangingPunct="1">
              <a:buClrTx/>
              <a:buSzPts val="1600"/>
              <a:buFont typeface="Arial" panose="020B0604020202020204" pitchFamily="34" charset="0"/>
              <a:buChar char="•"/>
            </a:pPr>
            <a:r>
              <a:rPr lang="ko-KR" altLang="ko-KR" sz="1800" kern="1200">
                <a:solidFill>
                  <a:srgbClr val="000000"/>
                </a:solidFill>
                <a:effectLst/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모든 속성은 반드시 </a:t>
            </a:r>
            <a:br>
              <a:rPr lang="en-US" altLang="ko-KR" sz="1800" kern="1200">
                <a:solidFill>
                  <a:srgbClr val="000000"/>
                </a:solidFill>
                <a:effectLst/>
                <a:latin typeface="ONE Mobile Title OTF" panose="00000500000000000000" pitchFamily="50" charset="-127"/>
                <a:ea typeface="ONE Mobile Title OTF" panose="00000500000000000000" pitchFamily="50" charset="-127"/>
              </a:rPr>
            </a:br>
            <a:r>
              <a:rPr lang="ko-KR" altLang="ko-KR" sz="1800" kern="1200">
                <a:solidFill>
                  <a:srgbClr val="000000"/>
                </a:solidFill>
                <a:effectLst/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하나의 값만 가져야</a:t>
            </a:r>
            <a:r>
              <a:rPr lang="en-US" altLang="ko-KR" sz="1800" kern="1200">
                <a:solidFill>
                  <a:srgbClr val="000000"/>
                </a:solidFill>
                <a:effectLst/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 </a:t>
            </a:r>
            <a:r>
              <a:rPr lang="ko-KR" altLang="ko-KR" sz="1800" kern="1200">
                <a:solidFill>
                  <a:srgbClr val="000000"/>
                </a:solidFill>
                <a:effectLst/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한다</a:t>
            </a:r>
            <a:endParaRPr lang="en-US" altLang="ko-KR" sz="1800" kern="1200">
              <a:solidFill>
                <a:srgbClr val="000000"/>
              </a:solidFill>
              <a:effectLst/>
              <a:latin typeface="ONE Mobile Title OTF" panose="00000500000000000000" pitchFamily="50" charset="-127"/>
              <a:ea typeface="ONE Mobile Title OTF" panose="00000500000000000000" pitchFamily="50" charset="-127"/>
            </a:endParaRPr>
          </a:p>
          <a:p>
            <a:pPr marL="285750" indent="-285750" algn="l" rtl="0" eaLnBrk="1" latinLnBrk="1" hangingPunct="1">
              <a:buClrTx/>
              <a:buSzPts val="1600"/>
              <a:buFont typeface="Arial" panose="020B0604020202020204" pitchFamily="34" charset="0"/>
              <a:buChar char="•"/>
            </a:pPr>
            <a:endParaRPr lang="ko-KR" altLang="ko-KR" sz="1800">
              <a:effectLst/>
              <a:latin typeface="ONE Mobile Title OTF" panose="00000500000000000000" pitchFamily="50" charset="-127"/>
              <a:ea typeface="ONE Mobile Title OTF" panose="00000500000000000000" pitchFamily="50" charset="-127"/>
            </a:endParaRPr>
          </a:p>
          <a:p>
            <a:pPr marL="285750" indent="-285750" algn="l" rtl="0" eaLnBrk="1" latinLnBrk="1" hangingPunct="1">
              <a:buFont typeface="Arial" panose="020B0604020202020204" pitchFamily="34" charset="0"/>
              <a:buChar char="•"/>
            </a:pPr>
            <a:r>
              <a:rPr lang="ko-KR" altLang="ko-KR" sz="1800" kern="1200">
                <a:solidFill>
                  <a:srgbClr val="000000"/>
                </a:solidFill>
                <a:effectLst/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유사한 속성이 </a:t>
            </a:r>
            <a:br>
              <a:rPr lang="en-US" altLang="ko-KR" sz="1800" kern="1200">
                <a:solidFill>
                  <a:srgbClr val="000000"/>
                </a:solidFill>
                <a:effectLst/>
                <a:latin typeface="ONE Mobile Title OTF" panose="00000500000000000000" pitchFamily="50" charset="-127"/>
                <a:ea typeface="ONE Mobile Title OTF" panose="00000500000000000000" pitchFamily="50" charset="-127"/>
              </a:rPr>
            </a:br>
            <a:r>
              <a:rPr lang="ko-KR" altLang="ko-KR" sz="1800" kern="1200">
                <a:solidFill>
                  <a:srgbClr val="000000"/>
                </a:solidFill>
                <a:effectLst/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반복되는 경우도 </a:t>
            </a:r>
            <a:r>
              <a:rPr lang="en-US" altLang="ko-KR" sz="1800" kern="1200">
                <a:solidFill>
                  <a:srgbClr val="000000"/>
                </a:solidFill>
                <a:effectLst/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1</a:t>
            </a:r>
            <a:r>
              <a:rPr lang="ko-KR" altLang="ko-KR" sz="1800" kern="1200">
                <a:solidFill>
                  <a:srgbClr val="000000"/>
                </a:solidFill>
                <a:effectLst/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차 정규화의 대상이 된다</a:t>
            </a:r>
            <a:r>
              <a:rPr lang="en-US" altLang="ko-KR" sz="1800" kern="1200">
                <a:solidFill>
                  <a:srgbClr val="000000"/>
                </a:solidFill>
                <a:effectLst/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.</a:t>
            </a:r>
            <a:endParaRPr lang="ko-KR" altLang="ko-KR">
              <a:effectLst/>
              <a:latin typeface="ONE Mobile Title OTF" panose="00000500000000000000" pitchFamily="50" charset="-127"/>
              <a:ea typeface="ONE Mobile Title OTF" panose="00000500000000000000" pitchFamily="50" charset="-127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B3CE17-5DEE-E31A-9901-27D45941F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6564FEF6-345C-B41B-53E3-3FA2A605E5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7333" y="381000"/>
            <a:ext cx="2573867" cy="5080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F3C20EBD-D68E-67C5-A6DD-168A53CC1C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7600" y="381000"/>
            <a:ext cx="2573867" cy="5080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666CC9B7-81DE-CCBF-E36A-229F060514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7867" y="381000"/>
            <a:ext cx="2573867" cy="5080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8CE91338-C8DE-95D2-63D9-D105D6424D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20133"/>
            <a:ext cx="3251200" cy="643467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55202857-1880-76AD-3406-867CEEAFB8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753533"/>
            <a:ext cx="12192000" cy="6104467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455B00A4-B25A-1083-CEA4-D5DA8717D91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1733" y="1002696"/>
            <a:ext cx="11557000" cy="5469467"/>
          </a:xfrm>
          <a:prstGeom prst="rect">
            <a:avLst/>
          </a:prstGeom>
          <a:effectLst>
            <a:outerShdw blurRad="669826" dist="252339" dir="2700000">
              <a:srgbClr val="000000">
                <a:alpha val="10000"/>
              </a:srgbClr>
            </a:outerShdw>
          </a:effectLst>
        </p:spPr>
      </p:pic>
      <p:sp>
        <p:nvSpPr>
          <p:cNvPr id="57" name="TextBox 30">
            <a:extLst>
              <a:ext uri="{FF2B5EF4-FFF2-40B4-BE49-F238E27FC236}">
                <a16:creationId xmlns:a16="http://schemas.microsoft.com/office/drawing/2014/main" id="{647D201A-7761-B5B4-04A8-376BF3830855}"/>
              </a:ext>
            </a:extLst>
          </p:cNvPr>
          <p:cNvSpPr txBox="1"/>
          <p:nvPr/>
        </p:nvSpPr>
        <p:spPr>
          <a:xfrm>
            <a:off x="347714" y="529872"/>
            <a:ext cx="2337032" cy="116543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4580"/>
              </a:lnSpc>
            </a:pPr>
            <a:r>
              <a:rPr lang="ko-KR" altLang="en-US" sz="1600" spc="400">
                <a:solidFill>
                  <a:srgbClr val="FFFFFF"/>
                </a:solidFill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정규화</a:t>
            </a:r>
            <a:endParaRPr lang="ko-KR" altLang="en-US" sz="1600" b="0" i="0" u="none" strike="noStrike" spc="400">
              <a:solidFill>
                <a:srgbClr val="FFFFFF"/>
              </a:solidFill>
              <a:latin typeface="ONE Mobile Title OTF" panose="00000500000000000000" pitchFamily="50" charset="-127"/>
              <a:ea typeface="ONE Mobile Title OTF" panose="00000500000000000000" pitchFamily="50" charset="-127"/>
            </a:endParaRPr>
          </a:p>
        </p:txBody>
      </p:sp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DB12D629-C18C-24EF-1ABD-30163DA36650}"/>
              </a:ext>
            </a:extLst>
          </p:cNvPr>
          <p:cNvGraphicFramePr>
            <a:graphicFrameLocks noGrp="1"/>
          </p:cNvGraphicFramePr>
          <p:nvPr/>
        </p:nvGraphicFramePr>
        <p:xfrm>
          <a:off x="1506640" y="2220249"/>
          <a:ext cx="9247086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11458">
                  <a:extLst>
                    <a:ext uri="{9D8B030D-6E8A-4147-A177-3AD203B41FA5}">
                      <a16:colId xmlns:a16="http://schemas.microsoft.com/office/drawing/2014/main" val="44945492"/>
                    </a:ext>
                  </a:extLst>
                </a:gridCol>
                <a:gridCol w="3041636">
                  <a:extLst>
                    <a:ext uri="{9D8B030D-6E8A-4147-A177-3AD203B41FA5}">
                      <a16:colId xmlns:a16="http://schemas.microsoft.com/office/drawing/2014/main" val="587174883"/>
                    </a:ext>
                  </a:extLst>
                </a:gridCol>
                <a:gridCol w="4293992">
                  <a:extLst>
                    <a:ext uri="{9D8B030D-6E8A-4147-A177-3AD203B41FA5}">
                      <a16:colId xmlns:a16="http://schemas.microsoft.com/office/drawing/2014/main" val="2682012462"/>
                    </a:ext>
                  </a:extLst>
                </a:gridCol>
              </a:tblGrid>
              <a:tr h="3575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>
                          <a:latin typeface="ONE Mobile Title OTF" panose="00000500000000000000" pitchFamily="50" charset="-127"/>
                          <a:ea typeface="ONE Mobile Title OTF" panose="00000500000000000000" pitchFamily="50" charset="-127"/>
                        </a:rPr>
                        <a:t>이름</a:t>
                      </a:r>
                    </a:p>
                  </a:txBody>
                  <a:tcPr>
                    <a:solidFill>
                      <a:srgbClr val="FBAE8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>
                          <a:latin typeface="ONE Mobile Title OTF" panose="00000500000000000000" pitchFamily="50" charset="-127"/>
                          <a:ea typeface="ONE Mobile Title OTF" panose="00000500000000000000" pitchFamily="50" charset="-127"/>
                        </a:rPr>
                        <a:t>생년월일</a:t>
                      </a:r>
                    </a:p>
                  </a:txBody>
                  <a:tcPr>
                    <a:solidFill>
                      <a:srgbClr val="FBAE8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>
                          <a:latin typeface="ONE Mobile Title OTF" panose="00000500000000000000" pitchFamily="50" charset="-127"/>
                          <a:ea typeface="ONE Mobile Title OTF" panose="00000500000000000000" pitchFamily="50" charset="-127"/>
                        </a:rPr>
                        <a:t>직업</a:t>
                      </a:r>
                    </a:p>
                  </a:txBody>
                  <a:tcPr>
                    <a:solidFill>
                      <a:srgbClr val="FBAE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5570126"/>
                  </a:ext>
                </a:extLst>
              </a:tr>
              <a:tr h="37253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>
                          <a:latin typeface="ONE Mobile Title OTF" panose="00000500000000000000" pitchFamily="50" charset="-127"/>
                          <a:ea typeface="ONE Mobile Title OTF" panose="00000500000000000000" pitchFamily="50" charset="-127"/>
                        </a:rPr>
                        <a:t>이지은</a:t>
                      </a:r>
                      <a:endParaRPr lang="en-US" altLang="ko-KR" sz="2400">
                        <a:latin typeface="ONE Mobile Title OTF" panose="00000500000000000000" pitchFamily="50" charset="-127"/>
                        <a:ea typeface="ONE Mobile Title OTF" panose="000005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>
                          <a:latin typeface="ONE Mobile Title OTF" panose="00000500000000000000" pitchFamily="50" charset="-127"/>
                          <a:ea typeface="ONE Mobile Title OTF" panose="00000500000000000000" pitchFamily="50" charset="-127"/>
                        </a:rPr>
                        <a:t>19930516</a:t>
                      </a:r>
                      <a:endParaRPr lang="ko-KR" altLang="en-US" sz="2400">
                        <a:latin typeface="ONE Mobile Title OTF" panose="00000500000000000000" pitchFamily="50" charset="-127"/>
                        <a:ea typeface="ONE Mobile Title OTF" panose="000005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>
                          <a:latin typeface="ONE Mobile Title OTF" panose="00000500000000000000" pitchFamily="50" charset="-127"/>
                          <a:ea typeface="ONE Mobile Title OTF" panose="00000500000000000000" pitchFamily="50" charset="-127"/>
                        </a:rPr>
                        <a:t>배우</a:t>
                      </a:r>
                      <a:r>
                        <a:rPr lang="en-US" altLang="ko-KR" sz="2400">
                          <a:latin typeface="ONE Mobile Title OTF" panose="00000500000000000000" pitchFamily="50" charset="-127"/>
                          <a:ea typeface="ONE Mobile Title OTF" panose="00000500000000000000" pitchFamily="50" charset="-127"/>
                        </a:rPr>
                        <a:t>, </a:t>
                      </a:r>
                      <a:r>
                        <a:rPr lang="ko-KR" altLang="en-US" sz="2400">
                          <a:latin typeface="ONE Mobile Title OTF" panose="00000500000000000000" pitchFamily="50" charset="-127"/>
                          <a:ea typeface="ONE Mobile Title OTF" panose="00000500000000000000" pitchFamily="50" charset="-127"/>
                        </a:rPr>
                        <a:t>가수</a:t>
                      </a:r>
                      <a:r>
                        <a:rPr lang="en-US" altLang="ko-KR" sz="2400">
                          <a:latin typeface="ONE Mobile Title OTF" panose="00000500000000000000" pitchFamily="50" charset="-127"/>
                          <a:ea typeface="ONE Mobile Title OTF" panose="00000500000000000000" pitchFamily="50" charset="-127"/>
                        </a:rPr>
                        <a:t>, </a:t>
                      </a:r>
                      <a:r>
                        <a:rPr lang="ko-KR" altLang="en-US" sz="2400">
                          <a:latin typeface="ONE Mobile Title OTF" panose="00000500000000000000" pitchFamily="50" charset="-127"/>
                          <a:ea typeface="ONE Mobile Title OTF" panose="00000500000000000000" pitchFamily="50" charset="-127"/>
                        </a:rPr>
                        <a:t>작곡가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3876851"/>
                  </a:ext>
                </a:extLst>
              </a:tr>
              <a:tr h="37253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>
                          <a:latin typeface="ONE Mobile Title OTF" panose="00000500000000000000" pitchFamily="50" charset="-127"/>
                          <a:ea typeface="ONE Mobile Title OTF" panose="00000500000000000000" pitchFamily="50" charset="-127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>
                          <a:latin typeface="ONE Mobile Title OTF" panose="00000500000000000000" pitchFamily="50" charset="-127"/>
                          <a:ea typeface="ONE Mobile Title OTF" panose="00000500000000000000" pitchFamily="50" charset="-127"/>
                        </a:rPr>
                        <a:t>…</a:t>
                      </a:r>
                      <a:endParaRPr lang="ko-KR" altLang="en-US" sz="2400">
                        <a:latin typeface="ONE Mobile Title OTF" panose="00000500000000000000" pitchFamily="50" charset="-127"/>
                        <a:ea typeface="ONE Mobile Title OTF" panose="000005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>
                          <a:latin typeface="ONE Mobile Title OTF" panose="00000500000000000000" pitchFamily="50" charset="-127"/>
                          <a:ea typeface="ONE Mobile Title OTF" panose="00000500000000000000" pitchFamily="50" charset="-127"/>
                        </a:rPr>
                        <a:t>…</a:t>
                      </a:r>
                      <a:endParaRPr lang="ko-KR" altLang="en-US" sz="2400">
                        <a:latin typeface="ONE Mobile Title OTF" panose="00000500000000000000" pitchFamily="50" charset="-127"/>
                        <a:ea typeface="ONE Mobile Title OTF" panose="00000500000000000000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1353184"/>
                  </a:ext>
                </a:extLst>
              </a:tr>
            </a:tbl>
          </a:graphicData>
        </a:graphic>
      </p:graphicFrame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B38D8C1F-8A09-8379-7E92-6204189552F5}"/>
              </a:ext>
            </a:extLst>
          </p:cNvPr>
          <p:cNvGraphicFramePr>
            <a:graphicFrameLocks noGrp="1"/>
          </p:cNvGraphicFramePr>
          <p:nvPr/>
        </p:nvGraphicFramePr>
        <p:xfrm>
          <a:off x="1516230" y="4809402"/>
          <a:ext cx="3625106" cy="132883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98972">
                  <a:extLst>
                    <a:ext uri="{9D8B030D-6E8A-4147-A177-3AD203B41FA5}">
                      <a16:colId xmlns:a16="http://schemas.microsoft.com/office/drawing/2014/main" val="44945492"/>
                    </a:ext>
                  </a:extLst>
                </a:gridCol>
                <a:gridCol w="2226134">
                  <a:extLst>
                    <a:ext uri="{9D8B030D-6E8A-4147-A177-3AD203B41FA5}">
                      <a16:colId xmlns:a16="http://schemas.microsoft.com/office/drawing/2014/main" val="587174883"/>
                    </a:ext>
                  </a:extLst>
                </a:gridCol>
              </a:tblGrid>
              <a:tr h="6583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>
                          <a:latin typeface="ONE Mobile Title OTF" panose="00000500000000000000" pitchFamily="50" charset="-127"/>
                          <a:ea typeface="ONE Mobile Title OTF" panose="00000500000000000000" pitchFamily="50" charset="-127"/>
                        </a:rPr>
                        <a:t>이름</a:t>
                      </a:r>
                    </a:p>
                  </a:txBody>
                  <a:tcPr anchor="ctr">
                    <a:solidFill>
                      <a:srgbClr val="FBAE8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>
                          <a:latin typeface="ONE Mobile Title OTF" panose="00000500000000000000" pitchFamily="50" charset="-127"/>
                          <a:ea typeface="ONE Mobile Title OTF" panose="00000500000000000000" pitchFamily="50" charset="-127"/>
                        </a:rPr>
                        <a:t>생년월일</a:t>
                      </a:r>
                    </a:p>
                  </a:txBody>
                  <a:tcPr anchor="ctr">
                    <a:solidFill>
                      <a:srgbClr val="FBAE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5570126"/>
                  </a:ext>
                </a:extLst>
              </a:tr>
              <a:tr h="67051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>
                          <a:latin typeface="ONE Mobile Title OTF" panose="00000500000000000000" pitchFamily="50" charset="-127"/>
                          <a:ea typeface="ONE Mobile Title OTF" panose="00000500000000000000" pitchFamily="50" charset="-127"/>
                        </a:rPr>
                        <a:t>이지은</a:t>
                      </a:r>
                      <a:endParaRPr lang="en-US" altLang="ko-KR" sz="2400">
                        <a:latin typeface="ONE Mobile Title OTF" panose="00000500000000000000" pitchFamily="50" charset="-127"/>
                        <a:ea typeface="ONE Mobile Title OTF" panose="000005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>
                          <a:latin typeface="ONE Mobile Title OTF" panose="00000500000000000000" pitchFamily="50" charset="-127"/>
                          <a:ea typeface="ONE Mobile Title OTF" panose="00000500000000000000" pitchFamily="50" charset="-127"/>
                        </a:rPr>
                        <a:t>19930516</a:t>
                      </a:r>
                      <a:endParaRPr lang="ko-KR" altLang="en-US" sz="2400">
                        <a:latin typeface="ONE Mobile Title OTF" panose="00000500000000000000" pitchFamily="50" charset="-127"/>
                        <a:ea typeface="ONE Mobile Title OTF" panose="00000500000000000000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3876851"/>
                  </a:ext>
                </a:extLst>
              </a:tr>
            </a:tbl>
          </a:graphicData>
        </a:graphic>
      </p:graphicFrame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EBD28E7C-A751-7653-7A0A-0CE922CAAFA0}"/>
              </a:ext>
            </a:extLst>
          </p:cNvPr>
          <p:cNvGraphicFramePr>
            <a:graphicFrameLocks noGrp="1"/>
          </p:cNvGraphicFramePr>
          <p:nvPr/>
        </p:nvGraphicFramePr>
        <p:xfrm>
          <a:off x="7236206" y="4441031"/>
          <a:ext cx="3622601" cy="1828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15866">
                  <a:extLst>
                    <a:ext uri="{9D8B030D-6E8A-4147-A177-3AD203B41FA5}">
                      <a16:colId xmlns:a16="http://schemas.microsoft.com/office/drawing/2014/main" val="44945492"/>
                    </a:ext>
                  </a:extLst>
                </a:gridCol>
                <a:gridCol w="2506735">
                  <a:extLst>
                    <a:ext uri="{9D8B030D-6E8A-4147-A177-3AD203B41FA5}">
                      <a16:colId xmlns:a16="http://schemas.microsoft.com/office/drawing/2014/main" val="2682012462"/>
                    </a:ext>
                  </a:extLst>
                </a:gridCol>
              </a:tblGrid>
              <a:tr h="41014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>
                          <a:latin typeface="ONE Mobile Title OTF" panose="00000500000000000000" pitchFamily="50" charset="-127"/>
                          <a:ea typeface="ONE Mobile Title OTF" panose="00000500000000000000" pitchFamily="50" charset="-127"/>
                        </a:rPr>
                        <a:t>이름</a:t>
                      </a:r>
                    </a:p>
                  </a:txBody>
                  <a:tcPr>
                    <a:solidFill>
                      <a:srgbClr val="FBAE8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>
                          <a:latin typeface="ONE Mobile Title OTF" panose="00000500000000000000" pitchFamily="50" charset="-127"/>
                          <a:ea typeface="ONE Mobile Title OTF" panose="00000500000000000000" pitchFamily="50" charset="-127"/>
                        </a:rPr>
                        <a:t>직업</a:t>
                      </a:r>
                    </a:p>
                  </a:txBody>
                  <a:tcPr>
                    <a:solidFill>
                      <a:srgbClr val="FBAE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5570126"/>
                  </a:ext>
                </a:extLst>
              </a:tr>
              <a:tr h="41014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>
                          <a:latin typeface="ONE Mobile Title OTF" panose="00000500000000000000" pitchFamily="50" charset="-127"/>
                          <a:ea typeface="ONE Mobile Title OTF" panose="00000500000000000000" pitchFamily="50" charset="-127"/>
                        </a:rPr>
                        <a:t>이지은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>
                          <a:latin typeface="ONE Mobile Title OTF" panose="00000500000000000000" pitchFamily="50" charset="-127"/>
                          <a:ea typeface="ONE Mobile Title OTF" panose="00000500000000000000" pitchFamily="50" charset="-127"/>
                        </a:rPr>
                        <a:t>배우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1082939"/>
                  </a:ext>
                </a:extLst>
              </a:tr>
              <a:tr h="41014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>
                          <a:latin typeface="ONE Mobile Title OTF" panose="00000500000000000000" pitchFamily="50" charset="-127"/>
                          <a:ea typeface="ONE Mobile Title OTF" panose="00000500000000000000" pitchFamily="50" charset="-127"/>
                        </a:rPr>
                        <a:t>이지은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>
                          <a:latin typeface="ONE Mobile Title OTF" panose="00000500000000000000" pitchFamily="50" charset="-127"/>
                          <a:ea typeface="ONE Mobile Title OTF" panose="00000500000000000000" pitchFamily="50" charset="-127"/>
                        </a:rPr>
                        <a:t>가수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6453279"/>
                  </a:ext>
                </a:extLst>
              </a:tr>
              <a:tr h="41773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>
                          <a:latin typeface="ONE Mobile Title OTF" panose="00000500000000000000" pitchFamily="50" charset="-127"/>
                          <a:ea typeface="ONE Mobile Title OTF" panose="00000500000000000000" pitchFamily="50" charset="-127"/>
                        </a:rPr>
                        <a:t>이지은</a:t>
                      </a:r>
                      <a:endParaRPr lang="en-US" altLang="ko-KR" sz="2400">
                        <a:latin typeface="ONE Mobile Title OTF" panose="00000500000000000000" pitchFamily="50" charset="-127"/>
                        <a:ea typeface="ONE Mobile Title OTF" panose="000005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>
                          <a:latin typeface="ONE Mobile Title OTF" panose="00000500000000000000" pitchFamily="50" charset="-127"/>
                          <a:ea typeface="ONE Mobile Title OTF" panose="00000500000000000000" pitchFamily="50" charset="-127"/>
                        </a:rPr>
                        <a:t>작곡가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3876851"/>
                  </a:ext>
                </a:extLst>
              </a:tr>
            </a:tbl>
          </a:graphicData>
        </a:graphic>
      </p:graphicFrame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9B80052A-1597-EDB2-40CC-8D3D54DA7EC6}"/>
              </a:ext>
            </a:extLst>
          </p:cNvPr>
          <p:cNvCxnSpPr>
            <a:cxnSpLocks/>
          </p:cNvCxnSpPr>
          <p:nvPr/>
        </p:nvCxnSpPr>
        <p:spPr>
          <a:xfrm flipV="1">
            <a:off x="5141336" y="5122593"/>
            <a:ext cx="2094870" cy="73271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91DEFB68-485E-1E12-B73E-C3662F349935}"/>
              </a:ext>
            </a:extLst>
          </p:cNvPr>
          <p:cNvCxnSpPr>
            <a:cxnSpLocks/>
          </p:cNvCxnSpPr>
          <p:nvPr/>
        </p:nvCxnSpPr>
        <p:spPr>
          <a:xfrm flipV="1">
            <a:off x="5141336" y="5619750"/>
            <a:ext cx="2094870" cy="235554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670F6FFC-C224-342D-04E6-A96E994D2004}"/>
              </a:ext>
            </a:extLst>
          </p:cNvPr>
          <p:cNvCxnSpPr>
            <a:cxnSpLocks/>
          </p:cNvCxnSpPr>
          <p:nvPr/>
        </p:nvCxnSpPr>
        <p:spPr>
          <a:xfrm>
            <a:off x="5141336" y="5855304"/>
            <a:ext cx="2094870" cy="173153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화살표: 톱니 모양의 오른쪽 29">
            <a:extLst>
              <a:ext uri="{FF2B5EF4-FFF2-40B4-BE49-F238E27FC236}">
                <a16:creationId xmlns:a16="http://schemas.microsoft.com/office/drawing/2014/main" id="{74B1111F-38F8-D94E-A739-1CA56EC92152}"/>
              </a:ext>
            </a:extLst>
          </p:cNvPr>
          <p:cNvSpPr/>
          <p:nvPr/>
        </p:nvSpPr>
        <p:spPr>
          <a:xfrm rot="5400000">
            <a:off x="5606795" y="4053681"/>
            <a:ext cx="978408" cy="774701"/>
          </a:xfrm>
          <a:prstGeom prst="notchedRightArrow">
            <a:avLst>
              <a:gd name="adj1" fmla="val 42208"/>
              <a:gd name="adj2" fmla="val 52449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ONE Mobile Title OTF" panose="00000500000000000000" pitchFamily="50" charset="-127"/>
              <a:ea typeface="ONE Mobile Title OTF" panose="00000500000000000000" pitchFamily="50" charset="-127"/>
            </a:endParaRPr>
          </a:p>
        </p:txBody>
      </p:sp>
      <p:sp>
        <p:nvSpPr>
          <p:cNvPr id="33" name="TextBox 29">
            <a:extLst>
              <a:ext uri="{FF2B5EF4-FFF2-40B4-BE49-F238E27FC236}">
                <a16:creationId xmlns:a16="http://schemas.microsoft.com/office/drawing/2014/main" id="{B91E247C-4408-73ED-7DCB-F961AC9F80DA}"/>
              </a:ext>
            </a:extLst>
          </p:cNvPr>
          <p:cNvSpPr txBox="1"/>
          <p:nvPr/>
        </p:nvSpPr>
        <p:spPr>
          <a:xfrm>
            <a:off x="980225" y="1141285"/>
            <a:ext cx="9475437" cy="855133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6199"/>
              </a:lnSpc>
            </a:pPr>
            <a:r>
              <a:rPr lang="ko-KR" altLang="en-US" sz="3200" b="0" i="0" u="none" strike="noStrike">
                <a:solidFill>
                  <a:srgbClr val="FBAE84"/>
                </a:solidFill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제 </a:t>
            </a:r>
            <a:r>
              <a:rPr lang="en-US" altLang="ko-KR" sz="3200" b="0" i="0" u="none" strike="noStrike">
                <a:solidFill>
                  <a:srgbClr val="FBAE84"/>
                </a:solidFill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1 </a:t>
            </a:r>
            <a:r>
              <a:rPr lang="ko-KR" altLang="en-US" sz="3200" b="0" i="0" u="none" strike="noStrike">
                <a:solidFill>
                  <a:srgbClr val="FBAE84"/>
                </a:solidFill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정규형</a:t>
            </a:r>
            <a:endParaRPr lang="en-US" altLang="ko-KR" sz="3200" b="0" i="0" u="none" strike="noStrike">
              <a:solidFill>
                <a:srgbClr val="F6AB81"/>
              </a:solidFill>
              <a:latin typeface="ONE Mobile Title OTF" panose="00000500000000000000" pitchFamily="50" charset="-127"/>
              <a:ea typeface="ONE Mobile Title OTF" panose="00000500000000000000" pitchFamily="50" charset="-12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D73A445-4B12-F232-0F38-B1CE113AE8F7}"/>
              </a:ext>
            </a:extLst>
          </p:cNvPr>
          <p:cNvSpPr txBox="1"/>
          <p:nvPr/>
        </p:nvSpPr>
        <p:spPr>
          <a:xfrm>
            <a:off x="3190685" y="1228914"/>
            <a:ext cx="48763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eaLnBrk="1" latinLnBrk="1" hangingPunct="1">
              <a:buClrTx/>
              <a:buSzPts val="1600"/>
            </a:pPr>
            <a:r>
              <a:rPr lang="ko-KR" altLang="ko-KR" sz="1800" kern="1200">
                <a:solidFill>
                  <a:srgbClr val="000000"/>
                </a:solidFill>
                <a:effectLst/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모든 속성은 반드시 하나의 값만 가져야</a:t>
            </a:r>
            <a:r>
              <a:rPr lang="en-US" altLang="ko-KR" sz="1800" kern="1200">
                <a:solidFill>
                  <a:srgbClr val="000000"/>
                </a:solidFill>
                <a:effectLst/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 </a:t>
            </a:r>
            <a:r>
              <a:rPr lang="ko-KR" altLang="ko-KR" sz="1800" kern="1200">
                <a:solidFill>
                  <a:srgbClr val="000000"/>
                </a:solidFill>
                <a:effectLst/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한다</a:t>
            </a:r>
            <a:endParaRPr lang="en-US" altLang="ko-KR" sz="1800" kern="1200">
              <a:solidFill>
                <a:srgbClr val="000000"/>
              </a:solidFill>
              <a:effectLst/>
              <a:latin typeface="ONE Mobile Title OTF" panose="00000500000000000000" pitchFamily="50" charset="-127"/>
              <a:ea typeface="ONE Mobile Title OTF" panose="000005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779391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B8BE5-A9FC-4388-5510-6F0845407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9EB55497-E9C1-5488-26F1-D3DF3C3FE5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7333" y="381000"/>
            <a:ext cx="2573867" cy="5080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94B0A9E6-85AF-A623-2116-FA5ABF496E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7600" y="381000"/>
            <a:ext cx="2573867" cy="5080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FAA3A98F-06D9-A98F-6F5D-CF8206998A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7867" y="381000"/>
            <a:ext cx="2573867" cy="5080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7D4C4395-FE83-A63C-B89D-15A89D1871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20133"/>
            <a:ext cx="3251200" cy="643467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83B50649-8396-029F-9874-4377CBED4B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753533"/>
            <a:ext cx="12192000" cy="6104467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5CCB9E4E-ED38-404C-EC06-9801E76659D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1733" y="1002696"/>
            <a:ext cx="11557000" cy="5469467"/>
          </a:xfrm>
          <a:prstGeom prst="rect">
            <a:avLst/>
          </a:prstGeom>
          <a:effectLst>
            <a:outerShdw blurRad="669826" dist="252339" dir="2700000">
              <a:srgbClr val="000000">
                <a:alpha val="10000"/>
              </a:srgbClr>
            </a:outerShdw>
          </a:effectLst>
        </p:spPr>
      </p:pic>
      <p:sp>
        <p:nvSpPr>
          <p:cNvPr id="57" name="TextBox 30">
            <a:extLst>
              <a:ext uri="{FF2B5EF4-FFF2-40B4-BE49-F238E27FC236}">
                <a16:creationId xmlns:a16="http://schemas.microsoft.com/office/drawing/2014/main" id="{C856A2BF-56FE-0140-C2C8-D8E80C4EA955}"/>
              </a:ext>
            </a:extLst>
          </p:cNvPr>
          <p:cNvSpPr txBox="1"/>
          <p:nvPr/>
        </p:nvSpPr>
        <p:spPr>
          <a:xfrm>
            <a:off x="347714" y="529872"/>
            <a:ext cx="2337032" cy="116543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4580"/>
              </a:lnSpc>
            </a:pPr>
            <a:r>
              <a:rPr lang="ko-KR" altLang="en-US" sz="1600" spc="400">
                <a:solidFill>
                  <a:srgbClr val="FFFFFF"/>
                </a:solidFill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정규화</a:t>
            </a:r>
            <a:endParaRPr lang="ko-KR" altLang="en-US" sz="1600" b="0" i="0" u="none" strike="noStrike" spc="400">
              <a:solidFill>
                <a:srgbClr val="FFFFFF"/>
              </a:solidFill>
              <a:latin typeface="ONE Mobile Title OTF" panose="00000500000000000000" pitchFamily="50" charset="-127"/>
              <a:ea typeface="ONE Mobile Title OTF" panose="00000500000000000000" pitchFamily="50" charset="-127"/>
            </a:endParaRPr>
          </a:p>
        </p:txBody>
      </p:sp>
      <p:sp>
        <p:nvSpPr>
          <p:cNvPr id="33" name="TextBox 29">
            <a:extLst>
              <a:ext uri="{FF2B5EF4-FFF2-40B4-BE49-F238E27FC236}">
                <a16:creationId xmlns:a16="http://schemas.microsoft.com/office/drawing/2014/main" id="{C5A5DC1C-73E6-E1FE-C6AD-37FF48B407CF}"/>
              </a:ext>
            </a:extLst>
          </p:cNvPr>
          <p:cNvSpPr txBox="1"/>
          <p:nvPr/>
        </p:nvSpPr>
        <p:spPr>
          <a:xfrm>
            <a:off x="980225" y="1141285"/>
            <a:ext cx="9475437" cy="855133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6199"/>
              </a:lnSpc>
            </a:pPr>
            <a:r>
              <a:rPr lang="ko-KR" altLang="en-US" sz="3200" b="0" i="0" u="none" strike="noStrike">
                <a:solidFill>
                  <a:srgbClr val="FBAE84"/>
                </a:solidFill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제 </a:t>
            </a:r>
            <a:r>
              <a:rPr lang="en-US" altLang="ko-KR" sz="3200" b="0" i="0" u="none" strike="noStrike">
                <a:solidFill>
                  <a:srgbClr val="FBAE84"/>
                </a:solidFill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1 </a:t>
            </a:r>
            <a:r>
              <a:rPr lang="ko-KR" altLang="en-US" sz="3200" b="0" i="0" u="none" strike="noStrike">
                <a:solidFill>
                  <a:srgbClr val="FBAE84"/>
                </a:solidFill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정규형 </a:t>
            </a:r>
            <a:endParaRPr lang="en-US" altLang="ko-KR" sz="3200" b="0" i="0" u="none" strike="noStrike">
              <a:solidFill>
                <a:srgbClr val="F6AB81"/>
              </a:solidFill>
              <a:latin typeface="ONE Mobile Title OTF" panose="00000500000000000000" pitchFamily="50" charset="-127"/>
              <a:ea typeface="ONE Mobile Title OTF" panose="00000500000000000000" pitchFamily="50" charset="-127"/>
            </a:endParaRPr>
          </a:p>
        </p:txBody>
      </p:sp>
      <p:sp>
        <p:nvSpPr>
          <p:cNvPr id="8" name="내용 개체 틀 4">
            <a:extLst>
              <a:ext uri="{FF2B5EF4-FFF2-40B4-BE49-F238E27FC236}">
                <a16:creationId xmlns:a16="http://schemas.microsoft.com/office/drawing/2014/main" id="{6DD0F11E-7022-D464-6F54-CBD5B42260BF}"/>
              </a:ext>
            </a:extLst>
          </p:cNvPr>
          <p:cNvSpPr txBox="1">
            <a:spLocks/>
          </p:cNvSpPr>
          <p:nvPr/>
        </p:nvSpPr>
        <p:spPr>
          <a:xfrm>
            <a:off x="487130" y="2613780"/>
            <a:ext cx="109728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10000"/>
              </a:lnSpc>
            </a:pPr>
            <a:endParaRPr lang="en-US" altLang="ko-KR">
              <a:latin typeface="ONE Mobile Title OTF" panose="00000500000000000000" pitchFamily="50" charset="-127"/>
              <a:ea typeface="ONE Mobile Title OTF" panose="00000500000000000000" pitchFamily="50" charset="-127"/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4E41C157-518E-082E-CF1C-62602FBBE684}"/>
              </a:ext>
            </a:extLst>
          </p:cNvPr>
          <p:cNvGraphicFramePr>
            <a:graphicFrameLocks noGrp="1"/>
          </p:cNvGraphicFramePr>
          <p:nvPr/>
        </p:nvGraphicFramePr>
        <p:xfrm>
          <a:off x="2954586" y="1832959"/>
          <a:ext cx="7270141" cy="15947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8164">
                  <a:extLst>
                    <a:ext uri="{9D8B030D-6E8A-4147-A177-3AD203B41FA5}">
                      <a16:colId xmlns:a16="http://schemas.microsoft.com/office/drawing/2014/main" val="44945492"/>
                    </a:ext>
                  </a:extLst>
                </a:gridCol>
                <a:gridCol w="1816824">
                  <a:extLst>
                    <a:ext uri="{9D8B030D-6E8A-4147-A177-3AD203B41FA5}">
                      <a16:colId xmlns:a16="http://schemas.microsoft.com/office/drawing/2014/main" val="587174883"/>
                    </a:ext>
                  </a:extLst>
                </a:gridCol>
                <a:gridCol w="1685170">
                  <a:extLst>
                    <a:ext uri="{9D8B030D-6E8A-4147-A177-3AD203B41FA5}">
                      <a16:colId xmlns:a16="http://schemas.microsoft.com/office/drawing/2014/main" val="2682012462"/>
                    </a:ext>
                  </a:extLst>
                </a:gridCol>
                <a:gridCol w="1399920">
                  <a:extLst>
                    <a:ext uri="{9D8B030D-6E8A-4147-A177-3AD203B41FA5}">
                      <a16:colId xmlns:a16="http://schemas.microsoft.com/office/drawing/2014/main" val="1092562347"/>
                    </a:ext>
                  </a:extLst>
                </a:gridCol>
                <a:gridCol w="1290063">
                  <a:extLst>
                    <a:ext uri="{9D8B030D-6E8A-4147-A177-3AD203B41FA5}">
                      <a16:colId xmlns:a16="http://schemas.microsoft.com/office/drawing/2014/main" val="2845926907"/>
                    </a:ext>
                  </a:extLst>
                </a:gridCol>
              </a:tblGrid>
              <a:tr h="30362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이름</a:t>
                      </a:r>
                    </a:p>
                  </a:txBody>
                  <a:tcPr anchor="ctr">
                    <a:solidFill>
                      <a:srgbClr val="FBAE8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생년월일</a:t>
                      </a:r>
                    </a:p>
                  </a:txBody>
                  <a:tcPr anchor="ctr">
                    <a:solidFill>
                      <a:srgbClr val="FBAE8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사이트</a:t>
                      </a:r>
                      <a:r>
                        <a:rPr lang="en-US" altLang="ko-KR" sz="1800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1</a:t>
                      </a:r>
                      <a:endParaRPr lang="ko-KR" altLang="en-US" sz="1800">
                        <a:latin typeface="ONE 모바일고딕 Title OTF" panose="00000500000000000000" pitchFamily="50" charset="-127"/>
                        <a:ea typeface="ONE 모바일고딕 Title OTF" panose="00000500000000000000" pitchFamily="50" charset="-127"/>
                      </a:endParaRPr>
                    </a:p>
                  </a:txBody>
                  <a:tcPr anchor="ctr">
                    <a:solidFill>
                      <a:srgbClr val="FBAE8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사이트</a:t>
                      </a:r>
                      <a:r>
                        <a:rPr lang="en-US" altLang="ko-KR" sz="1800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2</a:t>
                      </a:r>
                      <a:endParaRPr lang="ko-KR" altLang="en-US" sz="1800">
                        <a:latin typeface="ONE 모바일고딕 Title OTF" panose="00000500000000000000" pitchFamily="50" charset="-127"/>
                        <a:ea typeface="ONE 모바일고딕 Title OTF" panose="00000500000000000000" pitchFamily="50" charset="-127"/>
                      </a:endParaRPr>
                    </a:p>
                  </a:txBody>
                  <a:tcPr anchor="ctr">
                    <a:solidFill>
                      <a:srgbClr val="FBAE8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사이트</a:t>
                      </a:r>
                      <a:r>
                        <a:rPr lang="en-US" altLang="ko-KR" sz="1800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3</a:t>
                      </a:r>
                      <a:endParaRPr lang="ko-KR" altLang="en-US" sz="1800">
                        <a:latin typeface="ONE 모바일고딕 Title OTF" panose="00000500000000000000" pitchFamily="50" charset="-127"/>
                        <a:ea typeface="ONE 모바일고딕 Title OTF" panose="00000500000000000000" pitchFamily="50" charset="-127"/>
                      </a:endParaRPr>
                    </a:p>
                  </a:txBody>
                  <a:tcPr anchor="ctr">
                    <a:solidFill>
                      <a:srgbClr val="FBAE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5570126"/>
                  </a:ext>
                </a:extLst>
              </a:tr>
              <a:tr h="4085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이지은</a:t>
                      </a:r>
                      <a:endParaRPr lang="en-US" altLang="ko-KR" sz="1800">
                        <a:latin typeface="ONE 모바일고딕 Title OTF" panose="00000500000000000000" pitchFamily="50" charset="-127"/>
                        <a:ea typeface="ONE 모바일고딕 Title OTF" panose="000005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19930516</a:t>
                      </a:r>
                      <a:endParaRPr lang="ko-KR" altLang="en-US" sz="1800">
                        <a:latin typeface="ONE 모바일고딕 Title OTF" panose="00000500000000000000" pitchFamily="50" charset="-127"/>
                        <a:ea typeface="ONE 모바일고딕 Title OTF" panose="000005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인스타그램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페이스북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유튜브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3876851"/>
                  </a:ext>
                </a:extLst>
              </a:tr>
              <a:tr h="4181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err="1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김향기</a:t>
                      </a:r>
                      <a:endParaRPr lang="en-US" altLang="ko-KR" sz="1800">
                        <a:latin typeface="ONE 모바일고딕 Title OTF" panose="00000500000000000000" pitchFamily="50" charset="-127"/>
                        <a:ea typeface="ONE 모바일고딕 Title OTF" panose="000005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20000809</a:t>
                      </a:r>
                      <a:endParaRPr lang="ko-KR" altLang="en-US" sz="1800">
                        <a:latin typeface="ONE 모바일고딕 Title OTF" panose="00000500000000000000" pitchFamily="50" charset="-127"/>
                        <a:ea typeface="ONE 모바일고딕 Title OTF" panose="000005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인스타그램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트위터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NULL</a:t>
                      </a:r>
                      <a:endParaRPr lang="ko-KR" altLang="en-US" sz="1800">
                        <a:latin typeface="ONE 모바일고딕 Title OTF" panose="00000500000000000000" pitchFamily="50" charset="-127"/>
                        <a:ea typeface="ONE 모바일고딕 Title OTF" panose="00000500000000000000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1353184"/>
                  </a:ext>
                </a:extLst>
              </a:tr>
              <a:tr h="40224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…</a:t>
                      </a:r>
                      <a:endParaRPr lang="ko-KR" altLang="en-US" sz="1800">
                        <a:latin typeface="ONE 모바일고딕 Title OTF" panose="00000500000000000000" pitchFamily="50" charset="-127"/>
                        <a:ea typeface="ONE 모바일고딕 Title OTF" panose="000005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…</a:t>
                      </a:r>
                      <a:endParaRPr lang="ko-KR" altLang="en-US" sz="1800">
                        <a:latin typeface="ONE 모바일고딕 Title OTF" panose="00000500000000000000" pitchFamily="50" charset="-127"/>
                        <a:ea typeface="ONE 모바일고딕 Title OTF" panose="000005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…</a:t>
                      </a:r>
                      <a:endParaRPr lang="ko-KR" altLang="en-US" sz="1800">
                        <a:latin typeface="ONE 모바일고딕 Title OTF" panose="00000500000000000000" pitchFamily="50" charset="-127"/>
                        <a:ea typeface="ONE 모바일고딕 Title OTF" panose="000005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…</a:t>
                      </a:r>
                      <a:endParaRPr lang="ko-KR" altLang="en-US" sz="1800">
                        <a:latin typeface="ONE 모바일고딕 Title OTF" panose="00000500000000000000" pitchFamily="50" charset="-127"/>
                        <a:ea typeface="ONE 모바일고딕 Title OTF" panose="00000500000000000000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0439423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8C550740-917E-16C3-4947-5DC9E559BA93}"/>
              </a:ext>
            </a:extLst>
          </p:cNvPr>
          <p:cNvGraphicFramePr>
            <a:graphicFrameLocks noGrp="1"/>
          </p:cNvGraphicFramePr>
          <p:nvPr/>
        </p:nvGraphicFramePr>
        <p:xfrm>
          <a:off x="1760241" y="4574915"/>
          <a:ext cx="2969260" cy="111082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29030">
                  <a:extLst>
                    <a:ext uri="{9D8B030D-6E8A-4147-A177-3AD203B41FA5}">
                      <a16:colId xmlns:a16="http://schemas.microsoft.com/office/drawing/2014/main" val="44945492"/>
                    </a:ext>
                  </a:extLst>
                </a:gridCol>
                <a:gridCol w="1840230">
                  <a:extLst>
                    <a:ext uri="{9D8B030D-6E8A-4147-A177-3AD203B41FA5}">
                      <a16:colId xmlns:a16="http://schemas.microsoft.com/office/drawing/2014/main" val="587174883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이름</a:t>
                      </a:r>
                    </a:p>
                  </a:txBody>
                  <a:tcPr>
                    <a:solidFill>
                      <a:srgbClr val="FBAE8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생년월일</a:t>
                      </a:r>
                    </a:p>
                  </a:txBody>
                  <a:tcPr>
                    <a:solidFill>
                      <a:srgbClr val="FBAE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5570126"/>
                  </a:ext>
                </a:extLst>
              </a:tr>
              <a:tr h="37253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이지은</a:t>
                      </a:r>
                      <a:endParaRPr lang="en-US" altLang="ko-KR" sz="1800">
                        <a:latin typeface="ONE 모바일고딕 Title OTF" panose="00000500000000000000" pitchFamily="50" charset="-127"/>
                        <a:ea typeface="ONE 모바일고딕 Title OTF" panose="000005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19930516</a:t>
                      </a:r>
                      <a:endParaRPr lang="ko-KR" altLang="en-US" sz="1800">
                        <a:latin typeface="ONE 모바일고딕 Title OTF" panose="00000500000000000000" pitchFamily="50" charset="-127"/>
                        <a:ea typeface="ONE 모바일고딕 Title OTF" panose="00000500000000000000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3876851"/>
                  </a:ext>
                </a:extLst>
              </a:tr>
              <a:tr h="37253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err="1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김향기</a:t>
                      </a:r>
                      <a:endParaRPr lang="en-US" altLang="ko-KR" sz="1800">
                        <a:latin typeface="ONE 모바일고딕 Title OTF" panose="00000500000000000000" pitchFamily="50" charset="-127"/>
                        <a:ea typeface="ONE 모바일고딕 Title OTF" panose="000005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20000809</a:t>
                      </a:r>
                      <a:endParaRPr lang="ko-KR" altLang="en-US" sz="1800">
                        <a:latin typeface="ONE 모바일고딕 Title OTF" panose="00000500000000000000" pitchFamily="50" charset="-127"/>
                        <a:ea typeface="ONE 모바일고딕 Title OTF" panose="00000500000000000000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1353184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1908D8F1-BCC3-A2EF-ED41-88173E98B870}"/>
              </a:ext>
            </a:extLst>
          </p:cNvPr>
          <p:cNvGraphicFramePr>
            <a:graphicFrameLocks noGrp="1"/>
          </p:cNvGraphicFramePr>
          <p:nvPr/>
        </p:nvGraphicFramePr>
        <p:xfrm>
          <a:off x="7255157" y="3656582"/>
          <a:ext cx="3789233" cy="250870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67193">
                  <a:extLst>
                    <a:ext uri="{9D8B030D-6E8A-4147-A177-3AD203B41FA5}">
                      <a16:colId xmlns:a16="http://schemas.microsoft.com/office/drawing/2014/main" val="44945492"/>
                    </a:ext>
                  </a:extLst>
                </a:gridCol>
                <a:gridCol w="2622040">
                  <a:extLst>
                    <a:ext uri="{9D8B030D-6E8A-4147-A177-3AD203B41FA5}">
                      <a16:colId xmlns:a16="http://schemas.microsoft.com/office/drawing/2014/main" val="2682012462"/>
                    </a:ext>
                  </a:extLst>
                </a:gridCol>
              </a:tblGrid>
              <a:tr h="41428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이름</a:t>
                      </a:r>
                    </a:p>
                  </a:txBody>
                  <a:tcPr>
                    <a:solidFill>
                      <a:srgbClr val="FBAE8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사이트</a:t>
                      </a:r>
                    </a:p>
                  </a:txBody>
                  <a:tcPr>
                    <a:solidFill>
                      <a:srgbClr val="FBAE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5570126"/>
                  </a:ext>
                </a:extLst>
              </a:tr>
              <a:tr h="41428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이지은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인스타그램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1082939"/>
                  </a:ext>
                </a:extLst>
              </a:tr>
              <a:tr h="41428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이지은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페이스북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6453279"/>
                  </a:ext>
                </a:extLst>
              </a:tr>
              <a:tr h="4219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이지은</a:t>
                      </a:r>
                      <a:endParaRPr lang="en-US" altLang="ko-KR" sz="1800">
                        <a:latin typeface="ONE 모바일고딕 Title OTF" panose="00000500000000000000" pitchFamily="50" charset="-127"/>
                        <a:ea typeface="ONE 모바일고딕 Title OTF" panose="000005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유튜브</a:t>
                      </a:r>
                      <a:endParaRPr lang="en-US" altLang="ko-KR" sz="1800">
                        <a:latin typeface="ONE 모바일고딕 Title OTF" panose="00000500000000000000" pitchFamily="50" charset="-127"/>
                        <a:ea typeface="ONE 모바일고딕 Title OTF" panose="00000500000000000000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3876851"/>
                  </a:ext>
                </a:extLst>
              </a:tr>
              <a:tr h="4219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err="1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김향기</a:t>
                      </a:r>
                      <a:endParaRPr lang="en-US" altLang="ko-KR" sz="1800">
                        <a:latin typeface="ONE 모바일고딕 Title OTF" panose="00000500000000000000" pitchFamily="50" charset="-127"/>
                        <a:ea typeface="ONE 모바일고딕 Title OTF" panose="000005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인스타그램</a:t>
                      </a:r>
                      <a:endParaRPr lang="en-US" altLang="ko-KR" sz="1800">
                        <a:latin typeface="ONE 모바일고딕 Title OTF" panose="00000500000000000000" pitchFamily="50" charset="-127"/>
                        <a:ea typeface="ONE 모바일고딕 Title OTF" panose="00000500000000000000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1601128"/>
                  </a:ext>
                </a:extLst>
              </a:tr>
              <a:tr h="4219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err="1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김향기</a:t>
                      </a:r>
                      <a:endParaRPr lang="en-US" altLang="ko-KR" sz="1800">
                        <a:latin typeface="ONE 모바일고딕 Title OTF" panose="00000500000000000000" pitchFamily="50" charset="-127"/>
                        <a:ea typeface="ONE 모바일고딕 Title OTF" panose="000005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트위터</a:t>
                      </a:r>
                      <a:endParaRPr lang="en-US" altLang="ko-KR" sz="1800">
                        <a:latin typeface="ONE 모바일고딕 Title OTF" panose="00000500000000000000" pitchFamily="50" charset="-127"/>
                        <a:ea typeface="ONE 모바일고딕 Title OTF" panose="00000500000000000000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7765580"/>
                  </a:ext>
                </a:extLst>
              </a:tr>
            </a:tbl>
          </a:graphicData>
        </a:graphic>
      </p:graphicFrame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F6E128D5-69D4-7FAF-3BF4-784431059CA8}"/>
              </a:ext>
            </a:extLst>
          </p:cNvPr>
          <p:cNvCxnSpPr>
            <a:cxnSpLocks/>
            <a:stCxn id="10" idx="3"/>
          </p:cNvCxnSpPr>
          <p:nvPr/>
        </p:nvCxnSpPr>
        <p:spPr>
          <a:xfrm flipV="1">
            <a:off x="4729501" y="4305300"/>
            <a:ext cx="2525656" cy="82502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48759F75-82BE-3A55-8893-6C12D7745AE2}"/>
              </a:ext>
            </a:extLst>
          </p:cNvPr>
          <p:cNvCxnSpPr>
            <a:cxnSpLocks/>
            <a:stCxn id="10" idx="3"/>
          </p:cNvCxnSpPr>
          <p:nvPr/>
        </p:nvCxnSpPr>
        <p:spPr>
          <a:xfrm flipV="1">
            <a:off x="4729501" y="4724400"/>
            <a:ext cx="2525656" cy="40592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B90E169E-BC16-55B7-D14A-058FBE4CBB1A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4729501" y="5130329"/>
            <a:ext cx="2516588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31ACE918-298C-A249-B95E-A1A7B71F360D}"/>
              </a:ext>
            </a:extLst>
          </p:cNvPr>
          <p:cNvCxnSpPr>
            <a:cxnSpLocks/>
          </p:cNvCxnSpPr>
          <p:nvPr/>
        </p:nvCxnSpPr>
        <p:spPr>
          <a:xfrm>
            <a:off x="4729501" y="5514975"/>
            <a:ext cx="2525656" cy="33338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FAC3343F-049B-5007-77BE-164BB10DBF52}"/>
              </a:ext>
            </a:extLst>
          </p:cNvPr>
          <p:cNvCxnSpPr>
            <a:cxnSpLocks/>
          </p:cNvCxnSpPr>
          <p:nvPr/>
        </p:nvCxnSpPr>
        <p:spPr>
          <a:xfrm>
            <a:off x="4729501" y="5514975"/>
            <a:ext cx="2525656" cy="471488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화살표: 톱니 모양의 오른쪽 17">
            <a:extLst>
              <a:ext uri="{FF2B5EF4-FFF2-40B4-BE49-F238E27FC236}">
                <a16:creationId xmlns:a16="http://schemas.microsoft.com/office/drawing/2014/main" id="{B99D0605-4ED0-6C94-A439-91FB4B9F30AC}"/>
              </a:ext>
            </a:extLst>
          </p:cNvPr>
          <p:cNvSpPr/>
          <p:nvPr/>
        </p:nvSpPr>
        <p:spPr>
          <a:xfrm rot="5400000">
            <a:off x="5606795" y="3624261"/>
            <a:ext cx="978408" cy="774701"/>
          </a:xfrm>
          <a:prstGeom prst="notchedRightArrow">
            <a:avLst>
              <a:gd name="adj1" fmla="val 42208"/>
              <a:gd name="adj2" fmla="val 52449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ONE Mobile Title OTF" panose="00000500000000000000" pitchFamily="50" charset="-127"/>
              <a:ea typeface="ONE Mobile Title OTF" panose="00000500000000000000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6227937-9912-218E-FB56-C1E185B2B4E1}"/>
              </a:ext>
            </a:extLst>
          </p:cNvPr>
          <p:cNvSpPr txBox="1"/>
          <p:nvPr/>
        </p:nvSpPr>
        <p:spPr>
          <a:xfrm>
            <a:off x="3170041" y="1179413"/>
            <a:ext cx="63225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800" kern="1200">
                <a:solidFill>
                  <a:srgbClr val="000000"/>
                </a:solidFill>
                <a:effectLst/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유사한 속성이 반복되는 경우도 </a:t>
            </a:r>
            <a:r>
              <a:rPr lang="en-US" altLang="ko-KR" sz="1800" kern="1200">
                <a:solidFill>
                  <a:srgbClr val="000000"/>
                </a:solidFill>
                <a:effectLst/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1</a:t>
            </a:r>
            <a:r>
              <a:rPr lang="ko-KR" altLang="ko-KR" sz="1800" kern="1200">
                <a:solidFill>
                  <a:srgbClr val="000000"/>
                </a:solidFill>
                <a:effectLst/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차 정규화의 대상이 된다</a:t>
            </a:r>
            <a:endParaRPr lang="ko-KR" altLang="en-US">
              <a:latin typeface="ONE Mobile Title OTF" panose="00000500000000000000" pitchFamily="50" charset="-127"/>
              <a:ea typeface="ONE Mobile Title OTF" panose="000005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616309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37C22F-F17E-76CC-5571-276833E5F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2D1DE5F9-0EF0-8E2D-26F6-CE545D436D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7333" y="381000"/>
            <a:ext cx="2573867" cy="5080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806C9C73-39C9-5041-2F88-D759D94EE5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7600" y="381000"/>
            <a:ext cx="2573867" cy="5080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DE3ED476-E966-AFCB-21B0-A5AF650692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7867" y="381000"/>
            <a:ext cx="2573867" cy="5080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4C6E5C32-F722-6F0B-EB93-E9BC3BD4EA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20133"/>
            <a:ext cx="3251200" cy="643467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A7E80EC8-FA8B-4643-8D4A-FE9E97A9EA4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753533"/>
            <a:ext cx="12192000" cy="6104467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1720DA83-4574-1448-3663-F08F3FC694D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1733" y="1002696"/>
            <a:ext cx="11557000" cy="5469467"/>
          </a:xfrm>
          <a:prstGeom prst="rect">
            <a:avLst/>
          </a:prstGeom>
          <a:effectLst>
            <a:outerShdw blurRad="669826" dist="252339" dir="2700000">
              <a:srgbClr val="000000">
                <a:alpha val="10000"/>
              </a:srgbClr>
            </a:outerShdw>
          </a:effectLst>
        </p:spPr>
      </p:pic>
      <p:sp>
        <p:nvSpPr>
          <p:cNvPr id="57" name="TextBox 30">
            <a:extLst>
              <a:ext uri="{FF2B5EF4-FFF2-40B4-BE49-F238E27FC236}">
                <a16:creationId xmlns:a16="http://schemas.microsoft.com/office/drawing/2014/main" id="{FD92A1FC-1AD0-AE15-44C2-2487806D0A55}"/>
              </a:ext>
            </a:extLst>
          </p:cNvPr>
          <p:cNvSpPr txBox="1"/>
          <p:nvPr/>
        </p:nvSpPr>
        <p:spPr>
          <a:xfrm>
            <a:off x="347714" y="529872"/>
            <a:ext cx="2337032" cy="116543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4580"/>
              </a:lnSpc>
            </a:pPr>
            <a:r>
              <a:rPr lang="ko-KR" altLang="en-US" sz="1600" spc="400">
                <a:solidFill>
                  <a:srgbClr val="FFFFFF"/>
                </a:solidFill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정규화</a:t>
            </a:r>
            <a:endParaRPr lang="ko-KR" altLang="en-US" sz="1600" b="0" i="0" u="none" strike="noStrike" spc="400">
              <a:solidFill>
                <a:srgbClr val="FFFFFF"/>
              </a:solidFill>
              <a:latin typeface="ONE Mobile Title OTF" panose="00000500000000000000" pitchFamily="50" charset="-127"/>
              <a:ea typeface="ONE Mobile Title OTF" panose="00000500000000000000" pitchFamily="50" charset="-127"/>
            </a:endParaRPr>
          </a:p>
        </p:txBody>
      </p:sp>
      <p:sp>
        <p:nvSpPr>
          <p:cNvPr id="33" name="TextBox 29">
            <a:extLst>
              <a:ext uri="{FF2B5EF4-FFF2-40B4-BE49-F238E27FC236}">
                <a16:creationId xmlns:a16="http://schemas.microsoft.com/office/drawing/2014/main" id="{9C24475C-7A19-1D8F-0B99-91B7894429E0}"/>
              </a:ext>
            </a:extLst>
          </p:cNvPr>
          <p:cNvSpPr txBox="1"/>
          <p:nvPr/>
        </p:nvSpPr>
        <p:spPr>
          <a:xfrm>
            <a:off x="980225" y="1141285"/>
            <a:ext cx="9475437" cy="855133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6199"/>
              </a:lnSpc>
            </a:pPr>
            <a:r>
              <a:rPr lang="ko-KR" altLang="en-US" sz="3200" b="0" i="0" u="none" strike="noStrike">
                <a:solidFill>
                  <a:srgbClr val="FBAE84"/>
                </a:solidFill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제 </a:t>
            </a:r>
            <a:r>
              <a:rPr lang="en-US" altLang="ko-KR" sz="3200">
                <a:solidFill>
                  <a:srgbClr val="FBAE84"/>
                </a:solidFill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2</a:t>
            </a:r>
            <a:r>
              <a:rPr lang="en-US" altLang="ko-KR" sz="3200" b="0" i="0" u="none" strike="noStrike">
                <a:solidFill>
                  <a:srgbClr val="FBAE84"/>
                </a:solidFill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 </a:t>
            </a:r>
            <a:r>
              <a:rPr lang="ko-KR" altLang="en-US" sz="3200" b="0" i="0" u="none" strike="noStrike">
                <a:solidFill>
                  <a:srgbClr val="FBAE84"/>
                </a:solidFill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정규형</a:t>
            </a:r>
            <a:endParaRPr lang="en-US" altLang="ko-KR" sz="3200" b="0" i="0" u="none" strike="noStrike">
              <a:solidFill>
                <a:srgbClr val="F6AB81"/>
              </a:solidFill>
              <a:latin typeface="ONE Mobile Title OTF" panose="00000500000000000000" pitchFamily="50" charset="-127"/>
              <a:ea typeface="ONE Mobile Title OTF" panose="00000500000000000000" pitchFamily="50" charset="-127"/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7138D675-FAA9-C2B1-6470-7ABAF3D49E90}"/>
              </a:ext>
            </a:extLst>
          </p:cNvPr>
          <p:cNvGraphicFramePr>
            <a:graphicFrameLocks noGrp="1"/>
          </p:cNvGraphicFramePr>
          <p:nvPr/>
        </p:nvGraphicFramePr>
        <p:xfrm>
          <a:off x="3070859" y="1974742"/>
          <a:ext cx="7384803" cy="148336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71261">
                  <a:extLst>
                    <a:ext uri="{9D8B030D-6E8A-4147-A177-3AD203B41FA5}">
                      <a16:colId xmlns:a16="http://schemas.microsoft.com/office/drawing/2014/main" val="44945492"/>
                    </a:ext>
                  </a:extLst>
                </a:gridCol>
                <a:gridCol w="1804514">
                  <a:extLst>
                    <a:ext uri="{9D8B030D-6E8A-4147-A177-3AD203B41FA5}">
                      <a16:colId xmlns:a16="http://schemas.microsoft.com/office/drawing/2014/main" val="587174883"/>
                    </a:ext>
                  </a:extLst>
                </a:gridCol>
                <a:gridCol w="1804514">
                  <a:extLst>
                    <a:ext uri="{9D8B030D-6E8A-4147-A177-3AD203B41FA5}">
                      <a16:colId xmlns:a16="http://schemas.microsoft.com/office/drawing/2014/main" val="2682012462"/>
                    </a:ext>
                  </a:extLst>
                </a:gridCol>
                <a:gridCol w="1804514">
                  <a:extLst>
                    <a:ext uri="{9D8B030D-6E8A-4147-A177-3AD203B41FA5}">
                      <a16:colId xmlns:a16="http://schemas.microsoft.com/office/drawing/2014/main" val="1092562347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주문번호</a:t>
                      </a:r>
                    </a:p>
                  </a:txBody>
                  <a:tcPr>
                    <a:solidFill>
                      <a:srgbClr val="FBAE8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음료코드</a:t>
                      </a:r>
                    </a:p>
                  </a:txBody>
                  <a:tcPr>
                    <a:solidFill>
                      <a:srgbClr val="FBAE8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주문수량</a:t>
                      </a:r>
                    </a:p>
                  </a:txBody>
                  <a:tcPr>
                    <a:solidFill>
                      <a:srgbClr val="FBAE8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err="1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음료명</a:t>
                      </a:r>
                      <a:endParaRPr lang="ko-KR" altLang="en-US">
                        <a:latin typeface="ONE 모바일고딕 Title OTF" panose="00000500000000000000" pitchFamily="50" charset="-127"/>
                        <a:ea typeface="ONE 모바일고딕 Title OTF" panose="00000500000000000000" pitchFamily="50" charset="-127"/>
                      </a:endParaRPr>
                    </a:p>
                  </a:txBody>
                  <a:tcPr>
                    <a:solidFill>
                      <a:srgbClr val="FBAE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5570126"/>
                  </a:ext>
                </a:extLst>
              </a:tr>
              <a:tr h="37253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202506010010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A1001</a:t>
                      </a:r>
                      <a:endParaRPr lang="ko-KR" altLang="en-US">
                        <a:latin typeface="ONE 모바일고딕 Title OTF" panose="00000500000000000000" pitchFamily="50" charset="-127"/>
                        <a:ea typeface="ONE 모바일고딕 Title OTF" panose="000005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2</a:t>
                      </a:r>
                      <a:endParaRPr lang="ko-KR" altLang="en-US">
                        <a:latin typeface="ONE 모바일고딕 Title OTF" panose="00000500000000000000" pitchFamily="50" charset="-127"/>
                        <a:ea typeface="ONE 모바일고딕 Title OTF" panose="000005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아메리카노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3876851"/>
                  </a:ext>
                </a:extLst>
              </a:tr>
              <a:tr h="37253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202506010011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B1002</a:t>
                      </a:r>
                      <a:endParaRPr lang="ko-KR" altLang="en-US">
                        <a:latin typeface="ONE 모바일고딕 Title OTF" panose="00000500000000000000" pitchFamily="50" charset="-127"/>
                        <a:ea typeface="ONE 모바일고딕 Title OTF" panose="000005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1</a:t>
                      </a:r>
                      <a:endParaRPr lang="ko-KR" altLang="en-US">
                        <a:latin typeface="ONE 모바일고딕 Title OTF" panose="00000500000000000000" pitchFamily="50" charset="-127"/>
                        <a:ea typeface="ONE 모바일고딕 Title OTF" panose="000005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카페라떼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1353184"/>
                  </a:ext>
                </a:extLst>
              </a:tr>
              <a:tr h="37253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202506010012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A1001</a:t>
                      </a:r>
                      <a:endParaRPr lang="ko-KR" altLang="en-US">
                        <a:latin typeface="ONE 모바일고딕 Title OTF" panose="00000500000000000000" pitchFamily="50" charset="-127"/>
                        <a:ea typeface="ONE 모바일고딕 Title OTF" panose="000005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3</a:t>
                      </a:r>
                      <a:endParaRPr lang="ko-KR" altLang="en-US">
                        <a:latin typeface="ONE 모바일고딕 Title OTF" panose="00000500000000000000" pitchFamily="50" charset="-127"/>
                        <a:ea typeface="ONE 모바일고딕 Title OTF" panose="000005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아메리카노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0439423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0CA95ED7-F491-0CE7-5492-AAD9E56F7CA2}"/>
              </a:ext>
            </a:extLst>
          </p:cNvPr>
          <p:cNvGraphicFramePr>
            <a:graphicFrameLocks noGrp="1"/>
          </p:cNvGraphicFramePr>
          <p:nvPr/>
        </p:nvGraphicFramePr>
        <p:xfrm>
          <a:off x="822325" y="4616724"/>
          <a:ext cx="5429568" cy="148503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18018">
                  <a:extLst>
                    <a:ext uri="{9D8B030D-6E8A-4147-A177-3AD203B41FA5}">
                      <a16:colId xmlns:a16="http://schemas.microsoft.com/office/drawing/2014/main" val="2453916593"/>
                    </a:ext>
                  </a:extLst>
                </a:gridCol>
                <a:gridCol w="1755775">
                  <a:extLst>
                    <a:ext uri="{9D8B030D-6E8A-4147-A177-3AD203B41FA5}">
                      <a16:colId xmlns:a16="http://schemas.microsoft.com/office/drawing/2014/main" val="370561247"/>
                    </a:ext>
                  </a:extLst>
                </a:gridCol>
                <a:gridCol w="1755775">
                  <a:extLst>
                    <a:ext uri="{9D8B030D-6E8A-4147-A177-3AD203B41FA5}">
                      <a16:colId xmlns:a16="http://schemas.microsoft.com/office/drawing/2014/main" val="233096378"/>
                    </a:ext>
                  </a:extLst>
                </a:gridCol>
              </a:tblGrid>
              <a:tr h="36743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주문번호</a:t>
                      </a:r>
                    </a:p>
                  </a:txBody>
                  <a:tcPr>
                    <a:solidFill>
                      <a:srgbClr val="FBAE8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음료코드</a:t>
                      </a:r>
                    </a:p>
                  </a:txBody>
                  <a:tcPr>
                    <a:solidFill>
                      <a:srgbClr val="FBAE8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주문수량</a:t>
                      </a:r>
                    </a:p>
                  </a:txBody>
                  <a:tcPr>
                    <a:solidFill>
                      <a:srgbClr val="FBAE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5752873"/>
                  </a:ext>
                </a:extLst>
              </a:tr>
              <a:tr h="37253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202506010010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A1001</a:t>
                      </a:r>
                      <a:endParaRPr lang="ko-KR" altLang="en-US">
                        <a:latin typeface="ONE 모바일고딕 Title OTF" panose="00000500000000000000" pitchFamily="50" charset="-127"/>
                        <a:ea typeface="ONE 모바일고딕 Title OTF" panose="000005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2</a:t>
                      </a:r>
                      <a:endParaRPr lang="ko-KR" altLang="en-US">
                        <a:latin typeface="ONE 모바일고딕 Title OTF" panose="00000500000000000000" pitchFamily="50" charset="-127"/>
                        <a:ea typeface="ONE 모바일고딕 Title OTF" panose="00000500000000000000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9141749"/>
                  </a:ext>
                </a:extLst>
              </a:tr>
              <a:tr h="37253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202506010011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B1002</a:t>
                      </a:r>
                      <a:endParaRPr lang="ko-KR" altLang="en-US">
                        <a:latin typeface="ONE 모바일고딕 Title OTF" panose="00000500000000000000" pitchFamily="50" charset="-127"/>
                        <a:ea typeface="ONE 모바일고딕 Title OTF" panose="000005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1</a:t>
                      </a:r>
                      <a:endParaRPr lang="ko-KR" altLang="en-US">
                        <a:latin typeface="ONE 모바일고딕 Title OTF" panose="00000500000000000000" pitchFamily="50" charset="-127"/>
                        <a:ea typeface="ONE 모바일고딕 Title OTF" panose="00000500000000000000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5920268"/>
                  </a:ext>
                </a:extLst>
              </a:tr>
              <a:tr h="37253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202506010012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A1001</a:t>
                      </a:r>
                      <a:endParaRPr lang="ko-KR" altLang="en-US">
                        <a:latin typeface="ONE 모바일고딕 Title OTF" panose="00000500000000000000" pitchFamily="50" charset="-127"/>
                        <a:ea typeface="ONE 모바일고딕 Title OTF" panose="000005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3</a:t>
                      </a:r>
                      <a:endParaRPr lang="ko-KR" altLang="en-US">
                        <a:latin typeface="ONE 모바일고딕 Title OTF" panose="00000500000000000000" pitchFamily="50" charset="-127"/>
                        <a:ea typeface="ONE 모바일고딕 Title OTF" panose="00000500000000000000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4942049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D277CAD8-242C-FA05-171F-C9CB1BCDD37A}"/>
              </a:ext>
            </a:extLst>
          </p:cNvPr>
          <p:cNvGraphicFramePr>
            <a:graphicFrameLocks noGrp="1"/>
          </p:cNvGraphicFramePr>
          <p:nvPr/>
        </p:nvGraphicFramePr>
        <p:xfrm>
          <a:off x="7845425" y="4616724"/>
          <a:ext cx="3511550" cy="111082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55775">
                  <a:extLst>
                    <a:ext uri="{9D8B030D-6E8A-4147-A177-3AD203B41FA5}">
                      <a16:colId xmlns:a16="http://schemas.microsoft.com/office/drawing/2014/main" val="3045671536"/>
                    </a:ext>
                  </a:extLst>
                </a:gridCol>
                <a:gridCol w="1755775">
                  <a:extLst>
                    <a:ext uri="{9D8B030D-6E8A-4147-A177-3AD203B41FA5}">
                      <a16:colId xmlns:a16="http://schemas.microsoft.com/office/drawing/2014/main" val="2108163415"/>
                    </a:ext>
                  </a:extLst>
                </a:gridCol>
              </a:tblGrid>
              <a:tr h="36229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음료코드</a:t>
                      </a:r>
                    </a:p>
                  </a:txBody>
                  <a:tcPr>
                    <a:solidFill>
                      <a:srgbClr val="FBAE8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err="1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음료명</a:t>
                      </a:r>
                      <a:endParaRPr lang="ko-KR" altLang="en-US">
                        <a:latin typeface="ONE 모바일고딕 Title OTF" panose="00000500000000000000" pitchFamily="50" charset="-127"/>
                        <a:ea typeface="ONE 모바일고딕 Title OTF" panose="00000500000000000000" pitchFamily="50" charset="-127"/>
                      </a:endParaRPr>
                    </a:p>
                  </a:txBody>
                  <a:tcPr>
                    <a:solidFill>
                      <a:srgbClr val="FBAE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7479360"/>
                  </a:ext>
                </a:extLst>
              </a:tr>
              <a:tr h="37253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A1001</a:t>
                      </a:r>
                      <a:endParaRPr lang="ko-KR" altLang="en-US">
                        <a:latin typeface="ONE 모바일고딕 Title OTF" panose="00000500000000000000" pitchFamily="50" charset="-127"/>
                        <a:ea typeface="ONE 모바일고딕 Title OTF" panose="000005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아메리카노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4865946"/>
                  </a:ext>
                </a:extLst>
              </a:tr>
              <a:tr h="37253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B1002</a:t>
                      </a:r>
                      <a:endParaRPr lang="ko-KR" altLang="en-US">
                        <a:latin typeface="ONE 모바일고딕 Title OTF" panose="00000500000000000000" pitchFamily="50" charset="-127"/>
                        <a:ea typeface="ONE 모바일고딕 Title OTF" panose="000005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카페라떼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1844619"/>
                  </a:ext>
                </a:extLst>
              </a:tr>
            </a:tbl>
          </a:graphicData>
        </a:graphic>
      </p:graphicFrame>
      <p:grpSp>
        <p:nvGrpSpPr>
          <p:cNvPr id="12" name="그룹 11">
            <a:extLst>
              <a:ext uri="{FF2B5EF4-FFF2-40B4-BE49-F238E27FC236}">
                <a16:creationId xmlns:a16="http://schemas.microsoft.com/office/drawing/2014/main" id="{39DEA273-F7F3-240F-4ABD-FB8722A58A66}"/>
              </a:ext>
            </a:extLst>
          </p:cNvPr>
          <p:cNvGrpSpPr/>
          <p:nvPr/>
        </p:nvGrpSpPr>
        <p:grpSpPr>
          <a:xfrm>
            <a:off x="4964817" y="1892306"/>
            <a:ext cx="5565748" cy="1674371"/>
            <a:chOff x="4457700" y="1602229"/>
            <a:chExt cx="5565748" cy="1674371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2C268229-C146-9EAF-7029-F8B113C3A86A}"/>
                </a:ext>
              </a:extLst>
            </p:cNvPr>
            <p:cNvSpPr/>
            <p:nvPr/>
          </p:nvSpPr>
          <p:spPr>
            <a:xfrm>
              <a:off x="4457700" y="1609560"/>
              <a:ext cx="1955800" cy="166704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ONE Mobile Title OTF" panose="00000500000000000000" pitchFamily="50" charset="-127"/>
                <a:ea typeface="ONE Mobile Title OTF" panose="00000500000000000000" pitchFamily="50" charset="-127"/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81A81EF4-BDD2-E86B-9AEE-67FD81959878}"/>
                </a:ext>
              </a:extLst>
            </p:cNvPr>
            <p:cNvSpPr/>
            <p:nvPr/>
          </p:nvSpPr>
          <p:spPr>
            <a:xfrm>
              <a:off x="8067648" y="1602229"/>
              <a:ext cx="1955800" cy="166704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ONE Mobile Title OTF" panose="00000500000000000000" pitchFamily="50" charset="-127"/>
                <a:ea typeface="ONE Mobile Title OTF" panose="00000500000000000000" pitchFamily="50" charset="-127"/>
              </a:endParaRPr>
            </a:p>
          </p:txBody>
        </p:sp>
        <p:cxnSp>
          <p:nvCxnSpPr>
            <p:cNvPr id="15" name="연결선: 꺾임 14">
              <a:extLst>
                <a:ext uri="{FF2B5EF4-FFF2-40B4-BE49-F238E27FC236}">
                  <a16:creationId xmlns:a16="http://schemas.microsoft.com/office/drawing/2014/main" id="{5C0CFE03-E7DE-8B19-AF1B-8CC546C624DE}"/>
                </a:ext>
              </a:extLst>
            </p:cNvPr>
            <p:cNvCxnSpPr>
              <a:cxnSpLocks/>
              <a:stCxn id="14" idx="2"/>
              <a:endCxn id="13" idx="2"/>
            </p:cNvCxnSpPr>
            <p:nvPr/>
          </p:nvCxnSpPr>
          <p:spPr>
            <a:xfrm rot="5400000">
              <a:off x="7236909" y="1467960"/>
              <a:ext cx="7331" cy="3609948"/>
            </a:xfrm>
            <a:prstGeom prst="bentConnector3">
              <a:avLst>
                <a:gd name="adj1" fmla="val 3218265"/>
              </a:avLst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523867D7-6F6F-8644-0074-FDEB28B1FDA1}"/>
              </a:ext>
            </a:extLst>
          </p:cNvPr>
          <p:cNvSpPr txBox="1"/>
          <p:nvPr/>
        </p:nvSpPr>
        <p:spPr>
          <a:xfrm>
            <a:off x="9489192" y="3622972"/>
            <a:ext cx="24837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*</a:t>
            </a:r>
            <a:r>
              <a:rPr lang="ko-KR" altLang="en-US" sz="1200"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일반속성인 음료명이 주식별자 중 </a:t>
            </a:r>
            <a:endParaRPr lang="en-US" altLang="ko-KR" sz="1200">
              <a:latin typeface="ONE Mobile Title OTF" panose="00000500000000000000" pitchFamily="50" charset="-127"/>
              <a:ea typeface="ONE Mobile Title OTF" panose="00000500000000000000" pitchFamily="50" charset="-127"/>
            </a:endParaRPr>
          </a:p>
          <a:p>
            <a:r>
              <a:rPr lang="ko-KR" altLang="en-US" sz="1200"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음료코드 속성에만 종속된 경우</a:t>
            </a: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06A5C097-2CF4-D6C5-9A82-2BF97F35697B}"/>
              </a:ext>
            </a:extLst>
          </p:cNvPr>
          <p:cNvGrpSpPr/>
          <p:nvPr/>
        </p:nvGrpSpPr>
        <p:grpSpPr>
          <a:xfrm>
            <a:off x="1563175" y="1763277"/>
            <a:ext cx="5450020" cy="1943100"/>
            <a:chOff x="1056058" y="1473200"/>
            <a:chExt cx="5450020" cy="1943100"/>
          </a:xfrm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9CCC0F9B-FDC8-48D1-2E80-01B3AF3E7AC7}"/>
                </a:ext>
              </a:extLst>
            </p:cNvPr>
            <p:cNvSpPr/>
            <p:nvPr/>
          </p:nvSpPr>
          <p:spPr>
            <a:xfrm>
              <a:off x="2486528" y="1473200"/>
              <a:ext cx="4019550" cy="194310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ONE Mobile Title OTF" panose="00000500000000000000" pitchFamily="50" charset="-127"/>
                <a:ea typeface="ONE Mobile Title OTF" panose="00000500000000000000" pitchFamily="50" charset="-127"/>
              </a:endParaRPr>
            </a:p>
          </p:txBody>
        </p:sp>
        <p:sp>
          <p:nvSpPr>
            <p:cNvPr id="20" name="말풍선: 사각형 19">
              <a:extLst>
                <a:ext uri="{FF2B5EF4-FFF2-40B4-BE49-F238E27FC236}">
                  <a16:creationId xmlns:a16="http://schemas.microsoft.com/office/drawing/2014/main" id="{924CB708-8A9A-86AB-5D2C-5AB3C309604D}"/>
                </a:ext>
              </a:extLst>
            </p:cNvPr>
            <p:cNvSpPr/>
            <p:nvPr/>
          </p:nvSpPr>
          <p:spPr>
            <a:xfrm>
              <a:off x="1056058" y="2136756"/>
              <a:ext cx="1123950" cy="612648"/>
            </a:xfrm>
            <a:prstGeom prst="wedgeRectCallout">
              <a:avLst>
                <a:gd name="adj1" fmla="val 76389"/>
                <a:gd name="adj2" fmla="val 50063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b="1">
                  <a:solidFill>
                    <a:schemeClr val="tx1"/>
                  </a:solidFill>
                  <a:latin typeface="ONE Mobile Title OTF" panose="00000500000000000000" pitchFamily="50" charset="-127"/>
                  <a:ea typeface="ONE Mobile Title OTF" panose="00000500000000000000" pitchFamily="50" charset="-127"/>
                </a:rPr>
                <a:t>주식별자</a:t>
              </a:r>
            </a:p>
          </p:txBody>
        </p:sp>
      </p:grp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526A93F0-4879-D3E1-EF8C-76DF7593A336}"/>
              </a:ext>
            </a:extLst>
          </p:cNvPr>
          <p:cNvCxnSpPr>
            <a:cxnSpLocks/>
          </p:cNvCxnSpPr>
          <p:nvPr/>
        </p:nvCxnSpPr>
        <p:spPr>
          <a:xfrm>
            <a:off x="6251893" y="5137740"/>
            <a:ext cx="15935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53090FE4-D14A-83D9-EDFD-A53913EF042A}"/>
              </a:ext>
            </a:extLst>
          </p:cNvPr>
          <p:cNvCxnSpPr>
            <a:cxnSpLocks/>
          </p:cNvCxnSpPr>
          <p:nvPr/>
        </p:nvCxnSpPr>
        <p:spPr>
          <a:xfrm>
            <a:off x="6251893" y="5531440"/>
            <a:ext cx="15935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BB00AC87-D7B1-079E-8FFA-ACF8984BC10C}"/>
              </a:ext>
            </a:extLst>
          </p:cNvPr>
          <p:cNvCxnSpPr>
            <a:cxnSpLocks/>
          </p:cNvCxnSpPr>
          <p:nvPr/>
        </p:nvCxnSpPr>
        <p:spPr>
          <a:xfrm flipV="1">
            <a:off x="6251893" y="5146738"/>
            <a:ext cx="1593532" cy="76570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화살표: 톱니 모양의 오른쪽 28">
            <a:extLst>
              <a:ext uri="{FF2B5EF4-FFF2-40B4-BE49-F238E27FC236}">
                <a16:creationId xmlns:a16="http://schemas.microsoft.com/office/drawing/2014/main" id="{44338353-EE93-8036-2D93-0B1B2BEB2E22}"/>
              </a:ext>
            </a:extLst>
          </p:cNvPr>
          <p:cNvSpPr/>
          <p:nvPr/>
        </p:nvSpPr>
        <p:spPr>
          <a:xfrm rot="5400000">
            <a:off x="6371302" y="4019696"/>
            <a:ext cx="978408" cy="774701"/>
          </a:xfrm>
          <a:prstGeom prst="notchedRightArrow">
            <a:avLst>
              <a:gd name="adj1" fmla="val 42208"/>
              <a:gd name="adj2" fmla="val 52449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ONE Mobile Title OTF" panose="00000500000000000000" pitchFamily="50" charset="-127"/>
              <a:ea typeface="ONE Mobile Title OTF" panose="00000500000000000000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021043A-122D-B19F-B617-B4F7047504B5}"/>
              </a:ext>
            </a:extLst>
          </p:cNvPr>
          <p:cNvSpPr txBox="1"/>
          <p:nvPr/>
        </p:nvSpPr>
        <p:spPr>
          <a:xfrm>
            <a:off x="3109757" y="1162426"/>
            <a:ext cx="74350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err="1"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엔터티의</a:t>
            </a:r>
            <a:r>
              <a:rPr lang="ko-KR" altLang="en-US"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 모든 일반 속성은 반드시 모든 주식별자에 종속되어야 한다</a:t>
            </a:r>
            <a:r>
              <a:rPr lang="en-US" altLang="ko-KR"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1583341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068B0-1B73-264D-2149-FB234C526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046594C1-363B-128F-4D90-77D2B0FDB9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7333" y="381000"/>
            <a:ext cx="2573867" cy="5080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90F70656-7096-7097-0363-0D0C0B855A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7600" y="381000"/>
            <a:ext cx="2573867" cy="5080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0B23BCE6-738C-6C1E-2DB7-F94B56DA9F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7867" y="381000"/>
            <a:ext cx="2573867" cy="5080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FD81A280-5BB8-F7CF-7EF7-781400E6B4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20133"/>
            <a:ext cx="3251200" cy="643467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052B4B0E-986C-5E92-EFCD-A0A32BC16A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753533"/>
            <a:ext cx="12192000" cy="6104467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04EE1ECD-E17F-060B-E42F-3918B057890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1733" y="1002696"/>
            <a:ext cx="11557000" cy="5469467"/>
          </a:xfrm>
          <a:prstGeom prst="rect">
            <a:avLst/>
          </a:prstGeom>
          <a:effectLst>
            <a:outerShdw blurRad="669826" dist="252339" dir="2700000">
              <a:srgbClr val="000000">
                <a:alpha val="10000"/>
              </a:srgbClr>
            </a:outerShdw>
          </a:effectLst>
        </p:spPr>
      </p:pic>
      <p:sp>
        <p:nvSpPr>
          <p:cNvPr id="57" name="TextBox 30">
            <a:extLst>
              <a:ext uri="{FF2B5EF4-FFF2-40B4-BE49-F238E27FC236}">
                <a16:creationId xmlns:a16="http://schemas.microsoft.com/office/drawing/2014/main" id="{CD2FC240-5F4B-EE53-CBCA-7DADEEE3126C}"/>
              </a:ext>
            </a:extLst>
          </p:cNvPr>
          <p:cNvSpPr txBox="1"/>
          <p:nvPr/>
        </p:nvSpPr>
        <p:spPr>
          <a:xfrm>
            <a:off x="347714" y="529872"/>
            <a:ext cx="2337032" cy="116543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4580"/>
              </a:lnSpc>
            </a:pPr>
            <a:r>
              <a:rPr lang="ko-KR" altLang="en-US" sz="1600" spc="400">
                <a:solidFill>
                  <a:srgbClr val="FFFFFF"/>
                </a:solidFill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정규화</a:t>
            </a:r>
            <a:endParaRPr lang="ko-KR" altLang="en-US" sz="1600" b="0" i="0" u="none" strike="noStrike" spc="400">
              <a:solidFill>
                <a:srgbClr val="FFFFFF"/>
              </a:solidFill>
              <a:latin typeface="ONE Mobile Title OTF" panose="00000500000000000000" pitchFamily="50" charset="-127"/>
              <a:ea typeface="ONE Mobile Title OTF" panose="00000500000000000000" pitchFamily="50" charset="-127"/>
            </a:endParaRPr>
          </a:p>
        </p:txBody>
      </p:sp>
      <p:sp>
        <p:nvSpPr>
          <p:cNvPr id="33" name="TextBox 29">
            <a:extLst>
              <a:ext uri="{FF2B5EF4-FFF2-40B4-BE49-F238E27FC236}">
                <a16:creationId xmlns:a16="http://schemas.microsoft.com/office/drawing/2014/main" id="{0142E1B6-7190-481A-5855-70E99E281167}"/>
              </a:ext>
            </a:extLst>
          </p:cNvPr>
          <p:cNvSpPr txBox="1"/>
          <p:nvPr/>
        </p:nvSpPr>
        <p:spPr>
          <a:xfrm>
            <a:off x="980225" y="1141285"/>
            <a:ext cx="9475437" cy="855133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6199"/>
              </a:lnSpc>
            </a:pPr>
            <a:r>
              <a:rPr lang="ko-KR" altLang="en-US" sz="3200" b="0" i="0" u="none" strike="noStrike">
                <a:solidFill>
                  <a:srgbClr val="FBAE84"/>
                </a:solidFill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제 </a:t>
            </a:r>
            <a:r>
              <a:rPr lang="en-US" altLang="ko-KR" sz="3200">
                <a:solidFill>
                  <a:srgbClr val="FBAE84"/>
                </a:solidFill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3</a:t>
            </a:r>
            <a:r>
              <a:rPr lang="en-US" altLang="ko-KR" sz="3200" b="0" i="0" u="none" strike="noStrike">
                <a:solidFill>
                  <a:srgbClr val="FBAE84"/>
                </a:solidFill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 </a:t>
            </a:r>
            <a:r>
              <a:rPr lang="ko-KR" altLang="en-US" sz="3200" b="0" i="0" u="none" strike="noStrike">
                <a:solidFill>
                  <a:srgbClr val="FBAE84"/>
                </a:solidFill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정규형</a:t>
            </a:r>
            <a:endParaRPr lang="en-US" altLang="ko-KR" sz="3200" b="0" i="0" u="none" strike="noStrike">
              <a:solidFill>
                <a:srgbClr val="F6AB81"/>
              </a:solidFill>
              <a:latin typeface="ONE Mobile Title OTF" panose="00000500000000000000" pitchFamily="50" charset="-127"/>
              <a:ea typeface="ONE Mobile Title OTF" panose="00000500000000000000" pitchFamily="50" charset="-127"/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FFD4D498-2D04-E6C9-3F8F-BD88842AA680}"/>
              </a:ext>
            </a:extLst>
          </p:cNvPr>
          <p:cNvGraphicFramePr>
            <a:graphicFrameLocks noGrp="1"/>
          </p:cNvGraphicFramePr>
          <p:nvPr/>
        </p:nvGraphicFramePr>
        <p:xfrm>
          <a:off x="3251200" y="1962134"/>
          <a:ext cx="7134163" cy="148336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11568">
                  <a:extLst>
                    <a:ext uri="{9D8B030D-6E8A-4147-A177-3AD203B41FA5}">
                      <a16:colId xmlns:a16="http://schemas.microsoft.com/office/drawing/2014/main" val="3021906149"/>
                    </a:ext>
                  </a:extLst>
                </a:gridCol>
                <a:gridCol w="894080">
                  <a:extLst>
                    <a:ext uri="{9D8B030D-6E8A-4147-A177-3AD203B41FA5}">
                      <a16:colId xmlns:a16="http://schemas.microsoft.com/office/drawing/2014/main" val="44945492"/>
                    </a:ext>
                  </a:extLst>
                </a:gridCol>
                <a:gridCol w="1422718">
                  <a:extLst>
                    <a:ext uri="{9D8B030D-6E8A-4147-A177-3AD203B41FA5}">
                      <a16:colId xmlns:a16="http://schemas.microsoft.com/office/drawing/2014/main" val="587174883"/>
                    </a:ext>
                  </a:extLst>
                </a:gridCol>
                <a:gridCol w="1487805">
                  <a:extLst>
                    <a:ext uri="{9D8B030D-6E8A-4147-A177-3AD203B41FA5}">
                      <a16:colId xmlns:a16="http://schemas.microsoft.com/office/drawing/2014/main" val="2682012462"/>
                    </a:ext>
                  </a:extLst>
                </a:gridCol>
                <a:gridCol w="2217992">
                  <a:extLst>
                    <a:ext uri="{9D8B030D-6E8A-4147-A177-3AD203B41FA5}">
                      <a16:colId xmlns:a16="http://schemas.microsoft.com/office/drawing/2014/main" val="1092562347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일렬번호</a:t>
                      </a:r>
                    </a:p>
                  </a:txBody>
                  <a:tcPr>
                    <a:solidFill>
                      <a:srgbClr val="FBAE8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이름</a:t>
                      </a:r>
                    </a:p>
                  </a:txBody>
                  <a:tcPr>
                    <a:solidFill>
                      <a:srgbClr val="FBAE8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생년월일</a:t>
                      </a:r>
                    </a:p>
                  </a:txBody>
                  <a:tcPr>
                    <a:solidFill>
                      <a:srgbClr val="FBAE8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소속사 코드</a:t>
                      </a:r>
                    </a:p>
                  </a:txBody>
                  <a:tcPr>
                    <a:solidFill>
                      <a:srgbClr val="FBAE8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소속사명</a:t>
                      </a:r>
                    </a:p>
                  </a:txBody>
                  <a:tcPr>
                    <a:solidFill>
                      <a:srgbClr val="FBAE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5570126"/>
                  </a:ext>
                </a:extLst>
              </a:tr>
              <a:tr h="37253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이지은</a:t>
                      </a:r>
                      <a:endParaRPr lang="en-US" altLang="ko-KR">
                        <a:latin typeface="ONE 모바일고딕 Title OTF" panose="00000500000000000000" pitchFamily="50" charset="-127"/>
                        <a:ea typeface="ONE 모바일고딕 Title OTF" panose="000005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19930516</a:t>
                      </a:r>
                      <a:endParaRPr lang="ko-KR" altLang="en-US">
                        <a:latin typeface="ONE 모바일고딕 Title OTF" panose="00000500000000000000" pitchFamily="50" charset="-127"/>
                        <a:ea typeface="ONE 모바일고딕 Title OTF" panose="000005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A1001</a:t>
                      </a:r>
                      <a:endParaRPr lang="ko-KR" altLang="en-US">
                        <a:latin typeface="ONE 모바일고딕 Title OTF" panose="00000500000000000000" pitchFamily="50" charset="-127"/>
                        <a:ea typeface="ONE 모바일고딕 Title OTF" panose="000005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EDAM</a:t>
                      </a:r>
                      <a:r>
                        <a:rPr lang="ko-KR" altLang="en-US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엔터테인먼트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3876851"/>
                  </a:ext>
                </a:extLst>
              </a:tr>
              <a:tr h="37253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err="1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김향기</a:t>
                      </a:r>
                      <a:endParaRPr lang="en-US" altLang="ko-KR">
                        <a:latin typeface="ONE 모바일고딕 Title OTF" panose="00000500000000000000" pitchFamily="50" charset="-127"/>
                        <a:ea typeface="ONE 모바일고딕 Title OTF" panose="000005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20000809</a:t>
                      </a:r>
                      <a:endParaRPr lang="ko-KR" altLang="en-US">
                        <a:latin typeface="ONE 모바일고딕 Title OTF" panose="00000500000000000000" pitchFamily="50" charset="-127"/>
                        <a:ea typeface="ONE 모바일고딕 Title OTF" panose="000005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B1004</a:t>
                      </a:r>
                      <a:endParaRPr lang="ko-KR" altLang="en-US">
                        <a:latin typeface="ONE 모바일고딕 Title OTF" panose="00000500000000000000" pitchFamily="50" charset="-127"/>
                        <a:ea typeface="ONE 모바일고딕 Title OTF" panose="000005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err="1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지킴엔터테인먼트</a:t>
                      </a:r>
                      <a:endParaRPr lang="ko-KR" altLang="en-US">
                        <a:latin typeface="ONE 모바일고딕 Title OTF" panose="00000500000000000000" pitchFamily="50" charset="-127"/>
                        <a:ea typeface="ONE 모바일고딕 Title OTF" panose="00000500000000000000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1353184"/>
                  </a:ext>
                </a:extLst>
              </a:tr>
              <a:tr h="37253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유건우</a:t>
                      </a:r>
                      <a:endParaRPr lang="en-US" altLang="ko-KR">
                        <a:latin typeface="ONE 모바일고딕 Title OTF" panose="00000500000000000000" pitchFamily="50" charset="-127"/>
                        <a:ea typeface="ONE 모바일고딕 Title OTF" panose="000005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19830925</a:t>
                      </a:r>
                      <a:endParaRPr lang="ko-KR" altLang="en-US">
                        <a:latin typeface="ONE 모바일고딕 Title OTF" panose="00000500000000000000" pitchFamily="50" charset="-127"/>
                        <a:ea typeface="ONE 모바일고딕 Title OTF" panose="000005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B1004</a:t>
                      </a:r>
                      <a:endParaRPr lang="ko-KR" altLang="en-US">
                        <a:latin typeface="ONE 모바일고딕 Title OTF" panose="00000500000000000000" pitchFamily="50" charset="-127"/>
                        <a:ea typeface="ONE 모바일고딕 Title OTF" panose="000005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err="1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지킴엔터테인먼트</a:t>
                      </a:r>
                      <a:endParaRPr lang="ko-KR" altLang="en-US">
                        <a:latin typeface="ONE 모바일고딕 Title OTF" panose="00000500000000000000" pitchFamily="50" charset="-127"/>
                        <a:ea typeface="ONE 모바일고딕 Title OTF" panose="00000500000000000000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0439423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0C2B578B-86E8-1BFB-E636-860A3530F38C}"/>
              </a:ext>
            </a:extLst>
          </p:cNvPr>
          <p:cNvGraphicFramePr>
            <a:graphicFrameLocks noGrp="1"/>
          </p:cNvGraphicFramePr>
          <p:nvPr/>
        </p:nvGraphicFramePr>
        <p:xfrm>
          <a:off x="7501466" y="4792241"/>
          <a:ext cx="3819347" cy="111082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87792">
                  <a:extLst>
                    <a:ext uri="{9D8B030D-6E8A-4147-A177-3AD203B41FA5}">
                      <a16:colId xmlns:a16="http://schemas.microsoft.com/office/drawing/2014/main" val="3045671536"/>
                    </a:ext>
                  </a:extLst>
                </a:gridCol>
                <a:gridCol w="2431555">
                  <a:extLst>
                    <a:ext uri="{9D8B030D-6E8A-4147-A177-3AD203B41FA5}">
                      <a16:colId xmlns:a16="http://schemas.microsoft.com/office/drawing/2014/main" val="2108163415"/>
                    </a:ext>
                  </a:extLst>
                </a:gridCol>
              </a:tblGrid>
              <a:tr h="36229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소속사 코드</a:t>
                      </a:r>
                    </a:p>
                  </a:txBody>
                  <a:tcPr>
                    <a:solidFill>
                      <a:srgbClr val="FBAE8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소속사명</a:t>
                      </a:r>
                    </a:p>
                  </a:txBody>
                  <a:tcPr>
                    <a:solidFill>
                      <a:srgbClr val="FBAE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7479360"/>
                  </a:ext>
                </a:extLst>
              </a:tr>
              <a:tr h="37253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A1001</a:t>
                      </a:r>
                      <a:endParaRPr lang="ko-KR" altLang="en-US">
                        <a:latin typeface="ONE 모바일고딕 Title OTF" panose="00000500000000000000" pitchFamily="50" charset="-127"/>
                        <a:ea typeface="ONE 모바일고딕 Title OTF" panose="000005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EDAM</a:t>
                      </a:r>
                      <a:r>
                        <a:rPr lang="ko-KR" altLang="en-US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엔터테인먼트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4865946"/>
                  </a:ext>
                </a:extLst>
              </a:tr>
              <a:tr h="37253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B1004</a:t>
                      </a:r>
                      <a:endParaRPr lang="ko-KR" altLang="en-US">
                        <a:latin typeface="ONE 모바일고딕 Title OTF" panose="00000500000000000000" pitchFamily="50" charset="-127"/>
                        <a:ea typeface="ONE 모바일고딕 Title OTF" panose="000005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err="1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지킴엔터테인먼트</a:t>
                      </a:r>
                      <a:endParaRPr lang="ko-KR" altLang="en-US">
                        <a:latin typeface="ONE 모바일고딕 Title OTF" panose="00000500000000000000" pitchFamily="50" charset="-127"/>
                        <a:ea typeface="ONE 모바일고딕 Title OTF" panose="00000500000000000000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1844619"/>
                  </a:ext>
                </a:extLst>
              </a:tr>
            </a:tbl>
          </a:graphicData>
        </a:graphic>
      </p:graphicFrame>
      <p:sp>
        <p:nvSpPr>
          <p:cNvPr id="11" name="직사각형 10">
            <a:extLst>
              <a:ext uri="{FF2B5EF4-FFF2-40B4-BE49-F238E27FC236}">
                <a16:creationId xmlns:a16="http://schemas.microsoft.com/office/drawing/2014/main" id="{9ED36E54-8BEA-257B-1701-BFB3E445403B}"/>
              </a:ext>
            </a:extLst>
          </p:cNvPr>
          <p:cNvSpPr/>
          <p:nvPr/>
        </p:nvSpPr>
        <p:spPr>
          <a:xfrm>
            <a:off x="6609765" y="1865414"/>
            <a:ext cx="3841508" cy="1667040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ONE Mobile Title OTF" panose="00000500000000000000" pitchFamily="50" charset="-127"/>
              <a:ea typeface="ONE Mobile Title OTF" panose="00000500000000000000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B7DBD88-8D61-7672-03E9-7E1691137AE3}"/>
              </a:ext>
            </a:extLst>
          </p:cNvPr>
          <p:cNvSpPr txBox="1"/>
          <p:nvPr/>
        </p:nvSpPr>
        <p:spPr>
          <a:xfrm>
            <a:off x="9169556" y="3574002"/>
            <a:ext cx="3511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*</a:t>
            </a:r>
            <a:r>
              <a:rPr lang="ko-KR" altLang="en-US" sz="1200"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일반속성인 소속사명이 다른 </a:t>
            </a:r>
            <a:br>
              <a:rPr lang="en-US" altLang="ko-KR" sz="1200">
                <a:latin typeface="ONE Mobile Title OTF" panose="00000500000000000000" pitchFamily="50" charset="-127"/>
                <a:ea typeface="ONE Mobile Title OTF" panose="00000500000000000000" pitchFamily="50" charset="-127"/>
              </a:rPr>
            </a:br>
            <a:r>
              <a:rPr lang="ko-KR" altLang="en-US" sz="1200"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일반속성인 소속사코드에 종속된 경우</a:t>
            </a: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083ECC60-8BD0-3E5F-25E1-0661C1349719}"/>
              </a:ext>
            </a:extLst>
          </p:cNvPr>
          <p:cNvGrpSpPr/>
          <p:nvPr/>
        </p:nvGrpSpPr>
        <p:grpSpPr>
          <a:xfrm>
            <a:off x="1746273" y="1902691"/>
            <a:ext cx="2671743" cy="1640580"/>
            <a:chOff x="1141280" y="1473200"/>
            <a:chExt cx="2671743" cy="1943100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E71B2BF8-2102-EFA2-BE28-35A0DF1F1A34}"/>
                </a:ext>
              </a:extLst>
            </p:cNvPr>
            <p:cNvSpPr/>
            <p:nvPr/>
          </p:nvSpPr>
          <p:spPr>
            <a:xfrm>
              <a:off x="2588843" y="1473200"/>
              <a:ext cx="1224180" cy="194310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ONE Mobile Title OTF" panose="00000500000000000000" pitchFamily="50" charset="-127"/>
                <a:ea typeface="ONE Mobile Title OTF" panose="00000500000000000000" pitchFamily="50" charset="-127"/>
              </a:endParaRPr>
            </a:p>
          </p:txBody>
        </p:sp>
        <p:sp>
          <p:nvSpPr>
            <p:cNvPr id="15" name="말풍선: 사각형 14">
              <a:extLst>
                <a:ext uri="{FF2B5EF4-FFF2-40B4-BE49-F238E27FC236}">
                  <a16:creationId xmlns:a16="http://schemas.microsoft.com/office/drawing/2014/main" id="{F0C455E8-D0C1-A15A-A598-E6A1BED57603}"/>
                </a:ext>
              </a:extLst>
            </p:cNvPr>
            <p:cNvSpPr/>
            <p:nvPr/>
          </p:nvSpPr>
          <p:spPr>
            <a:xfrm>
              <a:off x="1141280" y="2136756"/>
              <a:ext cx="1123950" cy="612648"/>
            </a:xfrm>
            <a:prstGeom prst="wedgeRectCallout">
              <a:avLst>
                <a:gd name="adj1" fmla="val 76389"/>
                <a:gd name="adj2" fmla="val 50063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b="1">
                  <a:solidFill>
                    <a:schemeClr val="tx1"/>
                  </a:solidFill>
                  <a:latin typeface="ONE Mobile Title OTF" panose="00000500000000000000" pitchFamily="50" charset="-127"/>
                  <a:ea typeface="ONE Mobile Title OTF" panose="00000500000000000000" pitchFamily="50" charset="-127"/>
                </a:rPr>
                <a:t>주식별자</a:t>
              </a:r>
            </a:p>
          </p:txBody>
        </p:sp>
      </p:grp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F93CD41B-E694-29DD-8077-CF497C97445D}"/>
              </a:ext>
            </a:extLst>
          </p:cNvPr>
          <p:cNvCxnSpPr>
            <a:cxnSpLocks/>
          </p:cNvCxnSpPr>
          <p:nvPr/>
        </p:nvCxnSpPr>
        <p:spPr>
          <a:xfrm>
            <a:off x="5679018" y="5327762"/>
            <a:ext cx="182245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46C434B7-C267-B55D-3F9C-78F8B2B824C3}"/>
              </a:ext>
            </a:extLst>
          </p:cNvPr>
          <p:cNvCxnSpPr>
            <a:cxnSpLocks/>
          </p:cNvCxnSpPr>
          <p:nvPr/>
        </p:nvCxnSpPr>
        <p:spPr>
          <a:xfrm>
            <a:off x="5679018" y="5721462"/>
            <a:ext cx="182245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3A3D16DB-9BF1-2068-6086-034F351663CE}"/>
              </a:ext>
            </a:extLst>
          </p:cNvPr>
          <p:cNvCxnSpPr>
            <a:cxnSpLocks/>
          </p:cNvCxnSpPr>
          <p:nvPr/>
        </p:nvCxnSpPr>
        <p:spPr>
          <a:xfrm flipV="1">
            <a:off x="5679018" y="5721462"/>
            <a:ext cx="1822448" cy="34657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화살표: 톱니 모양의 오른쪽 19">
            <a:extLst>
              <a:ext uri="{FF2B5EF4-FFF2-40B4-BE49-F238E27FC236}">
                <a16:creationId xmlns:a16="http://schemas.microsoft.com/office/drawing/2014/main" id="{4C126A61-C35A-115A-FCC0-AEBA86458084}"/>
              </a:ext>
            </a:extLst>
          </p:cNvPr>
          <p:cNvSpPr/>
          <p:nvPr/>
        </p:nvSpPr>
        <p:spPr>
          <a:xfrm rot="5400000">
            <a:off x="5994146" y="3892219"/>
            <a:ext cx="978408" cy="774701"/>
          </a:xfrm>
          <a:prstGeom prst="notchedRightArrow">
            <a:avLst>
              <a:gd name="adj1" fmla="val 42208"/>
              <a:gd name="adj2" fmla="val 52449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ONE Mobile Title OTF" panose="00000500000000000000" pitchFamily="50" charset="-127"/>
              <a:ea typeface="ONE Mobile Title OTF" panose="00000500000000000000" pitchFamily="50" charset="-127"/>
            </a:endParaRP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2A483235-4F5A-E7E9-681F-045CE055936B}"/>
              </a:ext>
            </a:extLst>
          </p:cNvPr>
          <p:cNvCxnSpPr>
            <a:cxnSpLocks/>
          </p:cNvCxnSpPr>
          <p:nvPr/>
        </p:nvCxnSpPr>
        <p:spPr>
          <a:xfrm flipV="1">
            <a:off x="7415149" y="3543271"/>
            <a:ext cx="0" cy="64882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89C92AB1-3339-0121-9FAE-A900BAAB75E6}"/>
              </a:ext>
            </a:extLst>
          </p:cNvPr>
          <p:cNvCxnSpPr>
            <a:cxnSpLocks/>
          </p:cNvCxnSpPr>
          <p:nvPr/>
        </p:nvCxnSpPr>
        <p:spPr>
          <a:xfrm>
            <a:off x="7415149" y="4175008"/>
            <a:ext cx="157343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33F88049-8FAE-2385-426F-BB3240251FB8}"/>
              </a:ext>
            </a:extLst>
          </p:cNvPr>
          <p:cNvCxnSpPr>
            <a:cxnSpLocks/>
          </p:cNvCxnSpPr>
          <p:nvPr/>
        </p:nvCxnSpPr>
        <p:spPr>
          <a:xfrm>
            <a:off x="8988581" y="3543271"/>
            <a:ext cx="0" cy="64882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4FA9991E-4270-6975-046A-C499713AD8DD}"/>
              </a:ext>
            </a:extLst>
          </p:cNvPr>
          <p:cNvGraphicFramePr>
            <a:graphicFrameLocks noGrp="1"/>
          </p:cNvGraphicFramePr>
          <p:nvPr/>
        </p:nvGraphicFramePr>
        <p:xfrm>
          <a:off x="862856" y="4801428"/>
          <a:ext cx="4816158" cy="148336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11568">
                  <a:extLst>
                    <a:ext uri="{9D8B030D-6E8A-4147-A177-3AD203B41FA5}">
                      <a16:colId xmlns:a16="http://schemas.microsoft.com/office/drawing/2014/main" val="285642084"/>
                    </a:ext>
                  </a:extLst>
                </a:gridCol>
                <a:gridCol w="894080">
                  <a:extLst>
                    <a:ext uri="{9D8B030D-6E8A-4147-A177-3AD203B41FA5}">
                      <a16:colId xmlns:a16="http://schemas.microsoft.com/office/drawing/2014/main" val="360267294"/>
                    </a:ext>
                  </a:extLst>
                </a:gridCol>
                <a:gridCol w="1422718">
                  <a:extLst>
                    <a:ext uri="{9D8B030D-6E8A-4147-A177-3AD203B41FA5}">
                      <a16:colId xmlns:a16="http://schemas.microsoft.com/office/drawing/2014/main" val="2171369238"/>
                    </a:ext>
                  </a:extLst>
                </a:gridCol>
                <a:gridCol w="1387792">
                  <a:extLst>
                    <a:ext uri="{9D8B030D-6E8A-4147-A177-3AD203B41FA5}">
                      <a16:colId xmlns:a16="http://schemas.microsoft.com/office/drawing/2014/main" val="3929126864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일렬번호</a:t>
                      </a:r>
                    </a:p>
                  </a:txBody>
                  <a:tcPr>
                    <a:solidFill>
                      <a:srgbClr val="FBAE8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이름</a:t>
                      </a:r>
                    </a:p>
                  </a:txBody>
                  <a:tcPr>
                    <a:solidFill>
                      <a:srgbClr val="FBAE8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생년월일</a:t>
                      </a:r>
                    </a:p>
                  </a:txBody>
                  <a:tcPr>
                    <a:solidFill>
                      <a:srgbClr val="FBAE8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소속사 코드</a:t>
                      </a:r>
                    </a:p>
                  </a:txBody>
                  <a:tcPr>
                    <a:solidFill>
                      <a:srgbClr val="FBAE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5529659"/>
                  </a:ext>
                </a:extLst>
              </a:tr>
              <a:tr h="37253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이지은</a:t>
                      </a:r>
                      <a:endParaRPr lang="en-US" altLang="ko-KR">
                        <a:latin typeface="ONE 모바일고딕 Title OTF" panose="00000500000000000000" pitchFamily="50" charset="-127"/>
                        <a:ea typeface="ONE 모바일고딕 Title OTF" panose="000005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19930516</a:t>
                      </a:r>
                      <a:endParaRPr lang="ko-KR" altLang="en-US">
                        <a:latin typeface="ONE 모바일고딕 Title OTF" panose="00000500000000000000" pitchFamily="50" charset="-127"/>
                        <a:ea typeface="ONE 모바일고딕 Title OTF" panose="000005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A1001</a:t>
                      </a:r>
                      <a:endParaRPr lang="ko-KR" altLang="en-US">
                        <a:latin typeface="ONE 모바일고딕 Title OTF" panose="00000500000000000000" pitchFamily="50" charset="-127"/>
                        <a:ea typeface="ONE 모바일고딕 Title OTF" panose="00000500000000000000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7476159"/>
                  </a:ext>
                </a:extLst>
              </a:tr>
              <a:tr h="37253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err="1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김향기</a:t>
                      </a:r>
                      <a:endParaRPr lang="en-US" altLang="ko-KR">
                        <a:latin typeface="ONE 모바일고딕 Title OTF" panose="00000500000000000000" pitchFamily="50" charset="-127"/>
                        <a:ea typeface="ONE 모바일고딕 Title OTF" panose="000005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20000809</a:t>
                      </a:r>
                      <a:endParaRPr lang="ko-KR" altLang="en-US">
                        <a:latin typeface="ONE 모바일고딕 Title OTF" panose="00000500000000000000" pitchFamily="50" charset="-127"/>
                        <a:ea typeface="ONE 모바일고딕 Title OTF" panose="000005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B1004</a:t>
                      </a:r>
                      <a:endParaRPr lang="ko-KR" altLang="en-US">
                        <a:latin typeface="ONE 모바일고딕 Title OTF" panose="00000500000000000000" pitchFamily="50" charset="-127"/>
                        <a:ea typeface="ONE 모바일고딕 Title OTF" panose="00000500000000000000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4189655"/>
                  </a:ext>
                </a:extLst>
              </a:tr>
              <a:tr h="37253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유건우</a:t>
                      </a:r>
                      <a:endParaRPr lang="en-US" altLang="ko-KR">
                        <a:latin typeface="ONE 모바일고딕 Title OTF" panose="00000500000000000000" pitchFamily="50" charset="-127"/>
                        <a:ea typeface="ONE 모바일고딕 Title OTF" panose="000005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19830925</a:t>
                      </a:r>
                      <a:endParaRPr lang="ko-KR" altLang="en-US">
                        <a:latin typeface="ONE 모바일고딕 Title OTF" panose="00000500000000000000" pitchFamily="50" charset="-127"/>
                        <a:ea typeface="ONE 모바일고딕 Title OTF" panose="000005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B1004</a:t>
                      </a:r>
                      <a:endParaRPr lang="ko-KR" altLang="en-US">
                        <a:latin typeface="ONE 모바일고딕 Title OTF" panose="00000500000000000000" pitchFamily="50" charset="-127"/>
                        <a:ea typeface="ONE 모바일고딕 Title OTF" panose="00000500000000000000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1682858"/>
                  </a:ext>
                </a:extLst>
              </a:tr>
            </a:tbl>
          </a:graphicData>
        </a:graphic>
      </p:graphicFrame>
      <p:sp>
        <p:nvSpPr>
          <p:cNvPr id="34" name="TextBox 33">
            <a:extLst>
              <a:ext uri="{FF2B5EF4-FFF2-40B4-BE49-F238E27FC236}">
                <a16:creationId xmlns:a16="http://schemas.microsoft.com/office/drawing/2014/main" id="{DD8B307D-A157-804D-610D-A29C3C5FD931}"/>
              </a:ext>
            </a:extLst>
          </p:cNvPr>
          <p:cNvSpPr txBox="1"/>
          <p:nvPr/>
        </p:nvSpPr>
        <p:spPr>
          <a:xfrm>
            <a:off x="3135780" y="1160046"/>
            <a:ext cx="56140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ko-KR" sz="1800" kern="1200">
                <a:solidFill>
                  <a:srgbClr val="000000"/>
                </a:solidFill>
                <a:effectLst/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주식별자가 아닌 모든 속성 간에는 서로 종속될 수 없다</a:t>
            </a:r>
            <a:r>
              <a:rPr lang="en-US" altLang="ko-KR" sz="1800" kern="1200">
                <a:solidFill>
                  <a:srgbClr val="000000"/>
                </a:solidFill>
                <a:effectLst/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. </a:t>
            </a:r>
            <a:endParaRPr lang="ko-KR" altLang="ko-KR">
              <a:effectLst/>
              <a:latin typeface="ONE Mobile Title OTF" panose="00000500000000000000" pitchFamily="50" charset="-127"/>
              <a:ea typeface="ONE Mobile Title OTF" panose="00000500000000000000" pitchFamily="50" charset="-127"/>
            </a:endParaRPr>
          </a:p>
          <a:p>
            <a:endParaRPr lang="ko-KR" altLang="en-US">
              <a:latin typeface="ONE Mobile Title OTF" panose="00000500000000000000" pitchFamily="50" charset="-127"/>
              <a:ea typeface="ONE Mobile Title OTF" panose="000005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456270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FD2667-1258-7CEE-5DF4-7245DE62C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66CD7CE2-7D5E-609D-D7A0-D1C45AE606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7333" y="381000"/>
            <a:ext cx="2573867" cy="5080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5954F612-FC3E-17B6-EEDB-8FC12B1646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7600" y="381000"/>
            <a:ext cx="2573867" cy="5080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21C2AC2F-C4EA-71FF-DF1B-70AFC87422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7867" y="381000"/>
            <a:ext cx="2573867" cy="5080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30CE94BF-A619-D506-2156-40713CF7C8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20133"/>
            <a:ext cx="3251200" cy="643467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9B8E4CA5-F415-AAA4-EA70-681FB8C0E3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753533"/>
            <a:ext cx="12192000" cy="6104467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5C8B053F-741B-C080-CF86-F585F2F7205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7500" y="1017207"/>
            <a:ext cx="11557000" cy="5469467"/>
          </a:xfrm>
          <a:prstGeom prst="rect">
            <a:avLst/>
          </a:prstGeom>
          <a:effectLst>
            <a:outerShdw blurRad="669826" dist="252339" dir="2700000">
              <a:srgbClr val="000000">
                <a:alpha val="10000"/>
              </a:srgbClr>
            </a:outerShdw>
          </a:effectLst>
        </p:spPr>
      </p:pic>
      <p:sp>
        <p:nvSpPr>
          <p:cNvPr id="21" name="TextBox 21">
            <a:extLst>
              <a:ext uri="{FF2B5EF4-FFF2-40B4-BE49-F238E27FC236}">
                <a16:creationId xmlns:a16="http://schemas.microsoft.com/office/drawing/2014/main" id="{56F15BB6-5733-4CD3-1F8F-F8B6C95409B8}"/>
              </a:ext>
            </a:extLst>
          </p:cNvPr>
          <p:cNvSpPr txBox="1"/>
          <p:nvPr/>
        </p:nvSpPr>
        <p:spPr>
          <a:xfrm>
            <a:off x="491067" y="423333"/>
            <a:ext cx="1998133" cy="279400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04580"/>
              </a:lnSpc>
            </a:pPr>
            <a:r>
              <a:rPr lang="ko-KR" altLang="en-US" sz="1800" b="1" i="0" u="none" strike="noStrike" spc="400">
                <a:solidFill>
                  <a:srgbClr val="FFFFFF"/>
                </a:solidFill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반정규화</a:t>
            </a:r>
            <a:endParaRPr lang="en-US" sz="1800" b="1" i="0" u="none" strike="noStrike" spc="400">
              <a:solidFill>
                <a:srgbClr val="FFFFFF"/>
              </a:solidFill>
              <a:latin typeface="ONE Mobile Title OTF" panose="00000500000000000000" pitchFamily="50" charset="-127"/>
              <a:ea typeface="ONE Mobile Title OTF" panose="00000500000000000000" pitchFamily="50" charset="-127"/>
            </a:endParaRPr>
          </a:p>
        </p:txBody>
      </p:sp>
      <p:sp>
        <p:nvSpPr>
          <p:cNvPr id="8" name="내용 개체 틀 4">
            <a:extLst>
              <a:ext uri="{FF2B5EF4-FFF2-40B4-BE49-F238E27FC236}">
                <a16:creationId xmlns:a16="http://schemas.microsoft.com/office/drawing/2014/main" id="{A6EF9542-8DE0-DFBA-CEC1-5825611971EB}"/>
              </a:ext>
            </a:extLst>
          </p:cNvPr>
          <p:cNvSpPr txBox="1">
            <a:spLocks/>
          </p:cNvSpPr>
          <p:nvPr/>
        </p:nvSpPr>
        <p:spPr>
          <a:xfrm>
            <a:off x="1062567" y="1911521"/>
            <a:ext cx="10972800" cy="2011641"/>
          </a:xfrm>
          <a:prstGeom prst="rect">
            <a:avLst/>
          </a:prstGeom>
        </p:spPr>
        <p:txBody>
          <a:bodyPr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400"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데이터의 조회 성능을 향상시키기 위해 데이터의 중복을 </a:t>
            </a:r>
            <a:br>
              <a:rPr lang="en-US" altLang="ko-KR" sz="2400">
                <a:latin typeface="ONE Mobile Title OTF" panose="00000500000000000000" pitchFamily="50" charset="-127"/>
                <a:ea typeface="ONE Mobile Title OTF" panose="00000500000000000000" pitchFamily="50" charset="-127"/>
              </a:rPr>
            </a:br>
            <a:r>
              <a:rPr lang="ko-KR" altLang="en-US" sz="2400"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허용하거나 데이터를 </a:t>
            </a:r>
            <a:r>
              <a:rPr lang="ko-KR" altLang="en-US" sz="2400" err="1"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그룹핑하는</a:t>
            </a:r>
            <a:r>
              <a:rPr lang="ko-KR" altLang="en-US" sz="2400"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 과정</a:t>
            </a:r>
            <a:endParaRPr lang="en-US" altLang="ko-KR" sz="2400">
              <a:latin typeface="ONE Mobile Title OTF" panose="00000500000000000000" pitchFamily="50" charset="-127"/>
              <a:ea typeface="ONE Mobile Title OTF" panose="00000500000000000000" pitchFamily="50" charset="-127"/>
            </a:endParaRPr>
          </a:p>
          <a:p>
            <a:r>
              <a:rPr lang="ko-KR" altLang="en-US" sz="2400"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조회성능은 향상될 수 있으나</a:t>
            </a:r>
            <a:r>
              <a:rPr lang="en-US" altLang="ko-KR" sz="2400"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, </a:t>
            </a:r>
            <a:r>
              <a:rPr lang="ko-KR" altLang="en-US" sz="2400"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입력</a:t>
            </a:r>
            <a:r>
              <a:rPr lang="en-US" altLang="ko-KR" sz="2400"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,</a:t>
            </a:r>
            <a:r>
              <a:rPr lang="ko-KR" altLang="en-US" sz="2400"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 수정</a:t>
            </a:r>
            <a:r>
              <a:rPr lang="en-US" altLang="ko-KR" sz="2400"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, </a:t>
            </a:r>
            <a:r>
              <a:rPr lang="ko-KR" altLang="en-US" sz="2400"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삭제 성능은 저하될 수 있으며</a:t>
            </a:r>
            <a:r>
              <a:rPr lang="en-US" altLang="ko-KR" sz="2400"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, </a:t>
            </a:r>
            <a:br>
              <a:rPr lang="en-US" altLang="ko-KR" sz="2400">
                <a:latin typeface="ONE Mobile Title OTF" panose="00000500000000000000" pitchFamily="50" charset="-127"/>
                <a:ea typeface="ONE Mobile Title OTF" panose="00000500000000000000" pitchFamily="50" charset="-127"/>
              </a:rPr>
            </a:br>
            <a:r>
              <a:rPr lang="ko-KR" altLang="en-US" sz="2400"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데이터 합성 이슈가 발생할 수 있음</a:t>
            </a:r>
            <a:endParaRPr lang="en-US" altLang="ko-KR" sz="2400">
              <a:latin typeface="ONE Mobile Title OTF" panose="00000500000000000000" pitchFamily="50" charset="-127"/>
              <a:ea typeface="ONE Mobile Title OTF" panose="00000500000000000000" pitchFamily="50" charset="-127"/>
            </a:endParaRPr>
          </a:p>
          <a:p>
            <a:r>
              <a:rPr lang="ko-KR" altLang="en-US" sz="2400"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정규화가 끝난 후 거칠 수 있음</a:t>
            </a:r>
            <a:endParaRPr lang="en-US" altLang="ko-KR" sz="2400">
              <a:latin typeface="ONE Mobile Title OTF" panose="00000500000000000000" pitchFamily="50" charset="-127"/>
              <a:ea typeface="ONE Mobile Title OTF" panose="00000500000000000000" pitchFamily="50" charset="-127"/>
            </a:endParaRPr>
          </a:p>
        </p:txBody>
      </p:sp>
      <p:sp>
        <p:nvSpPr>
          <p:cNvPr id="9" name="TextBox 29">
            <a:extLst>
              <a:ext uri="{FF2B5EF4-FFF2-40B4-BE49-F238E27FC236}">
                <a16:creationId xmlns:a16="http://schemas.microsoft.com/office/drawing/2014/main" id="{4B559D90-A15D-96D0-1349-7E01E4314D25}"/>
              </a:ext>
            </a:extLst>
          </p:cNvPr>
          <p:cNvSpPr txBox="1"/>
          <p:nvPr/>
        </p:nvSpPr>
        <p:spPr>
          <a:xfrm>
            <a:off x="980225" y="1141285"/>
            <a:ext cx="9475437" cy="855133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6199"/>
              </a:lnSpc>
            </a:pPr>
            <a:r>
              <a:rPr lang="ko-KR" altLang="en-US" sz="3200" b="0" i="0" u="none" strike="noStrike">
                <a:solidFill>
                  <a:srgbClr val="87D5BA"/>
                </a:solidFill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반정규화</a:t>
            </a:r>
            <a:endParaRPr lang="en-US" altLang="ko-KR" sz="3200" b="0" i="0" u="none" strike="noStrike">
              <a:solidFill>
                <a:srgbClr val="87D5BA"/>
              </a:solidFill>
              <a:latin typeface="ONE Mobile Title OTF" panose="00000500000000000000" pitchFamily="50" charset="-127"/>
              <a:ea typeface="ONE Mobile Title OTF" panose="00000500000000000000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6A283DA-4520-EF88-3701-7EFF2D9CB705}"/>
              </a:ext>
            </a:extLst>
          </p:cNvPr>
          <p:cNvSpPr txBox="1"/>
          <p:nvPr/>
        </p:nvSpPr>
        <p:spPr>
          <a:xfrm>
            <a:off x="980225" y="4150691"/>
            <a:ext cx="10384368" cy="1361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 altLang="ko-KR" sz="2800"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(1) </a:t>
            </a:r>
            <a:r>
              <a:rPr lang="ko-KR" altLang="en-US" sz="2800"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관계 반정규화</a:t>
            </a:r>
            <a:r>
              <a:rPr lang="en-US" altLang="ko-KR" sz="2800"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(</a:t>
            </a:r>
            <a:r>
              <a:rPr lang="ko-KR" altLang="en-US" sz="2800"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중복관계 추가</a:t>
            </a:r>
            <a:r>
              <a:rPr lang="en-US" altLang="ko-KR" sz="2800"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)</a:t>
            </a:r>
          </a:p>
          <a:p>
            <a:pPr marL="742950" lvl="1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ko-KR" altLang="en-US" sz="2400"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업무 </a:t>
            </a:r>
            <a:r>
              <a:rPr lang="ko-KR" altLang="en-US" sz="2400" err="1"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프로레스상</a:t>
            </a:r>
            <a:r>
              <a:rPr lang="ko-KR" altLang="en-US" sz="2400"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 </a:t>
            </a:r>
            <a:r>
              <a:rPr lang="en-US" altLang="ko-KR" sz="2400"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JOIN</a:t>
            </a:r>
            <a:r>
              <a:rPr lang="ko-KR" altLang="en-US" sz="2400"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이 필요한 경우가 많아 </a:t>
            </a:r>
            <a:br>
              <a:rPr lang="en-US" altLang="ko-KR" sz="2400">
                <a:latin typeface="ONE Mobile Title OTF" panose="00000500000000000000" pitchFamily="50" charset="-127"/>
                <a:ea typeface="ONE Mobile Title OTF" panose="00000500000000000000" pitchFamily="50" charset="-127"/>
              </a:rPr>
            </a:br>
            <a:r>
              <a:rPr lang="ko-KR" altLang="en-US" sz="2400">
                <a:solidFill>
                  <a:srgbClr val="FF0000"/>
                </a:solidFill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중복 관계를 추가</a:t>
            </a:r>
            <a:r>
              <a:rPr lang="ko-KR" altLang="en-US" sz="2400"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하는 것이 성능 측면에서 유리할 경우 고려한다</a:t>
            </a:r>
            <a:r>
              <a:rPr lang="en-US" altLang="ko-KR" sz="2400"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190177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867FE3-EFF8-C7CA-6C00-B81A5F3A4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32224B99-17A5-7313-1029-0E52082287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7333" y="381000"/>
            <a:ext cx="2573867" cy="5080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BE932562-3CCC-9EF5-B094-C109F25EE9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7600" y="381000"/>
            <a:ext cx="2573867" cy="5080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87B1E980-A406-3A2E-1164-3B2E80BC1C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27867" y="381000"/>
            <a:ext cx="2573867" cy="5080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2F46D211-2A6D-5966-78F4-86DF87F0DFD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220133"/>
            <a:ext cx="3251200" cy="643467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EB5D5570-CB6F-2061-02C9-F9452031294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753533"/>
            <a:ext cx="12192000" cy="6104467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DE367E0E-C350-AFD3-466F-D5C96FAC90F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7500" y="1017207"/>
            <a:ext cx="11557000" cy="5469467"/>
          </a:xfrm>
          <a:prstGeom prst="rect">
            <a:avLst/>
          </a:prstGeom>
          <a:effectLst>
            <a:outerShdw blurRad="669826" dist="252339" dir="2700000">
              <a:srgbClr val="000000">
                <a:alpha val="10000"/>
              </a:srgbClr>
            </a:outerShdw>
          </a:effectLst>
        </p:spPr>
      </p:pic>
      <p:sp>
        <p:nvSpPr>
          <p:cNvPr id="21" name="TextBox 21">
            <a:extLst>
              <a:ext uri="{FF2B5EF4-FFF2-40B4-BE49-F238E27FC236}">
                <a16:creationId xmlns:a16="http://schemas.microsoft.com/office/drawing/2014/main" id="{8467612B-042D-7F4D-105A-8D3090DA9CB4}"/>
              </a:ext>
            </a:extLst>
          </p:cNvPr>
          <p:cNvSpPr txBox="1"/>
          <p:nvPr/>
        </p:nvSpPr>
        <p:spPr>
          <a:xfrm>
            <a:off x="491067" y="423333"/>
            <a:ext cx="1998133" cy="279400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04580"/>
              </a:lnSpc>
            </a:pPr>
            <a:r>
              <a:rPr lang="ko-KR" altLang="en-US" sz="1800" b="1" i="0" u="none" strike="noStrike" spc="400">
                <a:solidFill>
                  <a:srgbClr val="FFFFFF"/>
                </a:solidFill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반정규화</a:t>
            </a:r>
            <a:endParaRPr lang="en-US" sz="1800" b="1" i="0" u="none" strike="noStrike" spc="400">
              <a:solidFill>
                <a:srgbClr val="FFFFFF"/>
              </a:solidFill>
              <a:latin typeface="ONE Mobile Title OTF" panose="00000500000000000000" pitchFamily="50" charset="-127"/>
              <a:ea typeface="ONE Mobile Title OTF" panose="00000500000000000000" pitchFamily="50" charset="-127"/>
            </a:endParaRPr>
          </a:p>
        </p:txBody>
      </p:sp>
      <p:sp>
        <p:nvSpPr>
          <p:cNvPr id="9" name="TextBox 29">
            <a:extLst>
              <a:ext uri="{FF2B5EF4-FFF2-40B4-BE49-F238E27FC236}">
                <a16:creationId xmlns:a16="http://schemas.microsoft.com/office/drawing/2014/main" id="{4C049121-E40E-9991-8AAB-7DFDD4CAE6D3}"/>
              </a:ext>
            </a:extLst>
          </p:cNvPr>
          <p:cNvSpPr txBox="1"/>
          <p:nvPr/>
        </p:nvSpPr>
        <p:spPr>
          <a:xfrm>
            <a:off x="980225" y="1141285"/>
            <a:ext cx="9475437" cy="855133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6199"/>
              </a:lnSpc>
            </a:pPr>
            <a:r>
              <a:rPr lang="ko-KR" altLang="en-US" sz="3200" b="0" i="0" u="none" strike="noStrike">
                <a:solidFill>
                  <a:srgbClr val="87D5BA"/>
                </a:solidFill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테이블 반정규화</a:t>
            </a:r>
            <a:endParaRPr lang="en-US" altLang="ko-KR" sz="3200" b="0" i="0" u="none" strike="noStrike">
              <a:solidFill>
                <a:srgbClr val="87D5BA"/>
              </a:solidFill>
              <a:latin typeface="ONE Mobile Title OTF" panose="00000500000000000000" pitchFamily="50" charset="-127"/>
              <a:ea typeface="ONE Mobile Title OTF" panose="00000500000000000000" pitchFamily="50" charset="-127"/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771E478E-BECD-51F3-5C86-39AA77481861}"/>
              </a:ext>
            </a:extLst>
          </p:cNvPr>
          <p:cNvGraphicFramePr>
            <a:graphicFrameLocks noGrp="1"/>
          </p:cNvGraphicFramePr>
          <p:nvPr/>
        </p:nvGraphicFramePr>
        <p:xfrm>
          <a:off x="1653943" y="2223346"/>
          <a:ext cx="8127999" cy="3566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691203835"/>
                    </a:ext>
                  </a:extLst>
                </a:gridCol>
                <a:gridCol w="5418666">
                  <a:extLst>
                    <a:ext uri="{9D8B030D-6E8A-4147-A177-3AD203B41FA5}">
                      <a16:colId xmlns:a16="http://schemas.microsoft.com/office/drawing/2014/main" val="2757418729"/>
                    </a:ext>
                  </a:extLst>
                </a:gridCol>
              </a:tblGrid>
              <a:tr h="123613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2400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테이블 병합</a:t>
                      </a:r>
                    </a:p>
                  </a:txBody>
                  <a:tcPr anchor="ctr">
                    <a:solidFill>
                      <a:srgbClr val="BCEBDB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1:1 </a:t>
                      </a:r>
                      <a:r>
                        <a:rPr lang="ko-KR" altLang="en-US" sz="2000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관계 테이블 병합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7477073"/>
                  </a:ext>
                </a:extLst>
              </a:tr>
              <a:tr h="24214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1:M </a:t>
                      </a:r>
                      <a:r>
                        <a:rPr lang="ko-KR" altLang="en-US" sz="2000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관계 테이블 병합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483151"/>
                  </a:ext>
                </a:extLst>
              </a:tr>
              <a:tr h="12361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슈퍼 서브 타입 테이블 병합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6257139"/>
                  </a:ext>
                </a:extLst>
              </a:tr>
              <a:tr h="123613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2400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테이블 분할</a:t>
                      </a:r>
                    </a:p>
                  </a:txBody>
                  <a:tcPr anchor="ctr">
                    <a:solidFill>
                      <a:srgbClr val="BCEBDB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테이블 수직 분할</a:t>
                      </a:r>
                      <a:r>
                        <a:rPr lang="en-US" altLang="ko-KR" sz="2000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(</a:t>
                      </a:r>
                      <a:r>
                        <a:rPr lang="ko-KR" altLang="en-US" sz="2000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속성 분할</a:t>
                      </a:r>
                      <a:r>
                        <a:rPr lang="en-US" altLang="ko-KR" sz="2000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)</a:t>
                      </a:r>
                      <a:endParaRPr lang="ko-KR" altLang="en-US" sz="2000">
                        <a:latin typeface="ONE 모바일고딕 Title OTF" panose="00000500000000000000" pitchFamily="50" charset="-127"/>
                        <a:ea typeface="ONE 모바일고딕 Title OTF" panose="00000500000000000000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0027642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테이블 수평 분할</a:t>
                      </a:r>
                      <a:r>
                        <a:rPr lang="en-US" altLang="ko-KR" sz="2000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(</a:t>
                      </a:r>
                      <a:r>
                        <a:rPr lang="ko-KR" altLang="en-US" sz="2000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인스턴스 분할</a:t>
                      </a:r>
                      <a:r>
                        <a:rPr lang="en-US" altLang="ko-KR" sz="2000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, </a:t>
                      </a:r>
                      <a:r>
                        <a:rPr lang="ko-KR" altLang="en-US" sz="2000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파티셔닝</a:t>
                      </a:r>
                      <a:r>
                        <a:rPr lang="en-US" altLang="ko-KR" sz="2000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)</a:t>
                      </a:r>
                      <a:endParaRPr lang="ko-KR" altLang="en-US" sz="2000">
                        <a:latin typeface="ONE 모바일고딕 Title OTF" panose="00000500000000000000" pitchFamily="50" charset="-127"/>
                        <a:ea typeface="ONE 모바일고딕 Title OTF" panose="00000500000000000000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9501168"/>
                  </a:ext>
                </a:extLst>
              </a:tr>
              <a:tr h="122343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2400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테이블 추가</a:t>
                      </a:r>
                    </a:p>
                  </a:txBody>
                  <a:tcPr anchor="ctr">
                    <a:solidFill>
                      <a:srgbClr val="BCEBDB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중복 테이블 추가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0722628"/>
                  </a:ext>
                </a:extLst>
              </a:tr>
              <a:tr h="24341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통계 테이블 추가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9836490"/>
                  </a:ext>
                </a:extLst>
              </a:tr>
              <a:tr h="12234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이력 테이블 추가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9217057"/>
                  </a:ext>
                </a:extLst>
              </a:tr>
              <a:tr h="12234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>
                          <a:latin typeface="ONE 모바일고딕 Title OTF" panose="00000500000000000000" pitchFamily="50" charset="-127"/>
                          <a:ea typeface="ONE 모바일고딕 Title OTF" panose="00000500000000000000" pitchFamily="50" charset="-127"/>
                        </a:rPr>
                        <a:t>부분 테이블 추가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03764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56157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D2F87-708B-A9C2-A99C-B9CE7906E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6C103D68-97CB-E68E-9619-A6DD0B23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7333" y="381000"/>
            <a:ext cx="2573867" cy="5080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1CEF5ADF-BD6A-E7C6-2B98-99AC39328E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7600" y="381000"/>
            <a:ext cx="2573867" cy="5080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FF1FD38A-88E5-6CEA-E3AC-0C08790003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7867" y="381000"/>
            <a:ext cx="2573867" cy="5080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E3DAB58D-0524-AF35-6A9E-2B72C237CF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20133"/>
            <a:ext cx="3251200" cy="643467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FB98975A-1A01-DA5C-FEBA-159A967A31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753533"/>
            <a:ext cx="12192000" cy="6104467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27E0D053-39A7-24A9-7F9B-ACB98D8D920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7500" y="1017207"/>
            <a:ext cx="11557000" cy="5469467"/>
          </a:xfrm>
          <a:prstGeom prst="rect">
            <a:avLst/>
          </a:prstGeom>
          <a:effectLst>
            <a:outerShdw blurRad="669826" dist="252339" dir="2700000">
              <a:srgbClr val="000000">
                <a:alpha val="10000"/>
              </a:srgbClr>
            </a:outerShdw>
          </a:effectLst>
        </p:spPr>
      </p:pic>
      <p:sp>
        <p:nvSpPr>
          <p:cNvPr id="21" name="TextBox 21">
            <a:extLst>
              <a:ext uri="{FF2B5EF4-FFF2-40B4-BE49-F238E27FC236}">
                <a16:creationId xmlns:a16="http://schemas.microsoft.com/office/drawing/2014/main" id="{495C2842-B91D-F74E-58BD-507666E41786}"/>
              </a:ext>
            </a:extLst>
          </p:cNvPr>
          <p:cNvSpPr txBox="1"/>
          <p:nvPr/>
        </p:nvSpPr>
        <p:spPr>
          <a:xfrm>
            <a:off x="491067" y="423333"/>
            <a:ext cx="1998133" cy="279400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04580"/>
              </a:lnSpc>
            </a:pPr>
            <a:r>
              <a:rPr lang="ko-KR" altLang="en-US" sz="1800" b="1" i="0" u="none" strike="noStrike" spc="400">
                <a:solidFill>
                  <a:srgbClr val="FFFFFF"/>
                </a:solidFill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반정규화</a:t>
            </a:r>
            <a:endParaRPr lang="en-US" sz="1800" b="1" i="0" u="none" strike="noStrike" spc="400">
              <a:solidFill>
                <a:srgbClr val="FFFFFF"/>
              </a:solidFill>
              <a:latin typeface="ONE Mobile Title OTF" panose="00000500000000000000" pitchFamily="50" charset="-127"/>
              <a:ea typeface="ONE Mobile Title OTF" panose="00000500000000000000" pitchFamily="50" charset="-127"/>
            </a:endParaRPr>
          </a:p>
        </p:txBody>
      </p:sp>
      <p:sp>
        <p:nvSpPr>
          <p:cNvPr id="12" name="내용 개체 틀 4">
            <a:extLst>
              <a:ext uri="{FF2B5EF4-FFF2-40B4-BE49-F238E27FC236}">
                <a16:creationId xmlns:a16="http://schemas.microsoft.com/office/drawing/2014/main" id="{6A2FE23E-3D6A-F870-421F-815E0295EB3C}"/>
              </a:ext>
            </a:extLst>
          </p:cNvPr>
          <p:cNvSpPr txBox="1">
            <a:spLocks/>
          </p:cNvSpPr>
          <p:nvPr/>
        </p:nvSpPr>
        <p:spPr>
          <a:xfrm>
            <a:off x="901700" y="1869418"/>
            <a:ext cx="11046614" cy="4101123"/>
          </a:xfrm>
          <a:prstGeom prst="rect">
            <a:avLst/>
          </a:prstGeom>
        </p:spPr>
        <p:txBody>
          <a:bodyPr wrap="none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71550" lvl="1" indent="-514350">
              <a:lnSpc>
                <a:spcPct val="110000"/>
              </a:lnSpc>
              <a:buFont typeface="+mj-lt"/>
              <a:buAutoNum type="arabicPeriod"/>
            </a:pPr>
            <a:r>
              <a:rPr lang="ko-KR" altLang="en-US"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중복 컬럼 추가</a:t>
            </a:r>
            <a:endParaRPr lang="en-US" altLang="ko-KR">
              <a:latin typeface="ONE Mobile Title OTF" panose="00000500000000000000" pitchFamily="50" charset="-127"/>
              <a:ea typeface="ONE Mobile Title OTF" panose="00000500000000000000" pitchFamily="50" charset="-127"/>
            </a:endParaRPr>
          </a:p>
          <a:p>
            <a:pPr lvl="2">
              <a:lnSpc>
                <a:spcPct val="110000"/>
              </a:lnSpc>
            </a:pPr>
            <a:r>
              <a:rPr lang="ko-KR" altLang="en-US"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업무 </a:t>
            </a:r>
            <a:r>
              <a:rPr lang="ko-KR" altLang="en-US" err="1"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프로레스상</a:t>
            </a:r>
            <a:r>
              <a:rPr lang="ko-KR" altLang="en-US"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 </a:t>
            </a:r>
            <a:r>
              <a:rPr lang="en-US" altLang="ko-KR"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JOIN</a:t>
            </a:r>
            <a:r>
              <a:rPr lang="ko-KR" altLang="en-US"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이 필요한 경우가 많아 </a:t>
            </a:r>
            <a:br>
              <a:rPr lang="en-US" altLang="ko-KR">
                <a:latin typeface="ONE Mobile Title OTF" panose="00000500000000000000" pitchFamily="50" charset="-127"/>
                <a:ea typeface="ONE Mobile Title OTF" panose="00000500000000000000" pitchFamily="50" charset="-127"/>
              </a:rPr>
            </a:br>
            <a:r>
              <a:rPr lang="ko-KR" altLang="en-US">
                <a:solidFill>
                  <a:srgbClr val="FF0000"/>
                </a:solidFill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컬럼을 추가하는 것이 성능 측면에서 유리할 경우 </a:t>
            </a:r>
            <a:r>
              <a:rPr lang="ko-KR" altLang="en-US"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고려한다</a:t>
            </a:r>
            <a:r>
              <a:rPr lang="en-US" altLang="ko-KR"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.</a:t>
            </a:r>
          </a:p>
          <a:p>
            <a:pPr marL="971550" lvl="1" indent="-514350">
              <a:lnSpc>
                <a:spcPct val="110000"/>
              </a:lnSpc>
              <a:buFont typeface="+mj-lt"/>
              <a:buAutoNum type="arabicPeriod"/>
            </a:pPr>
            <a:r>
              <a:rPr lang="ko-KR" altLang="en-US"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파생 컬럼 추가</a:t>
            </a:r>
            <a:endParaRPr lang="en-US" altLang="ko-KR">
              <a:latin typeface="ONE Mobile Title OTF" panose="00000500000000000000" pitchFamily="50" charset="-127"/>
              <a:ea typeface="ONE Mobile Title OTF" panose="00000500000000000000" pitchFamily="50" charset="-127"/>
            </a:endParaRPr>
          </a:p>
          <a:p>
            <a:pPr lvl="2">
              <a:lnSpc>
                <a:spcPct val="110000"/>
              </a:lnSpc>
            </a:pPr>
            <a:r>
              <a:rPr lang="ko-KR" altLang="en-US"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프로세스 수행 시 </a:t>
            </a:r>
            <a:r>
              <a:rPr lang="ko-KR" altLang="en-US">
                <a:solidFill>
                  <a:srgbClr val="FF0000"/>
                </a:solidFill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부하가 염려되는 계산 값을 컬럼으로 미리 추가</a:t>
            </a:r>
            <a:r>
              <a:rPr lang="ko-KR" altLang="en-US"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하여 보관하는 방식</a:t>
            </a:r>
            <a:endParaRPr lang="en-US" altLang="ko-KR">
              <a:latin typeface="ONE Mobile Title OTF" panose="00000500000000000000" pitchFamily="50" charset="-127"/>
              <a:ea typeface="ONE Mobile Title OTF" panose="00000500000000000000" pitchFamily="50" charset="-127"/>
            </a:endParaRPr>
          </a:p>
          <a:p>
            <a:pPr lvl="2">
              <a:lnSpc>
                <a:spcPct val="110000"/>
              </a:lnSpc>
            </a:pPr>
            <a:r>
              <a:rPr lang="ko-KR" altLang="en-US"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상품의 재고나 프로모션 적용 할인가 등이 이에 해당할 수 있다</a:t>
            </a:r>
            <a:r>
              <a:rPr lang="en-US" altLang="ko-KR"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.</a:t>
            </a:r>
          </a:p>
          <a:p>
            <a:pPr marL="971550" lvl="1" indent="-514350">
              <a:lnSpc>
                <a:spcPct val="110000"/>
              </a:lnSpc>
              <a:buFont typeface="+mj-lt"/>
              <a:buAutoNum type="arabicPeriod"/>
            </a:pPr>
            <a:r>
              <a:rPr lang="ko-KR" altLang="en-US"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이력 테이블 컬럼 추가</a:t>
            </a:r>
            <a:endParaRPr lang="en-US" altLang="ko-KR">
              <a:latin typeface="ONE Mobile Title OTF" panose="00000500000000000000" pitchFamily="50" charset="-127"/>
              <a:ea typeface="ONE Mobile Title OTF" panose="00000500000000000000" pitchFamily="50" charset="-127"/>
            </a:endParaRPr>
          </a:p>
          <a:p>
            <a:pPr lvl="2">
              <a:lnSpc>
                <a:spcPct val="110000"/>
              </a:lnSpc>
            </a:pPr>
            <a:r>
              <a:rPr lang="ko-KR" altLang="en-US"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대량의 이력 테이블을 조회할 때 </a:t>
            </a:r>
            <a:r>
              <a:rPr lang="ko-KR" altLang="en-US">
                <a:solidFill>
                  <a:srgbClr val="FF0000"/>
                </a:solidFill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속도가 느려질 것을 대비</a:t>
            </a:r>
            <a:r>
              <a:rPr lang="ko-KR" altLang="en-US"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하여 </a:t>
            </a:r>
            <a:br>
              <a:rPr lang="en-US" altLang="ko-KR">
                <a:latin typeface="ONE Mobile Title OTF" panose="00000500000000000000" pitchFamily="50" charset="-127"/>
                <a:ea typeface="ONE Mobile Title OTF" panose="00000500000000000000" pitchFamily="50" charset="-127"/>
              </a:rPr>
            </a:br>
            <a:r>
              <a:rPr lang="ko-KR" altLang="en-US"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조회 </a:t>
            </a:r>
            <a:r>
              <a:rPr lang="ko-KR" altLang="en-US">
                <a:solidFill>
                  <a:srgbClr val="FF0000"/>
                </a:solidFill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기준이 될 </a:t>
            </a:r>
            <a:r>
              <a:rPr lang="ko-KR" altLang="en-US"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것으로 판단되는 </a:t>
            </a:r>
            <a:r>
              <a:rPr lang="ko-KR" altLang="en-US">
                <a:solidFill>
                  <a:srgbClr val="FF0000"/>
                </a:solidFill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컬럼을 미리 추가</a:t>
            </a:r>
            <a:r>
              <a:rPr lang="ko-KR" altLang="en-US"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해 놓는 방식이다</a:t>
            </a:r>
            <a:r>
              <a:rPr lang="en-US" altLang="ko-KR"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. </a:t>
            </a:r>
          </a:p>
          <a:p>
            <a:pPr lvl="2">
              <a:lnSpc>
                <a:spcPct val="110000"/>
              </a:lnSpc>
            </a:pPr>
            <a:r>
              <a:rPr lang="ko-KR" altLang="en-US"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최신 데이터 여부 등이 이에 해당할 수 있다</a:t>
            </a:r>
            <a:r>
              <a:rPr lang="en-US" altLang="ko-KR"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.</a:t>
            </a:r>
          </a:p>
        </p:txBody>
      </p:sp>
      <p:sp>
        <p:nvSpPr>
          <p:cNvPr id="13" name="TextBox 29">
            <a:extLst>
              <a:ext uri="{FF2B5EF4-FFF2-40B4-BE49-F238E27FC236}">
                <a16:creationId xmlns:a16="http://schemas.microsoft.com/office/drawing/2014/main" id="{B65B8FF7-C3AB-CAA3-43F1-3081EB475D83}"/>
              </a:ext>
            </a:extLst>
          </p:cNvPr>
          <p:cNvSpPr txBox="1"/>
          <p:nvPr/>
        </p:nvSpPr>
        <p:spPr>
          <a:xfrm>
            <a:off x="980225" y="1141285"/>
            <a:ext cx="9475437" cy="855133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6199"/>
              </a:lnSpc>
            </a:pPr>
            <a:r>
              <a:rPr lang="ko-KR" altLang="en-US" sz="3200" b="0" i="0" u="none" strike="noStrike">
                <a:solidFill>
                  <a:srgbClr val="87D5BA"/>
                </a:solidFill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컬럼 반정규화</a:t>
            </a:r>
            <a:endParaRPr lang="en-US" altLang="ko-KR" sz="3200" b="0" i="0" u="none" strike="noStrike">
              <a:solidFill>
                <a:srgbClr val="87D5BA"/>
              </a:solidFill>
              <a:latin typeface="ONE Mobile Title OTF" panose="00000500000000000000" pitchFamily="50" charset="-127"/>
              <a:ea typeface="ONE Mobile Title OTF" panose="000005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862644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7333" y="381000"/>
            <a:ext cx="2573867" cy="508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7600" y="381000"/>
            <a:ext cx="2573867" cy="508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7867" y="381000"/>
            <a:ext cx="2573867" cy="5080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20133"/>
            <a:ext cx="3251200" cy="643467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90" y="753533"/>
            <a:ext cx="12192000" cy="6104467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7500" y="1126066"/>
            <a:ext cx="11557000" cy="5469467"/>
          </a:xfrm>
          <a:prstGeom prst="rect">
            <a:avLst/>
          </a:prstGeom>
          <a:effectLst>
            <a:outerShdw blurRad="669826" dist="252339" dir="2700000">
              <a:srgbClr val="000000">
                <a:alpha val="10000"/>
              </a:srgbClr>
            </a:outerShdw>
          </a:effectLst>
        </p:spPr>
      </p:pic>
      <p:sp>
        <p:nvSpPr>
          <p:cNvPr id="16" name="TextBox 16"/>
          <p:cNvSpPr txBox="1"/>
          <p:nvPr/>
        </p:nvSpPr>
        <p:spPr>
          <a:xfrm>
            <a:off x="491067" y="423333"/>
            <a:ext cx="1985327" cy="279400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04580"/>
              </a:lnSpc>
            </a:pPr>
            <a:r>
              <a:rPr lang="ko-KR" altLang="en-US" sz="1800" b="1" spc="400">
                <a:solidFill>
                  <a:srgbClr val="FFFFFF"/>
                </a:solidFill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트랜잭션</a:t>
            </a:r>
            <a:endParaRPr lang="ko-KR" altLang="en-US" sz="1800" b="1" i="0" u="none" strike="noStrike" spc="400" dirty="0">
              <a:solidFill>
                <a:srgbClr val="FFFFFF"/>
              </a:solidFill>
              <a:latin typeface="ONE Mobile Title OTF" panose="00000500000000000000" pitchFamily="50" charset="-127"/>
              <a:ea typeface="ONE Mobile Title OTF" panose="00000500000000000000" pitchFamily="50" charset="-127"/>
            </a:endParaRPr>
          </a:p>
        </p:txBody>
      </p:sp>
      <p:sp>
        <p:nvSpPr>
          <p:cNvPr id="9" name="TextBox 16">
            <a:extLst>
              <a:ext uri="{FF2B5EF4-FFF2-40B4-BE49-F238E27FC236}">
                <a16:creationId xmlns:a16="http://schemas.microsoft.com/office/drawing/2014/main" id="{2F8D3D8D-729D-D18C-F98C-4E9FD5AC4810}"/>
              </a:ext>
            </a:extLst>
          </p:cNvPr>
          <p:cNvSpPr txBox="1"/>
          <p:nvPr/>
        </p:nvSpPr>
        <p:spPr>
          <a:xfrm>
            <a:off x="4721223" y="1843954"/>
            <a:ext cx="3044062" cy="640478"/>
          </a:xfrm>
          <a:prstGeom prst="rect">
            <a:avLst/>
          </a:prstGeom>
        </p:spPr>
        <p:txBody>
          <a:bodyPr lIns="0" tIns="0" rIns="0" bIns="0" rtlCol="0" anchor="t"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ko-KR" altLang="en-US" sz="1400" b="1">
                <a:solidFill>
                  <a:srgbClr val="000000"/>
                </a:solidFill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이벤트 응모 이력을 저장한다</a:t>
            </a:r>
          </a:p>
          <a:p>
            <a:pPr marL="285750" indent="-285750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ko-KR" altLang="en-US" sz="1400" b="1">
                <a:solidFill>
                  <a:srgbClr val="000000"/>
                </a:solidFill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쿠폰을 발행한다</a:t>
            </a:r>
          </a:p>
        </p:txBody>
      </p:sp>
      <p:sp>
        <p:nvSpPr>
          <p:cNvPr id="10" name="TextBox 17">
            <a:extLst>
              <a:ext uri="{FF2B5EF4-FFF2-40B4-BE49-F238E27FC236}">
                <a16:creationId xmlns:a16="http://schemas.microsoft.com/office/drawing/2014/main" id="{8A564012-1E52-30D7-C485-169DFCCF2ED2}"/>
              </a:ext>
            </a:extLst>
          </p:cNvPr>
          <p:cNvSpPr txBox="1"/>
          <p:nvPr/>
        </p:nvSpPr>
        <p:spPr>
          <a:xfrm>
            <a:off x="4577233" y="1476829"/>
            <a:ext cx="832988" cy="364068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600" b="1" spc="67">
                <a:solidFill>
                  <a:srgbClr val="000000"/>
                </a:solidFill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예시</a:t>
            </a:r>
            <a:endParaRPr lang="ko-KR" altLang="en-US" sz="1600" b="1" i="0" u="none" strike="noStrike" spc="67">
              <a:solidFill>
                <a:srgbClr val="000000"/>
              </a:solidFill>
              <a:latin typeface="ONE Mobile Title OTF" panose="00000500000000000000" pitchFamily="50" charset="-127"/>
              <a:ea typeface="ONE Mobile Title OTF" panose="00000500000000000000" pitchFamily="50" charset="-127"/>
            </a:endParaRPr>
          </a:p>
        </p:txBody>
      </p:sp>
      <p:sp>
        <p:nvSpPr>
          <p:cNvPr id="11" name="TextBox 18">
            <a:extLst>
              <a:ext uri="{FF2B5EF4-FFF2-40B4-BE49-F238E27FC236}">
                <a16:creationId xmlns:a16="http://schemas.microsoft.com/office/drawing/2014/main" id="{C8D3F1CA-F20F-94E8-F4AC-F74620F7F861}"/>
              </a:ext>
            </a:extLst>
          </p:cNvPr>
          <p:cNvSpPr txBox="1"/>
          <p:nvPr/>
        </p:nvSpPr>
        <p:spPr>
          <a:xfrm>
            <a:off x="1092200" y="1900161"/>
            <a:ext cx="2800047" cy="1267580"/>
          </a:xfrm>
          <a:prstGeom prst="rect">
            <a:avLst/>
          </a:prstGeom>
        </p:spPr>
        <p:txBody>
          <a:bodyPr lIns="0" tIns="0" rIns="0" bIns="0" rtlCol="0" anchor="t"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sz="1600" b="1">
                <a:solidFill>
                  <a:srgbClr val="000000"/>
                </a:solidFill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데이터를 조작하기 위한 하나의 논리적인 작업 단위 </a:t>
            </a:r>
            <a:endParaRPr lang="ko-KR" b="1">
              <a:latin typeface="ONE Mobile Title OTF" panose="00000500000000000000" pitchFamily="50" charset="-127"/>
              <a:ea typeface="ONE Mobile Title OTF" panose="00000500000000000000" pitchFamily="50" charset="-127"/>
            </a:endParaRPr>
          </a:p>
          <a:p>
            <a:endParaRPr lang="ko-KR" sz="1600" b="1">
              <a:solidFill>
                <a:srgbClr val="000000"/>
              </a:solidFill>
              <a:latin typeface="ONE Mobile Title OTF" panose="00000500000000000000" pitchFamily="50" charset="-127"/>
              <a:ea typeface="ONE Mobile Title OTF" panose="00000500000000000000" pitchFamily="50" charset="-127"/>
            </a:endParaRPr>
          </a:p>
        </p:txBody>
      </p:sp>
      <p:sp>
        <p:nvSpPr>
          <p:cNvPr id="12" name="TextBox 19">
            <a:extLst>
              <a:ext uri="{FF2B5EF4-FFF2-40B4-BE49-F238E27FC236}">
                <a16:creationId xmlns:a16="http://schemas.microsoft.com/office/drawing/2014/main" id="{25771994-186D-764E-DE69-B5471731580A}"/>
              </a:ext>
            </a:extLst>
          </p:cNvPr>
          <p:cNvSpPr txBox="1"/>
          <p:nvPr/>
        </p:nvSpPr>
        <p:spPr>
          <a:xfrm>
            <a:off x="826105" y="1422753"/>
            <a:ext cx="3580390" cy="365135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/>
              <a:buChar char="•"/>
            </a:pPr>
            <a:r>
              <a:rPr lang="ko-KR" altLang="en-US" sz="2050" b="1" spc="67">
                <a:solidFill>
                  <a:srgbClr val="000000"/>
                </a:solidFill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트랜잭션(</a:t>
            </a:r>
            <a:r>
              <a:rPr lang="ko-KR" altLang="en-US" sz="2050" b="1" spc="67" err="1">
                <a:solidFill>
                  <a:srgbClr val="000000"/>
                </a:solidFill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Transaction</a:t>
            </a:r>
            <a:r>
              <a:rPr lang="ko-KR" altLang="en-US" sz="2050" b="1" spc="67">
                <a:solidFill>
                  <a:srgbClr val="000000"/>
                </a:solidFill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)</a:t>
            </a:r>
            <a:endParaRPr lang="en-US" altLang="ko-KR" sz="2050" b="1" spc="67">
              <a:latin typeface="ONE Mobile Title OTF" panose="00000500000000000000" pitchFamily="50" charset="-127"/>
              <a:ea typeface="ONE Mobile Title OTF" panose="00000500000000000000" pitchFamily="50" charset="-127"/>
            </a:endParaRPr>
          </a:p>
        </p:txBody>
      </p:sp>
      <p:pic>
        <p:nvPicPr>
          <p:cNvPr id="13" name="그래픽 12" descr="사용자 단색으로 채워진">
            <a:extLst>
              <a:ext uri="{FF2B5EF4-FFF2-40B4-BE49-F238E27FC236}">
                <a16:creationId xmlns:a16="http://schemas.microsoft.com/office/drawing/2014/main" id="{BD7D7CB8-5082-2AD0-9352-D3BA628ED20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515036" y="3138289"/>
            <a:ext cx="914400" cy="914400"/>
          </a:xfrm>
          <a:prstGeom prst="rect">
            <a:avLst/>
          </a:prstGeom>
        </p:spPr>
      </p:pic>
      <p:sp>
        <p:nvSpPr>
          <p:cNvPr id="15" name="사각형: 모서리가 접힌 도형 14">
            <a:extLst>
              <a:ext uri="{FF2B5EF4-FFF2-40B4-BE49-F238E27FC236}">
                <a16:creationId xmlns:a16="http://schemas.microsoft.com/office/drawing/2014/main" id="{4D74062B-CCC8-3FED-8C35-9E806FB99F5A}"/>
              </a:ext>
            </a:extLst>
          </p:cNvPr>
          <p:cNvSpPr/>
          <p:nvPr/>
        </p:nvSpPr>
        <p:spPr>
          <a:xfrm rot="10800000">
            <a:off x="3997300" y="3032846"/>
            <a:ext cx="1181100" cy="1066800"/>
          </a:xfrm>
          <a:prstGeom prst="foldedCorner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ko-KR" altLang="en-US">
              <a:latin typeface="ONE Mobile Title OTF" panose="00000500000000000000" pitchFamily="50" charset="-127"/>
              <a:ea typeface="ONE Mobile Title OTF" panose="00000500000000000000" pitchFamily="50" charset="-127"/>
            </a:endParaRPr>
          </a:p>
        </p:txBody>
      </p:sp>
      <p:pic>
        <p:nvPicPr>
          <p:cNvPr id="17" name="그래픽 16" descr="모니터 단색으로 채워진">
            <a:extLst>
              <a:ext uri="{FF2B5EF4-FFF2-40B4-BE49-F238E27FC236}">
                <a16:creationId xmlns:a16="http://schemas.microsoft.com/office/drawing/2014/main" id="{AF9A118D-8B82-DD3F-B85D-9782878429F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911995" y="1998489"/>
            <a:ext cx="1471492" cy="1477895"/>
          </a:xfrm>
          <a:prstGeom prst="rect">
            <a:avLst/>
          </a:prstGeom>
        </p:spPr>
      </p:pic>
      <p:grpSp>
        <p:nvGrpSpPr>
          <p:cNvPr id="22" name="그룹 21">
            <a:extLst>
              <a:ext uri="{FF2B5EF4-FFF2-40B4-BE49-F238E27FC236}">
                <a16:creationId xmlns:a16="http://schemas.microsoft.com/office/drawing/2014/main" id="{D7D1D72D-FBB0-D44B-3969-21975867E95A}"/>
              </a:ext>
            </a:extLst>
          </p:cNvPr>
          <p:cNvGrpSpPr/>
          <p:nvPr/>
        </p:nvGrpSpPr>
        <p:grpSpPr>
          <a:xfrm>
            <a:off x="7601643" y="3513524"/>
            <a:ext cx="2107133" cy="1452709"/>
            <a:chOff x="8280400" y="3276600"/>
            <a:chExt cx="2235200" cy="1625599"/>
          </a:xfrm>
        </p:grpSpPr>
        <p:sp>
          <p:nvSpPr>
            <p:cNvPr id="19" name="순서도: 대체 처리 18">
              <a:extLst>
                <a:ext uri="{FF2B5EF4-FFF2-40B4-BE49-F238E27FC236}">
                  <a16:creationId xmlns:a16="http://schemas.microsoft.com/office/drawing/2014/main" id="{4B295832-58E9-FC78-2B09-0913F8C21B19}"/>
                </a:ext>
              </a:extLst>
            </p:cNvPr>
            <p:cNvSpPr/>
            <p:nvPr/>
          </p:nvSpPr>
          <p:spPr>
            <a:xfrm>
              <a:off x="8280400" y="3276600"/>
              <a:ext cx="2235200" cy="1625599"/>
            </a:xfrm>
            <a:prstGeom prst="flowChartAlternateProcess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ONE Mobile Title OTF" panose="00000500000000000000" pitchFamily="50" charset="-127"/>
                <a:ea typeface="ONE Mobile Title OTF" panose="00000500000000000000" pitchFamily="50" charset="-127"/>
              </a:endParaRPr>
            </a:p>
          </p:txBody>
        </p:sp>
        <p:sp>
          <p:nvSpPr>
            <p:cNvPr id="21" name="순서도: 대체 처리 20">
              <a:extLst>
                <a:ext uri="{FF2B5EF4-FFF2-40B4-BE49-F238E27FC236}">
                  <a16:creationId xmlns:a16="http://schemas.microsoft.com/office/drawing/2014/main" id="{9C81CAED-FC04-EEFE-00ED-8CABB2435D61}"/>
                </a:ext>
              </a:extLst>
            </p:cNvPr>
            <p:cNvSpPr/>
            <p:nvPr/>
          </p:nvSpPr>
          <p:spPr>
            <a:xfrm>
              <a:off x="8318820" y="3334228"/>
              <a:ext cx="2151955" cy="1523145"/>
            </a:xfrm>
            <a:prstGeom prst="flowChartAlternateProcess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ONE Mobile Title OTF" panose="00000500000000000000" pitchFamily="50" charset="-127"/>
                <a:ea typeface="ONE Mobile Title OTF" panose="00000500000000000000" pitchFamily="50" charset="-127"/>
              </a:endParaRPr>
            </a:p>
          </p:txBody>
        </p:sp>
      </p:grpSp>
      <p:sp>
        <p:nvSpPr>
          <p:cNvPr id="23" name="원통형 22">
            <a:extLst>
              <a:ext uri="{FF2B5EF4-FFF2-40B4-BE49-F238E27FC236}">
                <a16:creationId xmlns:a16="http://schemas.microsoft.com/office/drawing/2014/main" id="{CD7C28A1-5656-8C8A-C16F-CC6B5B6306C0}"/>
              </a:ext>
            </a:extLst>
          </p:cNvPr>
          <p:cNvSpPr/>
          <p:nvPr/>
        </p:nvSpPr>
        <p:spPr>
          <a:xfrm>
            <a:off x="7456609" y="5394190"/>
            <a:ext cx="2369457" cy="1014293"/>
          </a:xfrm>
          <a:prstGeom prst="can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>
                <a:solidFill>
                  <a:schemeClr val="tx1"/>
                </a:solidFill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DATABASE</a:t>
            </a:r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0E35C362-0F5F-4BCF-B0E2-4C5266F0ACB4}"/>
              </a:ext>
            </a:extLst>
          </p:cNvPr>
          <p:cNvCxnSpPr/>
          <p:nvPr/>
        </p:nvCxnSpPr>
        <p:spPr>
          <a:xfrm flipV="1">
            <a:off x="2137015" y="3692499"/>
            <a:ext cx="1848757" cy="1301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51E7D201-4EA7-3DAB-4B76-F5AB59EBC7A3}"/>
              </a:ext>
            </a:extLst>
          </p:cNvPr>
          <p:cNvCxnSpPr>
            <a:cxnSpLocks/>
          </p:cNvCxnSpPr>
          <p:nvPr/>
        </p:nvCxnSpPr>
        <p:spPr>
          <a:xfrm flipV="1">
            <a:off x="5191417" y="3000935"/>
            <a:ext cx="2565934" cy="66616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2395290C-1ADC-3B54-9FF9-DFFFF4685C3D}"/>
              </a:ext>
            </a:extLst>
          </p:cNvPr>
          <p:cNvSpPr txBox="1"/>
          <p:nvPr/>
        </p:nvSpPr>
        <p:spPr>
          <a:xfrm>
            <a:off x="2635837" y="3287805"/>
            <a:ext cx="9144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응모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169D864-9C93-B352-F6E4-7D164928C439}"/>
              </a:ext>
            </a:extLst>
          </p:cNvPr>
          <p:cNvSpPr txBox="1"/>
          <p:nvPr/>
        </p:nvSpPr>
        <p:spPr>
          <a:xfrm rot="-840000">
            <a:off x="5184374" y="2884393"/>
            <a:ext cx="278418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응모하기 API 호출</a:t>
            </a:r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BE809465-30C7-C951-8655-A81AC8D45808}"/>
              </a:ext>
            </a:extLst>
          </p:cNvPr>
          <p:cNvCxnSpPr>
            <a:cxnSpLocks/>
          </p:cNvCxnSpPr>
          <p:nvPr/>
        </p:nvCxnSpPr>
        <p:spPr>
          <a:xfrm flipH="1">
            <a:off x="7949451" y="3372542"/>
            <a:ext cx="14622" cy="194640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8A3341BA-4304-F451-2B23-428E457C1409}"/>
              </a:ext>
            </a:extLst>
          </p:cNvPr>
          <p:cNvCxnSpPr>
            <a:cxnSpLocks/>
          </p:cNvCxnSpPr>
          <p:nvPr/>
        </p:nvCxnSpPr>
        <p:spPr>
          <a:xfrm>
            <a:off x="8854139" y="3366137"/>
            <a:ext cx="10991" cy="194000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9384EEA6-17F4-5827-D4E0-96958CA0CD0B}"/>
              </a:ext>
            </a:extLst>
          </p:cNvPr>
          <p:cNvCxnSpPr>
            <a:cxnSpLocks/>
          </p:cNvCxnSpPr>
          <p:nvPr/>
        </p:nvCxnSpPr>
        <p:spPr>
          <a:xfrm flipV="1">
            <a:off x="9276760" y="3333907"/>
            <a:ext cx="10992" cy="193402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EB112D6E-E750-5A6A-2B1E-569B3C8C1341}"/>
              </a:ext>
            </a:extLst>
          </p:cNvPr>
          <p:cNvCxnSpPr>
            <a:cxnSpLocks/>
          </p:cNvCxnSpPr>
          <p:nvPr/>
        </p:nvCxnSpPr>
        <p:spPr>
          <a:xfrm flipV="1">
            <a:off x="8380288" y="3359519"/>
            <a:ext cx="10992" cy="193402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BBF4DA7E-6445-9CE8-6233-0D829B5032D4}"/>
              </a:ext>
            </a:extLst>
          </p:cNvPr>
          <p:cNvSpPr txBox="1"/>
          <p:nvPr/>
        </p:nvSpPr>
        <p:spPr>
          <a:xfrm>
            <a:off x="7787234" y="3652477"/>
            <a:ext cx="393912" cy="120032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200" b="1"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응모</a:t>
            </a:r>
            <a:endParaRPr lang="ko-KR" sz="1200" b="1">
              <a:latin typeface="ONE Mobile Title OTF" panose="00000500000000000000" pitchFamily="50" charset="-127"/>
              <a:ea typeface="ONE Mobile Title OTF" panose="00000500000000000000" pitchFamily="50" charset="-127"/>
            </a:endParaRPr>
          </a:p>
          <a:p>
            <a:r>
              <a:rPr lang="ko-KR" altLang="en-US" sz="1200" b="1"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이력  저장</a:t>
            </a:r>
            <a:endParaRPr lang="ko-KR" sz="1600" b="1">
              <a:latin typeface="ONE Mobile Title OTF" panose="00000500000000000000" pitchFamily="50" charset="-127"/>
              <a:ea typeface="ONE Mobile Title OTF" panose="00000500000000000000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5419BA8-8CB5-D4F6-4D96-D850254A0C0B}"/>
              </a:ext>
            </a:extLst>
          </p:cNvPr>
          <p:cNvSpPr txBox="1"/>
          <p:nvPr/>
        </p:nvSpPr>
        <p:spPr>
          <a:xfrm>
            <a:off x="8216258" y="3857384"/>
            <a:ext cx="393912" cy="83099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200" b="1"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저장성공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751F50B-C7CC-001A-C469-BC6BBF8D2EF0}"/>
              </a:ext>
            </a:extLst>
          </p:cNvPr>
          <p:cNvSpPr txBox="1"/>
          <p:nvPr/>
        </p:nvSpPr>
        <p:spPr>
          <a:xfrm>
            <a:off x="8677299" y="3857383"/>
            <a:ext cx="393912" cy="83099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200" b="1"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쿠폰발행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9409007-45B8-FB2C-9028-D7CCF2C8B173}"/>
              </a:ext>
            </a:extLst>
          </p:cNvPr>
          <p:cNvSpPr txBox="1"/>
          <p:nvPr/>
        </p:nvSpPr>
        <p:spPr>
          <a:xfrm>
            <a:off x="9112727" y="3844575"/>
            <a:ext cx="393912" cy="83099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200" b="1"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발행 성공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ADF6051-C53E-36E4-E6DA-291BA6EE1451}"/>
              </a:ext>
            </a:extLst>
          </p:cNvPr>
          <p:cNvSpPr txBox="1"/>
          <p:nvPr/>
        </p:nvSpPr>
        <p:spPr>
          <a:xfrm>
            <a:off x="9739726" y="4193241"/>
            <a:ext cx="208280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1400"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트랜잭션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E67DFB0-A985-75FC-2CA8-4111A511C03B}"/>
              </a:ext>
            </a:extLst>
          </p:cNvPr>
          <p:cNvSpPr txBox="1"/>
          <p:nvPr/>
        </p:nvSpPr>
        <p:spPr>
          <a:xfrm>
            <a:off x="5814465" y="4193239"/>
            <a:ext cx="187789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200"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쿠폰발행 실패 시</a:t>
            </a:r>
          </a:p>
          <a:p>
            <a:r>
              <a:rPr lang="ko-KR" altLang="en-US" sz="1200"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응모이력 저장까지 롤백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1439F5-2981-5E5E-4DAD-E8B3E0DA6354}"/>
              </a:ext>
            </a:extLst>
          </p:cNvPr>
          <p:cNvSpPr txBox="1"/>
          <p:nvPr/>
        </p:nvSpPr>
        <p:spPr>
          <a:xfrm>
            <a:off x="3954510" y="3404177"/>
            <a:ext cx="1260883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1400" b="1"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이벤트 응모</a:t>
            </a:r>
            <a:endParaRPr lang="ko-KR" sz="2400" b="1">
              <a:latin typeface="ONE Mobile Title OTF" panose="00000500000000000000" pitchFamily="50" charset="-127"/>
              <a:ea typeface="ONE Mobile Title OTF" panose="00000500000000000000" pitchFamily="50" charset="-127"/>
            </a:endParaRPr>
          </a:p>
          <a:p>
            <a:pPr algn="ctr"/>
            <a:r>
              <a:rPr lang="ko-KR" altLang="en-US" sz="1400" b="1"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페이지</a:t>
            </a:r>
            <a:endParaRPr lang="ko-KR" altLang="en-US" b="1">
              <a:latin typeface="ONE Mobile Title OTF" panose="00000500000000000000" pitchFamily="50" charset="-127"/>
              <a:ea typeface="ONE Mobile Title OTF" panose="00000500000000000000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1CF83A-8E94-F77B-521B-16F72C1C865E}"/>
              </a:ext>
            </a:extLst>
          </p:cNvPr>
          <p:cNvSpPr txBox="1"/>
          <p:nvPr/>
        </p:nvSpPr>
        <p:spPr>
          <a:xfrm>
            <a:off x="8145510" y="2478891"/>
            <a:ext cx="1000835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2000" b="1"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API</a:t>
            </a:r>
            <a:endParaRPr lang="ko-KR" sz="2000">
              <a:latin typeface="ONE Mobile Title OTF" panose="00000500000000000000" pitchFamily="50" charset="-127"/>
              <a:ea typeface="ONE Mobile Title OTF" panose="00000500000000000000" pitchFamily="50" charset="-127"/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AE9169C1-8945-9EAE-9F59-4399944E7063}"/>
              </a:ext>
            </a:extLst>
          </p:cNvPr>
          <p:cNvSpPr/>
          <p:nvPr/>
        </p:nvSpPr>
        <p:spPr>
          <a:xfrm>
            <a:off x="4498706" y="1465870"/>
            <a:ext cx="3174368" cy="901186"/>
          </a:xfrm>
          <a:prstGeom prst="roundRect">
            <a:avLst/>
          </a:prstGeom>
          <a:noFill/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ONE Mobile Title OTF" panose="00000500000000000000" pitchFamily="50" charset="-127"/>
              <a:ea typeface="ONE Mobile Title OTF" panose="000005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540344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47D2A-50D6-49D0-0DEF-D293C61D0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7BF5F28F-8EAC-BF95-A829-81C57726BA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7333" y="381000"/>
            <a:ext cx="2573867" cy="5080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B2B622FA-B911-73DF-5574-78BD11F114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7600" y="381000"/>
            <a:ext cx="2573867" cy="5080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6A986D35-13D8-E7A8-012B-37CBC54FFD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7867" y="381000"/>
            <a:ext cx="2573867" cy="5080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B3936C85-C48D-10D8-9F1C-1F7899DC0D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20133"/>
            <a:ext cx="3251200" cy="643467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4033FC07-9253-0129-7031-EB0AB74374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753533"/>
            <a:ext cx="12192000" cy="6104467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C889A581-901F-D7C4-A054-F5D55B0544F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0460" y="1115180"/>
            <a:ext cx="11557000" cy="5469467"/>
          </a:xfrm>
          <a:prstGeom prst="rect">
            <a:avLst/>
          </a:prstGeom>
          <a:effectLst>
            <a:outerShdw blurRad="669826" dist="252339" dir="2700000">
              <a:srgbClr val="000000">
                <a:alpha val="10000"/>
              </a:srgbClr>
            </a:outerShdw>
          </a:effectLst>
        </p:spPr>
      </p:pic>
      <p:pic>
        <p:nvPicPr>
          <p:cNvPr id="12" name="Picture 12">
            <a:extLst>
              <a:ext uri="{FF2B5EF4-FFF2-40B4-BE49-F238E27FC236}">
                <a16:creationId xmlns:a16="http://schemas.microsoft.com/office/drawing/2014/main" id="{CE14ACE0-86FF-871D-15C7-52D54A16EDD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29051" y="1539297"/>
            <a:ext cx="7609114" cy="4474027"/>
          </a:xfrm>
          <a:prstGeom prst="rect">
            <a:avLst/>
          </a:prstGeom>
        </p:spPr>
      </p:pic>
      <p:sp>
        <p:nvSpPr>
          <p:cNvPr id="28" name="TextBox 28">
            <a:extLst>
              <a:ext uri="{FF2B5EF4-FFF2-40B4-BE49-F238E27FC236}">
                <a16:creationId xmlns:a16="http://schemas.microsoft.com/office/drawing/2014/main" id="{3267E74C-FBE0-516D-58CD-A3C9117226F3}"/>
              </a:ext>
            </a:extLst>
          </p:cNvPr>
          <p:cNvSpPr txBox="1"/>
          <p:nvPr/>
        </p:nvSpPr>
        <p:spPr>
          <a:xfrm>
            <a:off x="541866" y="1470880"/>
            <a:ext cx="973667" cy="387046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16199"/>
              </a:lnSpc>
            </a:pPr>
            <a:r>
              <a:rPr lang="en-US" altLang="ko-KR" sz="2050" b="0" i="0" u="none" strike="noStrike">
                <a:highlight>
                  <a:srgbClr val="C0C0C0"/>
                </a:highlight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NULL</a:t>
            </a:r>
            <a:endParaRPr lang="ko-KR" sz="2050" b="0" i="0" u="none" strike="noStrike">
              <a:highlight>
                <a:srgbClr val="C0C0C0"/>
              </a:highlight>
              <a:latin typeface="ONE Mobile Title OTF" panose="00000500000000000000" pitchFamily="50" charset="-127"/>
              <a:ea typeface="ONE Mobile Title OTF" panose="00000500000000000000" pitchFamily="50" charset="-127"/>
            </a:endParaRP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766750F0-0C33-4321-34E7-46A2DDC0C22C}"/>
              </a:ext>
            </a:extLst>
          </p:cNvPr>
          <p:cNvSpPr txBox="1"/>
          <p:nvPr/>
        </p:nvSpPr>
        <p:spPr>
          <a:xfrm>
            <a:off x="491067" y="423333"/>
            <a:ext cx="1998133" cy="279400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04580"/>
              </a:lnSpc>
            </a:pPr>
            <a:r>
              <a:rPr lang="en-US" sz="1600" b="0" i="0" u="none" strike="noStrike" spc="400">
                <a:solidFill>
                  <a:srgbClr val="FFFFFF"/>
                </a:solidFill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NULL</a:t>
            </a:r>
          </a:p>
        </p:txBody>
      </p: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548F2CD5-2BE2-B81B-2B5E-4C208D74216D}"/>
              </a:ext>
            </a:extLst>
          </p:cNvPr>
          <p:cNvCxnSpPr>
            <a:cxnSpLocks/>
          </p:cNvCxnSpPr>
          <p:nvPr/>
        </p:nvCxnSpPr>
        <p:spPr>
          <a:xfrm>
            <a:off x="3392715" y="1576010"/>
            <a:ext cx="0" cy="44740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66DC2077-5FE2-B778-D231-9F6134BF2AB5}"/>
              </a:ext>
            </a:extLst>
          </p:cNvPr>
          <p:cNvSpPr txBox="1"/>
          <p:nvPr/>
        </p:nvSpPr>
        <p:spPr>
          <a:xfrm>
            <a:off x="350460" y="2105354"/>
            <a:ext cx="29173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존재하지 않음</a:t>
            </a:r>
            <a:r>
              <a:rPr lang="en-US" altLang="ko-KR" sz="1600"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, </a:t>
            </a:r>
            <a:r>
              <a:rPr lang="ko-KR" altLang="en-US" sz="1600">
                <a:solidFill>
                  <a:schemeClr val="tx2">
                    <a:lumMod val="50000"/>
                    <a:lumOff val="50000"/>
                  </a:schemeClr>
                </a:solidFill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값</a:t>
            </a:r>
            <a:r>
              <a:rPr lang="ko-KR" altLang="en-US" sz="1600"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이 없음</a:t>
            </a:r>
            <a:endParaRPr lang="en-US" altLang="ko-KR" sz="1600">
              <a:latin typeface="ONE Mobile Title OTF" panose="00000500000000000000" pitchFamily="50" charset="-127"/>
              <a:ea typeface="ONE Mobile Title OTF" panose="00000500000000000000" pitchFamily="50" charset="-127"/>
            </a:endParaRPr>
          </a:p>
        </p:txBody>
      </p:sp>
      <p:graphicFrame>
        <p:nvGraphicFramePr>
          <p:cNvPr id="36" name="표 35">
            <a:extLst>
              <a:ext uri="{FF2B5EF4-FFF2-40B4-BE49-F238E27FC236}">
                <a16:creationId xmlns:a16="http://schemas.microsoft.com/office/drawing/2014/main" id="{2CC7DC48-FF21-545A-AB59-9C11D58C0302}"/>
              </a:ext>
            </a:extLst>
          </p:cNvPr>
          <p:cNvGraphicFramePr>
            <a:graphicFrameLocks noGrp="1"/>
          </p:cNvGraphicFramePr>
          <p:nvPr/>
        </p:nvGraphicFramePr>
        <p:xfrm>
          <a:off x="4114800" y="2020165"/>
          <a:ext cx="6992255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98451">
                  <a:extLst>
                    <a:ext uri="{9D8B030D-6E8A-4147-A177-3AD203B41FA5}">
                      <a16:colId xmlns:a16="http://schemas.microsoft.com/office/drawing/2014/main" val="2163133311"/>
                    </a:ext>
                  </a:extLst>
                </a:gridCol>
                <a:gridCol w="1398451">
                  <a:extLst>
                    <a:ext uri="{9D8B030D-6E8A-4147-A177-3AD203B41FA5}">
                      <a16:colId xmlns:a16="http://schemas.microsoft.com/office/drawing/2014/main" val="2609987796"/>
                    </a:ext>
                  </a:extLst>
                </a:gridCol>
                <a:gridCol w="1398451">
                  <a:extLst>
                    <a:ext uri="{9D8B030D-6E8A-4147-A177-3AD203B41FA5}">
                      <a16:colId xmlns:a16="http://schemas.microsoft.com/office/drawing/2014/main" val="1012695025"/>
                    </a:ext>
                  </a:extLst>
                </a:gridCol>
                <a:gridCol w="1398451">
                  <a:extLst>
                    <a:ext uri="{9D8B030D-6E8A-4147-A177-3AD203B41FA5}">
                      <a16:colId xmlns:a16="http://schemas.microsoft.com/office/drawing/2014/main" val="3055724557"/>
                    </a:ext>
                  </a:extLst>
                </a:gridCol>
                <a:gridCol w="1398451">
                  <a:extLst>
                    <a:ext uri="{9D8B030D-6E8A-4147-A177-3AD203B41FA5}">
                      <a16:colId xmlns:a16="http://schemas.microsoft.com/office/drawing/2014/main" val="1553015338"/>
                    </a:ext>
                  </a:extLst>
                </a:gridCol>
              </a:tblGrid>
              <a:tr h="31120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latin typeface="ONE Mobile Title OTF" panose="00000500000000000000" pitchFamily="50" charset="-127"/>
                          <a:ea typeface="ONE Mobile Title OTF"/>
                        </a:rPr>
                        <a:t>생년월일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latin typeface="ONE Mobile Title OTF" panose="00000500000000000000" pitchFamily="50" charset="-127"/>
                          <a:ea typeface="ONE Mobile Title OTF"/>
                        </a:rPr>
                        <a:t>이름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latin typeface="ONE Mobile Title OTF" panose="00000500000000000000" pitchFamily="50" charset="-127"/>
                          <a:ea typeface="ONE Mobile Title OTF"/>
                        </a:rPr>
                        <a:t>수입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latin typeface="ONE Mobile Title OTF" panose="00000500000000000000" pitchFamily="50" charset="-127"/>
                          <a:ea typeface="ONE Mobile Title OTF"/>
                        </a:rPr>
                        <a:t>지출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latin typeface="ONE Mobile Title OTF" panose="00000500000000000000" pitchFamily="50" charset="-127"/>
                          <a:ea typeface="ONE Mobile Title OTF"/>
                        </a:rPr>
                        <a:t>직업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743595"/>
                  </a:ext>
                </a:extLst>
              </a:tr>
              <a:tr h="31120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>
                          <a:latin typeface="ONE Mobile Title OTF" panose="00000500000000000000" pitchFamily="50" charset="-127"/>
                          <a:ea typeface="ONE Mobile Title OTF"/>
                        </a:rPr>
                        <a:t>20020101</a:t>
                      </a:r>
                      <a:endParaRPr lang="ko-KR" altLang="en-US" sz="1600">
                        <a:latin typeface="ONE Mobile Title OTF" panose="00000500000000000000" pitchFamily="50" charset="-127"/>
                        <a:ea typeface="ONE Mobile Title OTF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>
                          <a:latin typeface="ONE Mobile Title OTF" panose="00000500000000000000" pitchFamily="50" charset="-127"/>
                          <a:ea typeface="ONE Mobile Title OTF"/>
                        </a:rPr>
                        <a:t>박준성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>
                          <a:latin typeface="ONE Mobile Title OTF" panose="00000500000000000000" pitchFamily="50" charset="-127"/>
                          <a:ea typeface="ONE Mobile Title OTF"/>
                        </a:rPr>
                        <a:t>0</a:t>
                      </a:r>
                      <a:endParaRPr lang="ko-KR" altLang="en-US" sz="1600">
                        <a:latin typeface="ONE Mobile Title OTF" panose="00000500000000000000" pitchFamily="50" charset="-127"/>
                        <a:ea typeface="ONE Mobile Title OTF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>
                          <a:latin typeface="ONE Mobile Title OTF" panose="00000500000000000000" pitchFamily="50" charset="-127"/>
                          <a:ea typeface="ONE Mobile Title OTF"/>
                        </a:rPr>
                        <a:t>2000</a:t>
                      </a:r>
                      <a:endParaRPr lang="ko-KR" altLang="en-US" sz="1600">
                        <a:latin typeface="ONE Mobile Title OTF" panose="00000500000000000000" pitchFamily="50" charset="-127"/>
                        <a:ea typeface="ONE Mobile Title OTF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>
                          <a:latin typeface="ONE Mobile Title OTF" panose="00000500000000000000" pitchFamily="50" charset="-127"/>
                          <a:ea typeface="ONE Mobile Title OTF"/>
                        </a:rPr>
                        <a:t>유튜버</a:t>
                      </a:r>
                      <a:endParaRPr lang="ko-KR" altLang="en-US" sz="1600" err="1">
                        <a:latin typeface="ONE Mobile Title OTF" panose="00000500000000000000" pitchFamily="50" charset="-127"/>
                        <a:ea typeface="ONE Mobile Title OTF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0367932"/>
                  </a:ext>
                </a:extLst>
              </a:tr>
              <a:tr h="31120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>
                          <a:latin typeface="ONE Mobile Title OTF" panose="00000500000000000000" pitchFamily="50" charset="-127"/>
                          <a:ea typeface="ONE Mobile Title OTF"/>
                        </a:rPr>
                        <a:t>19371231</a:t>
                      </a:r>
                      <a:endParaRPr lang="ko-KR" altLang="en-US" sz="1600">
                        <a:latin typeface="ONE Mobile Title OTF" panose="00000500000000000000" pitchFamily="50" charset="-127"/>
                        <a:ea typeface="ONE Mobile Title OTF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>
                          <a:latin typeface="ONE Mobile Title OTF" panose="00000500000000000000" pitchFamily="50" charset="-127"/>
                          <a:ea typeface="ONE Mobile Title OTF"/>
                        </a:rPr>
                        <a:t>강한성</a:t>
                      </a:r>
                      <a:endParaRPr lang="ko-KR" altLang="en-US" sz="1600" err="1">
                        <a:latin typeface="ONE Mobile Title OTF" panose="00000500000000000000" pitchFamily="50" charset="-127"/>
                        <a:ea typeface="ONE Mobile Title OTF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>
                          <a:latin typeface="ONE Mobile Title OTF" panose="00000500000000000000" pitchFamily="50" charset="-127"/>
                          <a:ea typeface="ONE Mobile Title OTF"/>
                        </a:rPr>
                        <a:t>50000</a:t>
                      </a:r>
                      <a:endParaRPr lang="ko-KR" altLang="en-US" sz="1600">
                        <a:latin typeface="ONE Mobile Title OTF" panose="00000500000000000000" pitchFamily="50" charset="-127"/>
                        <a:ea typeface="ONE Mobile Title OTF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>
                          <a:latin typeface="ONE Mobile Title OTF" panose="00000500000000000000" pitchFamily="50" charset="-127"/>
                          <a:ea typeface="ONE Mobile Title OTF"/>
                        </a:rPr>
                        <a:t>30</a:t>
                      </a:r>
                      <a:endParaRPr lang="ko-KR" altLang="en-US" sz="1600">
                        <a:latin typeface="ONE Mobile Title OTF" panose="00000500000000000000" pitchFamily="50" charset="-127"/>
                        <a:ea typeface="ONE Mobile Title OTF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>
                          <a:latin typeface="ONE Mobile Title OTF" panose="00000500000000000000" pitchFamily="50" charset="-127"/>
                          <a:ea typeface="ONE Mobile Title OTF"/>
                        </a:rPr>
                        <a:t>가공육제조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2570730"/>
                  </a:ext>
                </a:extLst>
              </a:tr>
              <a:tr h="31120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>
                          <a:latin typeface="ONE Mobile Title OTF" panose="00000500000000000000" pitchFamily="50" charset="-127"/>
                          <a:ea typeface="ONE Mobile Title OTF"/>
                        </a:rPr>
                        <a:t>19080230</a:t>
                      </a:r>
                      <a:endParaRPr lang="ko-KR" altLang="en-US" sz="1600">
                        <a:latin typeface="ONE Mobile Title OTF" panose="00000500000000000000" pitchFamily="50" charset="-127"/>
                        <a:ea typeface="ONE Mobile Title OTF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>
                          <a:latin typeface="ONE Mobile Title OTF" panose="00000500000000000000" pitchFamily="50" charset="-127"/>
                          <a:ea typeface="ONE Mobile Title OTF"/>
                        </a:rPr>
                        <a:t>권우현</a:t>
                      </a:r>
                      <a:endParaRPr lang="ko-KR" altLang="en-US" sz="1600" err="1">
                        <a:latin typeface="ONE Mobile Title OTF" panose="00000500000000000000" pitchFamily="50" charset="-127"/>
                        <a:ea typeface="ONE Mobile Title OTF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>
                          <a:highlight>
                            <a:srgbClr val="C0C0C0"/>
                          </a:highlight>
                          <a:latin typeface="ONE Mobile Title OTF" panose="00000500000000000000" pitchFamily="50" charset="-127"/>
                          <a:ea typeface="ONE Mobile Title OTF"/>
                        </a:rPr>
                        <a:t>NULL</a:t>
                      </a:r>
                      <a:endParaRPr lang="ko-KR" altLang="en-US" sz="1600">
                        <a:highlight>
                          <a:srgbClr val="C0C0C0"/>
                        </a:highlight>
                        <a:latin typeface="ONE Mobile Title OTF" panose="00000500000000000000" pitchFamily="50" charset="-127"/>
                        <a:ea typeface="ONE Mobile Title OTF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>
                          <a:latin typeface="ONE Mobile Title OTF" panose="00000500000000000000" pitchFamily="50" charset="-127"/>
                          <a:ea typeface="ONE Mobile Title OTF"/>
                        </a:rPr>
                        <a:t>10</a:t>
                      </a:r>
                      <a:endParaRPr lang="ko-KR" altLang="en-US" sz="1600">
                        <a:latin typeface="ONE Mobile Title OTF" panose="00000500000000000000" pitchFamily="50" charset="-127"/>
                        <a:ea typeface="ONE Mobile Title OTF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>
                          <a:latin typeface="ONE Mobile Title OTF" panose="00000500000000000000" pitchFamily="50" charset="-127"/>
                          <a:ea typeface="ONE Mobile Title OTF"/>
                        </a:rPr>
                        <a:t>일식집 운영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9387133"/>
                  </a:ext>
                </a:extLst>
              </a:tr>
            </a:tbl>
          </a:graphicData>
        </a:graphic>
      </p:graphicFrame>
      <p:sp>
        <p:nvSpPr>
          <p:cNvPr id="38" name="TextBox 37">
            <a:extLst>
              <a:ext uri="{FF2B5EF4-FFF2-40B4-BE49-F238E27FC236}">
                <a16:creationId xmlns:a16="http://schemas.microsoft.com/office/drawing/2014/main" id="{B11A5347-5FF0-A310-50CF-04BF090B3793}"/>
              </a:ext>
            </a:extLst>
          </p:cNvPr>
          <p:cNvSpPr txBox="1"/>
          <p:nvPr/>
        </p:nvSpPr>
        <p:spPr>
          <a:xfrm>
            <a:off x="9970404" y="1760444"/>
            <a:ext cx="12409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(</a:t>
            </a:r>
            <a:r>
              <a:rPr lang="ko-KR" altLang="en-US" sz="1400"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단위 </a:t>
            </a:r>
            <a:r>
              <a:rPr lang="en-US" altLang="ko-KR" sz="1400"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: </a:t>
            </a:r>
            <a:r>
              <a:rPr lang="ko-KR" altLang="en-US" sz="1400"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만 원</a:t>
            </a:r>
            <a:r>
              <a:rPr lang="en-US" altLang="ko-KR" sz="1400"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)</a:t>
            </a:r>
            <a:endParaRPr lang="ko-KR" altLang="en-US" sz="140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89E1146-93CF-ABD1-998A-9ACA06989C4B}"/>
              </a:ext>
            </a:extLst>
          </p:cNvPr>
          <p:cNvSpPr txBox="1"/>
          <p:nvPr/>
        </p:nvSpPr>
        <p:spPr>
          <a:xfrm>
            <a:off x="4099613" y="3835322"/>
            <a:ext cx="5287025" cy="21375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위 데이터에서 </a:t>
            </a:r>
            <a:r>
              <a:rPr lang="en-US" altLang="ko-KR" sz="1600"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0</a:t>
            </a:r>
            <a:r>
              <a:rPr lang="ko-KR" altLang="en-US" sz="1600"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과 </a:t>
            </a:r>
            <a:r>
              <a:rPr lang="en-US" altLang="ko-KR" sz="1600"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NULL</a:t>
            </a:r>
            <a:r>
              <a:rPr lang="ko-KR" altLang="en-US" sz="1600"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값이 존재</a:t>
            </a:r>
            <a:endParaRPr lang="en-US" altLang="ko-KR" sz="1600">
              <a:latin typeface="ONE Mobile Title OTF" panose="00000500000000000000" pitchFamily="50" charset="-127"/>
              <a:ea typeface="ONE Mobile Title OTF" panose="00000500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둘의 의미는 엄연히 다름</a:t>
            </a:r>
            <a:endParaRPr lang="en-US" altLang="ko-KR" sz="1600">
              <a:latin typeface="ONE Mobile Title OTF" panose="00000500000000000000" pitchFamily="50" charset="-127"/>
              <a:ea typeface="ONE Mobile Title OTF" panose="00000500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박준성의 수입은 </a:t>
            </a:r>
            <a:r>
              <a:rPr lang="en-US" altLang="ko-KR" sz="1600"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0</a:t>
            </a:r>
            <a:r>
              <a:rPr lang="ko-KR" altLang="en-US" sz="1600"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원으로 확실하지만</a:t>
            </a:r>
            <a:r>
              <a:rPr lang="en-US" altLang="ko-KR" sz="1600"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ko-KR" altLang="en-US" sz="1600"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권우현의 수입은 </a:t>
            </a:r>
            <a:r>
              <a:rPr lang="en-US" altLang="ko-KR" sz="1600"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0</a:t>
            </a:r>
            <a:r>
              <a:rPr lang="ko-KR" altLang="en-US" sz="1600"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원 </a:t>
            </a:r>
            <a:r>
              <a:rPr lang="en-US" altLang="ko-KR" sz="1600"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~ </a:t>
            </a:r>
            <a:r>
              <a:rPr lang="ko-KR" altLang="en-US" sz="1600"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수천만원 등 스펙트럼이 넓음</a:t>
            </a:r>
            <a:endParaRPr lang="en-US" altLang="ko-KR" sz="1600">
              <a:latin typeface="ONE Mobile Title OTF" panose="00000500000000000000" pitchFamily="50" charset="-127"/>
              <a:ea typeface="ONE Mobile Title OTF" panose="00000500000000000000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600">
              <a:latin typeface="ONE Mobile Title OTF" panose="00000500000000000000" pitchFamily="50" charset="-127"/>
              <a:ea typeface="ONE Mobile Title OTF" panose="00000500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-&gt; </a:t>
            </a:r>
            <a:r>
              <a:rPr lang="ko-KR" altLang="en-US" sz="1600"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데이터가 입력되지 않았기에</a:t>
            </a:r>
            <a:r>
              <a:rPr lang="en-US" altLang="ko-KR" sz="1600"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, </a:t>
            </a:r>
            <a:r>
              <a:rPr lang="en-US" altLang="ko-KR" sz="1600">
                <a:highlight>
                  <a:srgbClr val="C0C0C0"/>
                </a:highlight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NULL</a:t>
            </a:r>
            <a:r>
              <a:rPr lang="ko-KR" altLang="en-US" sz="1600"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값으로 표기된 것</a:t>
            </a:r>
            <a:endParaRPr lang="en-US" altLang="ko-KR" sz="1600">
              <a:latin typeface="ONE Mobile Title OTF" panose="00000500000000000000" pitchFamily="50" charset="-127"/>
              <a:ea typeface="ONE Mobile Title OTF" panose="00000500000000000000" pitchFamily="50" charset="-127"/>
            </a:endParaRP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FD23AE8D-BB16-AD66-0B7A-C4113515CE03}"/>
              </a:ext>
            </a:extLst>
          </p:cNvPr>
          <p:cNvGrpSpPr/>
          <p:nvPr/>
        </p:nvGrpSpPr>
        <p:grpSpPr>
          <a:xfrm>
            <a:off x="620486" y="2565400"/>
            <a:ext cx="2647345" cy="1295400"/>
            <a:chOff x="586620" y="3320143"/>
            <a:chExt cx="2647345" cy="1295400"/>
          </a:xfrm>
        </p:grpSpPr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C57F4354-343A-2878-FE04-0D681C82BE79}"/>
                </a:ext>
              </a:extLst>
            </p:cNvPr>
            <p:cNvSpPr/>
            <p:nvPr/>
          </p:nvSpPr>
          <p:spPr>
            <a:xfrm>
              <a:off x="586620" y="3320143"/>
              <a:ext cx="2647345" cy="12954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>
                  <a:solidFill>
                    <a:schemeClr val="tx1"/>
                  </a:solidFill>
                </a:rPr>
                <a:t>1</a:t>
              </a:r>
              <a:r>
                <a:rPr lang="ko-KR" altLang="en-US">
                  <a:solidFill>
                    <a:schemeClr val="tx1"/>
                  </a:solidFill>
                </a:rPr>
                <a:t> </a:t>
              </a:r>
              <a:r>
                <a:rPr lang="en-US" altLang="ko-KR">
                  <a:solidFill>
                    <a:schemeClr val="tx1"/>
                  </a:solidFill>
                </a:rPr>
                <a:t>2</a:t>
              </a:r>
              <a:r>
                <a:rPr lang="ko-KR" altLang="en-US">
                  <a:solidFill>
                    <a:schemeClr val="tx1"/>
                  </a:solidFill>
                </a:rPr>
                <a:t> </a:t>
              </a:r>
              <a:r>
                <a:rPr lang="en-US" altLang="ko-KR">
                  <a:solidFill>
                    <a:schemeClr val="tx1"/>
                  </a:solidFill>
                </a:rPr>
                <a:t>3 “ “ 4 5 “ “ 7 8 9 “ “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  <p:pic>
          <p:nvPicPr>
            <p:cNvPr id="42" name="그림 41" descr="텍스트, 스케치, 일러스트레이션, 그림이(가) 표시된 사진&#10;&#10;AI가 생성한 콘텐츠는 부정확할 수 있습니다.">
              <a:extLst>
                <a:ext uri="{FF2B5EF4-FFF2-40B4-BE49-F238E27FC236}">
                  <a16:creationId xmlns:a16="http://schemas.microsoft.com/office/drawing/2014/main" id="{587C1233-4ECE-20F0-A03C-6EE7BFD70E5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79418" y="3929444"/>
              <a:ext cx="643661" cy="675213"/>
            </a:xfrm>
            <a:prstGeom prst="rect">
              <a:avLst/>
            </a:prstGeom>
          </p:spPr>
        </p:pic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3EB37813-7692-C5D1-A905-1B7DE0FF5A6F}"/>
              </a:ext>
            </a:extLst>
          </p:cNvPr>
          <p:cNvSpPr txBox="1"/>
          <p:nvPr/>
        </p:nvSpPr>
        <p:spPr>
          <a:xfrm>
            <a:off x="350460" y="3946819"/>
            <a:ext cx="29173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>
                <a:highlight>
                  <a:srgbClr val="C0C0C0"/>
                </a:highlight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NULL</a:t>
            </a:r>
            <a:r>
              <a:rPr lang="ko-KR" altLang="en-US"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은 </a:t>
            </a:r>
            <a:r>
              <a:rPr lang="ko-KR" altLang="en-US">
                <a:solidFill>
                  <a:schemeClr val="tx2">
                    <a:lumMod val="50000"/>
                    <a:lumOff val="50000"/>
                  </a:schemeClr>
                </a:solidFill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정의되지 않은 값</a:t>
            </a:r>
            <a:r>
              <a:rPr lang="ko-KR" altLang="en-US"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으로 해석</a:t>
            </a:r>
            <a:endParaRPr lang="en-US" altLang="ko-KR">
              <a:latin typeface="ONE Mobile Title OTF" panose="00000500000000000000" pitchFamily="50" charset="-127"/>
              <a:ea typeface="ONE Mobile Title OTF" panose="00000500000000000000" pitchFamily="50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B09396F-C234-00B7-B1D8-74E45ABA78FD}"/>
              </a:ext>
            </a:extLst>
          </p:cNvPr>
          <p:cNvSpPr txBox="1"/>
          <p:nvPr/>
        </p:nvSpPr>
        <p:spPr>
          <a:xfrm>
            <a:off x="1399818" y="2721379"/>
            <a:ext cx="4733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i="1">
                <a:solidFill>
                  <a:srgbClr val="FF0000"/>
                </a:solidFill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?</a:t>
            </a:r>
            <a:endParaRPr lang="ko-KR" altLang="en-US" sz="1600" b="1" i="1">
              <a:solidFill>
                <a:srgbClr val="FF0000"/>
              </a:solidFill>
              <a:latin typeface="ONE Mobile Title OTF" panose="00000500000000000000" pitchFamily="50" charset="-127"/>
              <a:ea typeface="ONE Mobile Title OTF" panose="00000500000000000000" pitchFamily="50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664C708-C05E-D80C-9F20-AB680DF2F6AB}"/>
              </a:ext>
            </a:extLst>
          </p:cNvPr>
          <p:cNvSpPr txBox="1"/>
          <p:nvPr/>
        </p:nvSpPr>
        <p:spPr>
          <a:xfrm>
            <a:off x="2158805" y="2721337"/>
            <a:ext cx="4733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i="1">
                <a:solidFill>
                  <a:srgbClr val="FF0000"/>
                </a:solidFill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?</a:t>
            </a:r>
            <a:endParaRPr lang="ko-KR" altLang="en-US" sz="1600" b="1" i="1">
              <a:solidFill>
                <a:srgbClr val="FF0000"/>
              </a:solidFill>
              <a:latin typeface="ONE Mobile Title OTF" panose="00000500000000000000" pitchFamily="50" charset="-127"/>
              <a:ea typeface="ONE Mobile Title OTF" panose="00000500000000000000" pitchFamily="50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E0CFA15-CC88-9894-1D05-E5059E6F37C0}"/>
              </a:ext>
            </a:extLst>
          </p:cNvPr>
          <p:cNvSpPr txBox="1"/>
          <p:nvPr/>
        </p:nvSpPr>
        <p:spPr>
          <a:xfrm>
            <a:off x="1740200" y="3278122"/>
            <a:ext cx="4733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i="1">
                <a:solidFill>
                  <a:srgbClr val="FF0000"/>
                </a:solidFill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?</a:t>
            </a:r>
            <a:endParaRPr lang="ko-KR" altLang="en-US" sz="1600" b="1" i="1">
              <a:solidFill>
                <a:srgbClr val="FF0000"/>
              </a:solidFill>
              <a:latin typeface="ONE Mobile Title OTF" panose="00000500000000000000" pitchFamily="50" charset="-127"/>
              <a:ea typeface="ONE Mobile Title OTF" panose="00000500000000000000" pitchFamily="50" charset="-12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A43AF1D-3676-43B8-51C9-6D2FEEA29CCB}"/>
              </a:ext>
            </a:extLst>
          </p:cNvPr>
          <p:cNvSpPr txBox="1"/>
          <p:nvPr/>
        </p:nvSpPr>
        <p:spPr>
          <a:xfrm>
            <a:off x="350460" y="4576142"/>
            <a:ext cx="29173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highlight>
                  <a:srgbClr val="C0C0C0"/>
                </a:highlight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NULL</a:t>
            </a:r>
            <a:r>
              <a:rPr lang="ko-KR" altLang="en-US" dirty="0"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과 다른 값은 </a:t>
            </a:r>
            <a:r>
              <a:rPr lang="ko-KR" altLang="en-US" dirty="0">
                <a:solidFill>
                  <a:srgbClr val="FF0000"/>
                </a:solidFill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비교</a:t>
            </a:r>
            <a:r>
              <a:rPr lang="ko-KR" altLang="en-US" dirty="0"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할 수 없음</a:t>
            </a:r>
            <a:endParaRPr lang="en-US" altLang="ko-KR" dirty="0">
              <a:latin typeface="ONE Mobile Title OTF" panose="00000500000000000000" pitchFamily="50" charset="-127"/>
              <a:ea typeface="ONE Mobile Title OTF" panose="00000500000000000000" pitchFamily="50" charset="-127"/>
            </a:endParaRPr>
          </a:p>
          <a:p>
            <a:r>
              <a:rPr lang="en-US" altLang="ko-KR" dirty="0"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     </a:t>
            </a:r>
            <a:r>
              <a:rPr lang="en-US" altLang="ko-KR" sz="1400" dirty="0"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ex) NULL &gt; 3 = Error</a:t>
            </a:r>
            <a:endParaRPr lang="en-US" altLang="ko-KR" dirty="0">
              <a:latin typeface="ONE Mobile Title OTF" panose="00000500000000000000" pitchFamily="50" charset="-127"/>
              <a:ea typeface="ONE Mobile Title OTF" panose="00000500000000000000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3E3F03-192F-684E-E99B-9B4AAB4C8C31}"/>
              </a:ext>
            </a:extLst>
          </p:cNvPr>
          <p:cNvSpPr txBox="1"/>
          <p:nvPr/>
        </p:nvSpPr>
        <p:spPr>
          <a:xfrm>
            <a:off x="350460" y="5478448"/>
            <a:ext cx="29173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highlight>
                  <a:srgbClr val="C0C0C0"/>
                </a:highlight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NULL</a:t>
            </a:r>
            <a:r>
              <a:rPr lang="ko-KR" altLang="en-US" dirty="0"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과</a:t>
            </a:r>
            <a:r>
              <a:rPr lang="en-US" altLang="ko-KR" dirty="0"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 ‘NULL’</a:t>
            </a:r>
            <a:r>
              <a:rPr lang="ko-KR" altLang="en-US" dirty="0"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은</a:t>
            </a:r>
            <a:r>
              <a:rPr lang="en-US" altLang="ko-KR" dirty="0"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 </a:t>
            </a:r>
            <a:r>
              <a:rPr lang="ko-KR" altLang="en-US" dirty="0"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같은 데이터가 아니다</a:t>
            </a:r>
            <a:endParaRPr lang="en-US" altLang="ko-KR" dirty="0">
              <a:latin typeface="ONE Mobile Title OTF" panose="00000500000000000000" pitchFamily="50" charset="-127"/>
              <a:ea typeface="ONE Mobile Title OTF" panose="00000500000000000000" pitchFamily="50" charset="-127"/>
            </a:endParaRPr>
          </a:p>
          <a:p>
            <a:r>
              <a:rPr lang="en-US" altLang="ko-KR" dirty="0"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    *</a:t>
            </a:r>
            <a:r>
              <a:rPr lang="en-US" altLang="ko-KR" sz="1400" dirty="0">
                <a:highlight>
                  <a:srgbClr val="C0C0C0"/>
                </a:highlight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NULL</a:t>
            </a:r>
            <a:r>
              <a:rPr lang="ko-KR" altLang="en-US" sz="1400" dirty="0"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은 값</a:t>
            </a:r>
            <a:r>
              <a:rPr lang="en-US" altLang="ko-KR" sz="1400" dirty="0"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x, ‘NULL’</a:t>
            </a:r>
            <a:r>
              <a:rPr lang="ko-KR" altLang="en-US" sz="1400" dirty="0"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은 텍스트</a:t>
            </a:r>
            <a:endParaRPr lang="en-US" altLang="ko-KR" dirty="0">
              <a:latin typeface="ONE Mobile Title OTF" panose="00000500000000000000" pitchFamily="50" charset="-127"/>
              <a:ea typeface="ONE Mobile Title OTF" panose="000005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91871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074A25-CD02-190D-5FA6-BF641B3D8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06B8A56C-2751-741E-A001-489C9C2795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7333" y="381000"/>
            <a:ext cx="2573867" cy="5080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91D3C3F1-687B-EE6D-AD67-9BA0BAFEBA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7600" y="381000"/>
            <a:ext cx="2573867" cy="5080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EC96E4D2-F31D-A228-0AD4-E12B4B4643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7867" y="381000"/>
            <a:ext cx="2573867" cy="5080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B9D86343-FA8F-FC71-98D7-D4FD9EBC14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20133"/>
            <a:ext cx="3251200" cy="643467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C9C9AC4D-43AB-71FA-40D7-BAEDA8E40F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753533"/>
            <a:ext cx="12192000" cy="6104467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A648D150-EC0C-32FB-9C9C-527457C51F0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7500" y="1075266"/>
            <a:ext cx="11557000" cy="5469467"/>
          </a:xfrm>
          <a:prstGeom prst="rect">
            <a:avLst/>
          </a:prstGeom>
          <a:effectLst>
            <a:outerShdw blurRad="669826" dist="252339" dir="2700000">
              <a:srgbClr val="000000">
                <a:alpha val="10000"/>
              </a:srgbClr>
            </a:outerShdw>
          </a:effectLst>
        </p:spPr>
      </p:pic>
      <p:pic>
        <p:nvPicPr>
          <p:cNvPr id="12" name="Picture 12">
            <a:extLst>
              <a:ext uri="{FF2B5EF4-FFF2-40B4-BE49-F238E27FC236}">
                <a16:creationId xmlns:a16="http://schemas.microsoft.com/office/drawing/2014/main" id="{F08269AF-DB22-07D7-7905-07684D74410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1066" y="1715107"/>
            <a:ext cx="11159065" cy="4474027"/>
          </a:xfrm>
          <a:prstGeom prst="rect">
            <a:avLst/>
          </a:prstGeom>
        </p:spPr>
      </p:pic>
      <p:sp>
        <p:nvSpPr>
          <p:cNvPr id="28" name="TextBox 28">
            <a:extLst>
              <a:ext uri="{FF2B5EF4-FFF2-40B4-BE49-F238E27FC236}">
                <a16:creationId xmlns:a16="http://schemas.microsoft.com/office/drawing/2014/main" id="{908025D0-5183-1C52-EB34-D0AB115100CF}"/>
              </a:ext>
            </a:extLst>
          </p:cNvPr>
          <p:cNvSpPr txBox="1"/>
          <p:nvPr/>
        </p:nvSpPr>
        <p:spPr>
          <a:xfrm>
            <a:off x="541865" y="1345775"/>
            <a:ext cx="1616937" cy="369332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16199"/>
              </a:lnSpc>
            </a:pPr>
            <a:r>
              <a:rPr lang="en-US" altLang="ko-KR" sz="2050" b="0" i="0" u="none" strike="noStrike" dirty="0">
                <a:highlight>
                  <a:srgbClr val="C0C0C0"/>
                </a:highlight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NULL</a:t>
            </a:r>
            <a:r>
              <a:rPr lang="ko-KR" altLang="en-US" sz="2050" dirty="0"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의 연산</a:t>
            </a:r>
            <a:endParaRPr lang="ko-KR" sz="2050" b="0" i="0" u="none" strike="noStrike" dirty="0">
              <a:latin typeface="ONE Mobile Title OTF" panose="00000500000000000000" pitchFamily="50" charset="-127"/>
              <a:ea typeface="ONE Mobile Title OTF" panose="00000500000000000000" pitchFamily="50" charset="-127"/>
            </a:endParaRP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6E52BDC7-8554-1AB7-2FD6-D5321E564178}"/>
              </a:ext>
            </a:extLst>
          </p:cNvPr>
          <p:cNvSpPr txBox="1"/>
          <p:nvPr/>
        </p:nvSpPr>
        <p:spPr>
          <a:xfrm>
            <a:off x="491067" y="423333"/>
            <a:ext cx="1998133" cy="279400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04580"/>
              </a:lnSpc>
            </a:pPr>
            <a:r>
              <a:rPr lang="en-US" sz="1600" b="0" i="0" u="none" strike="noStrike" spc="400" dirty="0">
                <a:solidFill>
                  <a:srgbClr val="FFFFFF"/>
                </a:solidFill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NULL</a:t>
            </a:r>
          </a:p>
        </p:txBody>
      </p: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A957BE26-DAB4-7F37-B69F-041838ADD78F}"/>
              </a:ext>
            </a:extLst>
          </p:cNvPr>
          <p:cNvCxnSpPr>
            <a:cxnSpLocks/>
          </p:cNvCxnSpPr>
          <p:nvPr/>
        </p:nvCxnSpPr>
        <p:spPr>
          <a:xfrm flipH="1">
            <a:off x="1079801" y="3952120"/>
            <a:ext cx="981286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6" name="표 35">
            <a:extLst>
              <a:ext uri="{FF2B5EF4-FFF2-40B4-BE49-F238E27FC236}">
                <a16:creationId xmlns:a16="http://schemas.microsoft.com/office/drawing/2014/main" id="{2DBD4956-132A-2BC7-52DB-A5913B6C31F1}"/>
              </a:ext>
            </a:extLst>
          </p:cNvPr>
          <p:cNvGraphicFramePr>
            <a:graphicFrameLocks noGrp="1"/>
          </p:cNvGraphicFramePr>
          <p:nvPr/>
        </p:nvGraphicFramePr>
        <p:xfrm>
          <a:off x="1079801" y="2208226"/>
          <a:ext cx="6992255" cy="1463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98451">
                  <a:extLst>
                    <a:ext uri="{9D8B030D-6E8A-4147-A177-3AD203B41FA5}">
                      <a16:colId xmlns:a16="http://schemas.microsoft.com/office/drawing/2014/main" val="2163133311"/>
                    </a:ext>
                  </a:extLst>
                </a:gridCol>
                <a:gridCol w="1398451">
                  <a:extLst>
                    <a:ext uri="{9D8B030D-6E8A-4147-A177-3AD203B41FA5}">
                      <a16:colId xmlns:a16="http://schemas.microsoft.com/office/drawing/2014/main" val="2609987796"/>
                    </a:ext>
                  </a:extLst>
                </a:gridCol>
                <a:gridCol w="1398451">
                  <a:extLst>
                    <a:ext uri="{9D8B030D-6E8A-4147-A177-3AD203B41FA5}">
                      <a16:colId xmlns:a16="http://schemas.microsoft.com/office/drawing/2014/main" val="1012695025"/>
                    </a:ext>
                  </a:extLst>
                </a:gridCol>
                <a:gridCol w="1345476">
                  <a:extLst>
                    <a:ext uri="{9D8B030D-6E8A-4147-A177-3AD203B41FA5}">
                      <a16:colId xmlns:a16="http://schemas.microsoft.com/office/drawing/2014/main" val="3055724557"/>
                    </a:ext>
                  </a:extLst>
                </a:gridCol>
                <a:gridCol w="1451426">
                  <a:extLst>
                    <a:ext uri="{9D8B030D-6E8A-4147-A177-3AD203B41FA5}">
                      <a16:colId xmlns:a16="http://schemas.microsoft.com/office/drawing/2014/main" val="1553015338"/>
                    </a:ext>
                  </a:extLst>
                </a:gridCol>
              </a:tblGrid>
              <a:tr h="31120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ONE Mobile Title OTF" panose="00000500000000000000" pitchFamily="50" charset="-127"/>
                          <a:ea typeface="ONE Mobile Title OTF" panose="00000500000000000000" pitchFamily="50" charset="-127"/>
                        </a:rPr>
                        <a:t>생년월일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ONE Mobile Title OTF" panose="00000500000000000000" pitchFamily="50" charset="-127"/>
                          <a:ea typeface="ONE Mobile Title OTF" panose="00000500000000000000" pitchFamily="50" charset="-127"/>
                        </a:rPr>
                        <a:t>이름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ONE Mobile Title OTF" panose="00000500000000000000" pitchFamily="50" charset="-127"/>
                          <a:ea typeface="ONE Mobile Title OTF" panose="00000500000000000000" pitchFamily="50" charset="-127"/>
                        </a:rPr>
                        <a:t>수입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ONE Mobile Title OTF" panose="00000500000000000000" pitchFamily="50" charset="-127"/>
                          <a:ea typeface="ONE Mobile Title OTF" panose="00000500000000000000" pitchFamily="50" charset="-127"/>
                        </a:rPr>
                        <a:t>지출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ONE Mobile Title OTF" panose="00000500000000000000" pitchFamily="50" charset="-127"/>
                          <a:ea typeface="ONE Mobile Title OTF" panose="00000500000000000000" pitchFamily="50" charset="-127"/>
                        </a:rPr>
                        <a:t>직업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743595"/>
                  </a:ext>
                </a:extLst>
              </a:tr>
              <a:tr h="31120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ONE Mobile Title OTF" panose="00000500000000000000" pitchFamily="50" charset="-127"/>
                          <a:ea typeface="ONE Mobile Title OTF" panose="00000500000000000000" pitchFamily="50" charset="-127"/>
                        </a:rPr>
                        <a:t>20020101</a:t>
                      </a:r>
                      <a:endParaRPr lang="ko-KR" altLang="en-US" dirty="0">
                        <a:latin typeface="ONE Mobile Title OTF" panose="00000500000000000000" pitchFamily="50" charset="-127"/>
                        <a:ea typeface="ONE Mobile Title OTF" panose="000005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ONE Mobile Title OTF" panose="00000500000000000000" pitchFamily="50" charset="-127"/>
                          <a:ea typeface="ONE Mobile Title OTF" panose="00000500000000000000" pitchFamily="50" charset="-127"/>
                        </a:rPr>
                        <a:t>박준성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ONE Mobile Title OTF" panose="00000500000000000000" pitchFamily="50" charset="-127"/>
                          <a:ea typeface="ONE Mobile Title OTF" panose="00000500000000000000" pitchFamily="50" charset="-127"/>
                        </a:rPr>
                        <a:t>0</a:t>
                      </a:r>
                      <a:endParaRPr lang="ko-KR" altLang="en-US" dirty="0">
                        <a:latin typeface="ONE Mobile Title OTF" panose="00000500000000000000" pitchFamily="50" charset="-127"/>
                        <a:ea typeface="ONE Mobile Title OTF" panose="000005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ONE Mobile Title OTF" panose="00000500000000000000" pitchFamily="50" charset="-127"/>
                          <a:ea typeface="ONE Mobile Title OTF" panose="00000500000000000000" pitchFamily="50" charset="-127"/>
                        </a:rPr>
                        <a:t>2000</a:t>
                      </a:r>
                      <a:endParaRPr lang="ko-KR" altLang="en-US" dirty="0">
                        <a:latin typeface="ONE Mobile Title OTF" panose="00000500000000000000" pitchFamily="50" charset="-127"/>
                        <a:ea typeface="ONE Mobile Title OTF" panose="000005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latin typeface="ONE Mobile Title OTF" panose="00000500000000000000" pitchFamily="50" charset="-127"/>
                          <a:ea typeface="ONE Mobile Title OTF" panose="00000500000000000000" pitchFamily="50" charset="-127"/>
                        </a:rPr>
                        <a:t>유튜버</a:t>
                      </a:r>
                      <a:endParaRPr lang="ko-KR" altLang="en-US" dirty="0">
                        <a:latin typeface="ONE Mobile Title OTF" panose="00000500000000000000" pitchFamily="50" charset="-127"/>
                        <a:ea typeface="ONE Mobile Title OTF" panose="00000500000000000000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0367932"/>
                  </a:ext>
                </a:extLst>
              </a:tr>
              <a:tr h="31120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ONE Mobile Title OTF" panose="00000500000000000000" pitchFamily="50" charset="-127"/>
                          <a:ea typeface="ONE Mobile Title OTF" panose="00000500000000000000" pitchFamily="50" charset="-127"/>
                        </a:rPr>
                        <a:t>19371231</a:t>
                      </a:r>
                      <a:endParaRPr lang="ko-KR" altLang="en-US" dirty="0">
                        <a:latin typeface="ONE Mobile Title OTF" panose="00000500000000000000" pitchFamily="50" charset="-127"/>
                        <a:ea typeface="ONE Mobile Title OTF" panose="000005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latin typeface="ONE Mobile Title OTF" panose="00000500000000000000" pitchFamily="50" charset="-127"/>
                          <a:ea typeface="ONE Mobile Title OTF" panose="00000500000000000000" pitchFamily="50" charset="-127"/>
                        </a:rPr>
                        <a:t>강한성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ONE Mobile Title OTF" panose="00000500000000000000" pitchFamily="50" charset="-127"/>
                          <a:ea typeface="ONE Mobile Title OTF" panose="00000500000000000000" pitchFamily="50" charset="-127"/>
                        </a:rPr>
                        <a:t>50000</a:t>
                      </a:r>
                      <a:endParaRPr lang="ko-KR" altLang="en-US" dirty="0">
                        <a:latin typeface="ONE Mobile Title OTF" panose="00000500000000000000" pitchFamily="50" charset="-127"/>
                        <a:ea typeface="ONE Mobile Title OTF" panose="000005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ONE Mobile Title OTF" panose="00000500000000000000" pitchFamily="50" charset="-127"/>
                          <a:ea typeface="ONE Mobile Title OTF" panose="00000500000000000000" pitchFamily="50" charset="-127"/>
                        </a:rPr>
                        <a:t>30</a:t>
                      </a:r>
                      <a:endParaRPr lang="ko-KR" altLang="en-US" dirty="0">
                        <a:latin typeface="ONE Mobile Title OTF" panose="00000500000000000000" pitchFamily="50" charset="-127"/>
                        <a:ea typeface="ONE Mobile Title OTF" panose="000005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ONE Mobile Title OTF" panose="00000500000000000000" pitchFamily="50" charset="-127"/>
                          <a:ea typeface="ONE Mobile Title OTF" panose="00000500000000000000" pitchFamily="50" charset="-127"/>
                        </a:rPr>
                        <a:t>가공육제조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2570730"/>
                  </a:ext>
                </a:extLst>
              </a:tr>
              <a:tr h="31120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ONE Mobile Title OTF" panose="00000500000000000000" pitchFamily="50" charset="-127"/>
                          <a:ea typeface="ONE Mobile Title OTF" panose="00000500000000000000" pitchFamily="50" charset="-127"/>
                        </a:rPr>
                        <a:t>19080230</a:t>
                      </a:r>
                      <a:endParaRPr lang="ko-KR" altLang="en-US" dirty="0">
                        <a:latin typeface="ONE Mobile Title OTF" panose="00000500000000000000" pitchFamily="50" charset="-127"/>
                        <a:ea typeface="ONE Mobile Title OTF" panose="000005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ONE Mobile Title OTF" panose="00000500000000000000" pitchFamily="50" charset="-127"/>
                          <a:ea typeface="ONE Mobile Title OTF" panose="00000500000000000000" pitchFamily="50" charset="-127"/>
                        </a:rPr>
                        <a:t>권우현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highlight>
                            <a:srgbClr val="C0C0C0"/>
                          </a:highlight>
                          <a:latin typeface="ONE Mobile Title OTF" panose="00000500000000000000" pitchFamily="50" charset="-127"/>
                          <a:ea typeface="ONE Mobile Title OTF" panose="00000500000000000000" pitchFamily="50" charset="-127"/>
                        </a:rPr>
                        <a:t>NULL</a:t>
                      </a:r>
                      <a:endParaRPr lang="ko-KR" altLang="en-US" dirty="0">
                        <a:highlight>
                          <a:srgbClr val="C0C0C0"/>
                        </a:highlight>
                        <a:latin typeface="ONE Mobile Title OTF" panose="00000500000000000000" pitchFamily="50" charset="-127"/>
                        <a:ea typeface="ONE Mobile Title OTF" panose="00000500000000000000" pitchFamily="50" charset="-127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ONE Mobile Title OTF" panose="00000500000000000000" pitchFamily="50" charset="-127"/>
                          <a:ea typeface="ONE Mobile Title OTF" panose="00000500000000000000" pitchFamily="50" charset="-127"/>
                        </a:rPr>
                        <a:t>10</a:t>
                      </a:r>
                      <a:endParaRPr lang="ko-KR" altLang="en-US" dirty="0">
                        <a:latin typeface="ONE Mobile Title OTF" panose="00000500000000000000" pitchFamily="50" charset="-127"/>
                        <a:ea typeface="ONE Mobile Title OTF" panose="00000500000000000000" pitchFamily="50" charset="-127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latin typeface="ONE Mobile Title OTF" panose="00000500000000000000" pitchFamily="50" charset="-127"/>
                          <a:ea typeface="ONE Mobile Title OTF" panose="00000500000000000000" pitchFamily="50" charset="-127"/>
                        </a:rPr>
                        <a:t>일식집</a:t>
                      </a:r>
                      <a:r>
                        <a:rPr lang="ko-KR" altLang="en-US" dirty="0">
                          <a:latin typeface="ONE Mobile Title OTF" panose="00000500000000000000" pitchFamily="50" charset="-127"/>
                          <a:ea typeface="ONE Mobile Title OTF" panose="00000500000000000000" pitchFamily="50" charset="-127"/>
                        </a:rPr>
                        <a:t> 운영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9387133"/>
                  </a:ext>
                </a:extLst>
              </a:tr>
            </a:tbl>
          </a:graphicData>
        </a:graphic>
      </p:graphicFrame>
      <p:sp>
        <p:nvSpPr>
          <p:cNvPr id="38" name="TextBox 37">
            <a:extLst>
              <a:ext uri="{FF2B5EF4-FFF2-40B4-BE49-F238E27FC236}">
                <a16:creationId xmlns:a16="http://schemas.microsoft.com/office/drawing/2014/main" id="{5B3DFA6C-95F7-A0A6-3EC5-E09D8FE78810}"/>
              </a:ext>
            </a:extLst>
          </p:cNvPr>
          <p:cNvSpPr txBox="1"/>
          <p:nvPr/>
        </p:nvSpPr>
        <p:spPr>
          <a:xfrm>
            <a:off x="6930261" y="1893471"/>
            <a:ext cx="12409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(</a:t>
            </a:r>
            <a:r>
              <a:rPr lang="ko-KR" altLang="en-US" sz="1400" dirty="0"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단위 </a:t>
            </a:r>
            <a:r>
              <a:rPr lang="en-US" altLang="ko-KR" sz="1400" dirty="0"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: </a:t>
            </a:r>
            <a:r>
              <a:rPr lang="ko-KR" altLang="en-US" sz="1400" dirty="0"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만 원</a:t>
            </a:r>
            <a:r>
              <a:rPr lang="en-US" altLang="ko-KR" sz="1400" dirty="0"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)</a:t>
            </a:r>
            <a:endParaRPr lang="ko-KR" altLang="en-US" sz="1400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E8BE8D4B-21BB-2EB7-AB3D-588D737C5B01}"/>
              </a:ext>
            </a:extLst>
          </p:cNvPr>
          <p:cNvGraphicFramePr>
            <a:graphicFrameLocks noGrp="1"/>
          </p:cNvGraphicFramePr>
          <p:nvPr/>
        </p:nvGraphicFramePr>
        <p:xfrm>
          <a:off x="1079801" y="4435021"/>
          <a:ext cx="6992255" cy="1463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98451">
                  <a:extLst>
                    <a:ext uri="{9D8B030D-6E8A-4147-A177-3AD203B41FA5}">
                      <a16:colId xmlns:a16="http://schemas.microsoft.com/office/drawing/2014/main" val="2163133311"/>
                    </a:ext>
                  </a:extLst>
                </a:gridCol>
                <a:gridCol w="1398451">
                  <a:extLst>
                    <a:ext uri="{9D8B030D-6E8A-4147-A177-3AD203B41FA5}">
                      <a16:colId xmlns:a16="http://schemas.microsoft.com/office/drawing/2014/main" val="2609987796"/>
                    </a:ext>
                  </a:extLst>
                </a:gridCol>
                <a:gridCol w="1398451">
                  <a:extLst>
                    <a:ext uri="{9D8B030D-6E8A-4147-A177-3AD203B41FA5}">
                      <a16:colId xmlns:a16="http://schemas.microsoft.com/office/drawing/2014/main" val="1012695025"/>
                    </a:ext>
                  </a:extLst>
                </a:gridCol>
                <a:gridCol w="1345476">
                  <a:extLst>
                    <a:ext uri="{9D8B030D-6E8A-4147-A177-3AD203B41FA5}">
                      <a16:colId xmlns:a16="http://schemas.microsoft.com/office/drawing/2014/main" val="3055724557"/>
                    </a:ext>
                  </a:extLst>
                </a:gridCol>
                <a:gridCol w="1451426">
                  <a:extLst>
                    <a:ext uri="{9D8B030D-6E8A-4147-A177-3AD203B41FA5}">
                      <a16:colId xmlns:a16="http://schemas.microsoft.com/office/drawing/2014/main" val="1553015338"/>
                    </a:ext>
                  </a:extLst>
                </a:gridCol>
              </a:tblGrid>
              <a:tr h="31120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ONE Mobile Title OTF" panose="00000500000000000000" pitchFamily="50" charset="-127"/>
                          <a:ea typeface="ONE Mobile Title OTF" panose="00000500000000000000" pitchFamily="50" charset="-127"/>
                        </a:rPr>
                        <a:t>생년월일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ONE Mobile Title OTF" panose="00000500000000000000" pitchFamily="50" charset="-127"/>
                          <a:ea typeface="ONE Mobile Title OTF" panose="00000500000000000000" pitchFamily="50" charset="-127"/>
                        </a:rPr>
                        <a:t>이름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ONE Mobile Title OTF" panose="00000500000000000000" pitchFamily="50" charset="-127"/>
                          <a:ea typeface="ONE Mobile Title OTF" panose="00000500000000000000" pitchFamily="50" charset="-127"/>
                        </a:rPr>
                        <a:t>수입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ONE Mobile Title OTF" panose="00000500000000000000" pitchFamily="50" charset="-127"/>
                          <a:ea typeface="ONE Mobile Title OTF" panose="00000500000000000000" pitchFamily="50" charset="-127"/>
                        </a:rPr>
                        <a:t>지출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ONE Mobile Title OTF" panose="00000500000000000000" pitchFamily="50" charset="-127"/>
                          <a:ea typeface="ONE Mobile Title OTF" panose="00000500000000000000" pitchFamily="50" charset="-127"/>
                        </a:rPr>
                        <a:t>직업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743595"/>
                  </a:ext>
                </a:extLst>
              </a:tr>
              <a:tr h="31120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ONE Mobile Title OTF" panose="00000500000000000000" pitchFamily="50" charset="-127"/>
                          <a:ea typeface="ONE Mobile Title OTF" panose="00000500000000000000" pitchFamily="50" charset="-127"/>
                        </a:rPr>
                        <a:t>20020101</a:t>
                      </a:r>
                      <a:endParaRPr lang="ko-KR" altLang="en-US" dirty="0">
                        <a:latin typeface="ONE Mobile Title OTF" panose="00000500000000000000" pitchFamily="50" charset="-127"/>
                        <a:ea typeface="ONE Mobile Title OTF" panose="000005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ONE Mobile Title OTF" panose="00000500000000000000" pitchFamily="50" charset="-127"/>
                          <a:ea typeface="ONE Mobile Title OTF" panose="00000500000000000000" pitchFamily="50" charset="-127"/>
                        </a:rPr>
                        <a:t>박준성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ONE Mobile Title OTF" panose="00000500000000000000" pitchFamily="50" charset="-127"/>
                          <a:ea typeface="ONE Mobile Title OTF" panose="00000500000000000000" pitchFamily="50" charset="-127"/>
                        </a:rPr>
                        <a:t>0</a:t>
                      </a:r>
                      <a:endParaRPr lang="ko-KR" altLang="en-US" dirty="0">
                        <a:latin typeface="ONE Mobile Title OTF" panose="00000500000000000000" pitchFamily="50" charset="-127"/>
                        <a:ea typeface="ONE Mobile Title OTF" panose="00000500000000000000" pitchFamily="50" charset="-127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ONE Mobile Title OTF" panose="00000500000000000000" pitchFamily="50" charset="-127"/>
                          <a:ea typeface="ONE Mobile Title OTF" panose="00000500000000000000" pitchFamily="50" charset="-127"/>
                        </a:rPr>
                        <a:t>2000</a:t>
                      </a:r>
                      <a:endParaRPr lang="ko-KR" altLang="en-US" dirty="0">
                        <a:latin typeface="ONE Mobile Title OTF" panose="00000500000000000000" pitchFamily="50" charset="-127"/>
                        <a:ea typeface="ONE Mobile Title OTF" panose="000005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latin typeface="ONE Mobile Title OTF" panose="00000500000000000000" pitchFamily="50" charset="-127"/>
                          <a:ea typeface="ONE Mobile Title OTF" panose="00000500000000000000" pitchFamily="50" charset="-127"/>
                        </a:rPr>
                        <a:t>유튜버</a:t>
                      </a:r>
                      <a:endParaRPr lang="ko-KR" altLang="en-US" dirty="0">
                        <a:latin typeface="ONE Mobile Title OTF" panose="00000500000000000000" pitchFamily="50" charset="-127"/>
                        <a:ea typeface="ONE Mobile Title OTF" panose="00000500000000000000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0367932"/>
                  </a:ext>
                </a:extLst>
              </a:tr>
              <a:tr h="31120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ONE Mobile Title OTF" panose="00000500000000000000" pitchFamily="50" charset="-127"/>
                          <a:ea typeface="ONE Mobile Title OTF" panose="00000500000000000000" pitchFamily="50" charset="-127"/>
                        </a:rPr>
                        <a:t>19371231</a:t>
                      </a:r>
                      <a:endParaRPr lang="ko-KR" altLang="en-US" dirty="0">
                        <a:latin typeface="ONE Mobile Title OTF" panose="00000500000000000000" pitchFamily="50" charset="-127"/>
                        <a:ea typeface="ONE Mobile Title OTF" panose="000005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latin typeface="ONE Mobile Title OTF" panose="00000500000000000000" pitchFamily="50" charset="-127"/>
                          <a:ea typeface="ONE Mobile Title OTF" panose="00000500000000000000" pitchFamily="50" charset="-127"/>
                        </a:rPr>
                        <a:t>강한성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ONE Mobile Title OTF" panose="00000500000000000000" pitchFamily="50" charset="-127"/>
                          <a:ea typeface="ONE Mobile Title OTF" panose="00000500000000000000" pitchFamily="50" charset="-127"/>
                        </a:rPr>
                        <a:t>50000</a:t>
                      </a:r>
                      <a:endParaRPr lang="ko-KR" altLang="en-US" dirty="0">
                        <a:latin typeface="ONE Mobile Title OTF" panose="00000500000000000000" pitchFamily="50" charset="-127"/>
                        <a:ea typeface="ONE Mobile Title OTF" panose="00000500000000000000" pitchFamily="50" charset="-127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ONE Mobile Title OTF" panose="00000500000000000000" pitchFamily="50" charset="-127"/>
                          <a:ea typeface="ONE Mobile Title OTF" panose="00000500000000000000" pitchFamily="50" charset="-127"/>
                        </a:rPr>
                        <a:t>30</a:t>
                      </a:r>
                      <a:endParaRPr lang="ko-KR" altLang="en-US" dirty="0">
                        <a:latin typeface="ONE Mobile Title OTF" panose="00000500000000000000" pitchFamily="50" charset="-127"/>
                        <a:ea typeface="ONE Mobile Title OTF" panose="000005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ONE Mobile Title OTF" panose="00000500000000000000" pitchFamily="50" charset="-127"/>
                          <a:ea typeface="ONE Mobile Title OTF" panose="00000500000000000000" pitchFamily="50" charset="-127"/>
                        </a:rPr>
                        <a:t>가공육제조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2570730"/>
                  </a:ext>
                </a:extLst>
              </a:tr>
              <a:tr h="31120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ONE Mobile Title OTF" panose="00000500000000000000" pitchFamily="50" charset="-127"/>
                          <a:ea typeface="ONE Mobile Title OTF" panose="00000500000000000000" pitchFamily="50" charset="-127"/>
                        </a:rPr>
                        <a:t>19080230</a:t>
                      </a:r>
                      <a:endParaRPr lang="ko-KR" altLang="en-US" dirty="0">
                        <a:latin typeface="ONE Mobile Title OTF" panose="00000500000000000000" pitchFamily="50" charset="-127"/>
                        <a:ea typeface="ONE Mobile Title OTF" panose="000005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ONE Mobile Title OTF" panose="00000500000000000000" pitchFamily="50" charset="-127"/>
                          <a:ea typeface="ONE Mobile Title OTF" panose="00000500000000000000" pitchFamily="50" charset="-127"/>
                        </a:rPr>
                        <a:t>권우현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highlight>
                            <a:srgbClr val="C0C0C0"/>
                          </a:highlight>
                          <a:latin typeface="ONE Mobile Title OTF" panose="00000500000000000000" pitchFamily="50" charset="-127"/>
                          <a:ea typeface="ONE Mobile Title OTF" panose="00000500000000000000" pitchFamily="50" charset="-127"/>
                        </a:rPr>
                        <a:t>NULL</a:t>
                      </a:r>
                      <a:endParaRPr lang="ko-KR" altLang="en-US" dirty="0">
                        <a:highlight>
                          <a:srgbClr val="C0C0C0"/>
                        </a:highlight>
                        <a:latin typeface="ONE Mobile Title OTF" panose="00000500000000000000" pitchFamily="50" charset="-127"/>
                        <a:ea typeface="ONE Mobile Title OTF" panose="00000500000000000000" pitchFamily="50" charset="-127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ONE Mobile Title OTF" panose="00000500000000000000" pitchFamily="50" charset="-127"/>
                          <a:ea typeface="ONE Mobile Title OTF" panose="00000500000000000000" pitchFamily="50" charset="-127"/>
                        </a:rPr>
                        <a:t>10</a:t>
                      </a:r>
                      <a:endParaRPr lang="ko-KR" altLang="en-US" dirty="0">
                        <a:latin typeface="ONE Mobile Title OTF" panose="00000500000000000000" pitchFamily="50" charset="-127"/>
                        <a:ea typeface="ONE Mobile Title OTF" panose="000005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latin typeface="ONE Mobile Title OTF" panose="00000500000000000000" pitchFamily="50" charset="-127"/>
                          <a:ea typeface="ONE Mobile Title OTF" panose="00000500000000000000" pitchFamily="50" charset="-127"/>
                        </a:rPr>
                        <a:t>일식집</a:t>
                      </a:r>
                      <a:r>
                        <a:rPr lang="ko-KR" altLang="en-US" dirty="0">
                          <a:latin typeface="ONE Mobile Title OTF" panose="00000500000000000000" pitchFamily="50" charset="-127"/>
                          <a:ea typeface="ONE Mobile Title OTF" panose="00000500000000000000" pitchFamily="50" charset="-127"/>
                        </a:rPr>
                        <a:t> 운영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938713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E95E6D93-EDCC-188A-6512-CCFAA3A9E607}"/>
              </a:ext>
            </a:extLst>
          </p:cNvPr>
          <p:cNvSpPr txBox="1"/>
          <p:nvPr/>
        </p:nvSpPr>
        <p:spPr>
          <a:xfrm>
            <a:off x="980625" y="1837294"/>
            <a:ext cx="10198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solidFill>
                  <a:schemeClr val="tx2">
                    <a:lumMod val="50000"/>
                    <a:lumOff val="50000"/>
                  </a:schemeClr>
                </a:solidFill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가로 연산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A288BF7-634E-6C50-E6C5-9A092C6764F4}"/>
              </a:ext>
            </a:extLst>
          </p:cNvPr>
          <p:cNvSpPr txBox="1"/>
          <p:nvPr/>
        </p:nvSpPr>
        <p:spPr>
          <a:xfrm>
            <a:off x="980217" y="4071586"/>
            <a:ext cx="10198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solidFill>
                  <a:schemeClr val="tx2">
                    <a:lumMod val="50000"/>
                    <a:lumOff val="50000"/>
                  </a:schemeClr>
                </a:solidFill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세로 연산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EDD6CB-BD25-4E88-B7E8-E7FF86AB4026}"/>
              </a:ext>
            </a:extLst>
          </p:cNvPr>
          <p:cNvSpPr txBox="1"/>
          <p:nvPr/>
        </p:nvSpPr>
        <p:spPr>
          <a:xfrm>
            <a:off x="6930261" y="4123909"/>
            <a:ext cx="12409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(</a:t>
            </a:r>
            <a:r>
              <a:rPr lang="ko-KR" altLang="en-US" sz="1400" dirty="0"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단위 </a:t>
            </a:r>
            <a:r>
              <a:rPr lang="en-US" altLang="ko-KR" sz="1400" dirty="0"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: </a:t>
            </a:r>
            <a:r>
              <a:rPr lang="ko-KR" altLang="en-US" sz="1400" dirty="0"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만 원</a:t>
            </a:r>
            <a:r>
              <a:rPr lang="en-US" altLang="ko-KR" sz="1400" dirty="0"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)</a:t>
            </a:r>
            <a:endParaRPr lang="ko-KR" altLang="en-US" sz="1400" dirty="0"/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13B0FC92-09E6-A4A5-4BF3-F22AD96A2096}"/>
              </a:ext>
            </a:extLst>
          </p:cNvPr>
          <p:cNvCxnSpPr>
            <a:cxnSpLocks/>
          </p:cNvCxnSpPr>
          <p:nvPr/>
        </p:nvCxnSpPr>
        <p:spPr>
          <a:xfrm flipV="1">
            <a:off x="5401734" y="2387514"/>
            <a:ext cx="2987438" cy="1041486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7A5C976-5329-7A17-5B60-36CA93F6B7AB}"/>
              </a:ext>
            </a:extLst>
          </p:cNvPr>
          <p:cNvSpPr/>
          <p:nvPr/>
        </p:nvSpPr>
        <p:spPr>
          <a:xfrm>
            <a:off x="8389556" y="2208226"/>
            <a:ext cx="2800037" cy="14381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rgbClr val="C00000"/>
                </a:solidFill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Result</a:t>
            </a:r>
            <a:r>
              <a:rPr lang="en-US" altLang="ko-KR" dirty="0">
                <a:solidFill>
                  <a:schemeClr val="tx1"/>
                </a:solidFill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 : </a:t>
            </a:r>
            <a:r>
              <a:rPr lang="en-US" altLang="ko-KR" dirty="0">
                <a:solidFill>
                  <a:schemeClr val="tx1"/>
                </a:solidFill>
                <a:highlight>
                  <a:srgbClr val="C0C0C0"/>
                </a:highlight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NULL</a:t>
            </a:r>
          </a:p>
          <a:p>
            <a:endParaRPr lang="en-US" altLang="ko-KR" dirty="0">
              <a:solidFill>
                <a:schemeClr val="tx1"/>
              </a:solidFill>
              <a:latin typeface="ONE Mobile Title OTF" panose="00000500000000000000" pitchFamily="50" charset="-127"/>
              <a:ea typeface="ONE Mobile Title OTF" panose="00000500000000000000" pitchFamily="50" charset="-127"/>
            </a:endParaRPr>
          </a:p>
          <a:p>
            <a:r>
              <a:rPr lang="ko-KR" altLang="en-US" dirty="0">
                <a:solidFill>
                  <a:schemeClr val="tx1"/>
                </a:solidFill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가로 연산 시</a:t>
            </a:r>
            <a:r>
              <a:rPr lang="en-US" altLang="ko-KR" dirty="0">
                <a:solidFill>
                  <a:schemeClr val="tx1"/>
                </a:solidFill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,</a:t>
            </a:r>
          </a:p>
          <a:p>
            <a:r>
              <a:rPr lang="en-US" altLang="ko-KR" dirty="0">
                <a:solidFill>
                  <a:schemeClr val="tx1"/>
                </a:solidFill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NULL</a:t>
            </a:r>
            <a:r>
              <a:rPr lang="ko-KR" altLang="en-US" dirty="0">
                <a:solidFill>
                  <a:schemeClr val="tx1"/>
                </a:solidFill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이 포함되어 있으면</a:t>
            </a:r>
            <a:endParaRPr lang="en-US" altLang="ko-KR" dirty="0">
              <a:solidFill>
                <a:schemeClr val="tx1"/>
              </a:solidFill>
              <a:latin typeface="ONE Mobile Title OTF" panose="00000500000000000000" pitchFamily="50" charset="-127"/>
              <a:ea typeface="ONE Mobile Title OTF" panose="00000500000000000000" pitchFamily="50" charset="-127"/>
            </a:endParaRPr>
          </a:p>
          <a:p>
            <a:r>
              <a:rPr lang="ko-KR" altLang="en-US" dirty="0">
                <a:solidFill>
                  <a:schemeClr val="tx1"/>
                </a:solidFill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결과값도 </a:t>
            </a:r>
            <a:r>
              <a:rPr lang="en-US" altLang="ko-KR" dirty="0">
                <a:solidFill>
                  <a:schemeClr val="tx1"/>
                </a:solidFill>
                <a:highlight>
                  <a:srgbClr val="C0C0C0"/>
                </a:highlight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NULL</a:t>
            </a:r>
            <a:r>
              <a:rPr lang="ko-KR" altLang="en-US" dirty="0">
                <a:solidFill>
                  <a:schemeClr val="tx1"/>
                </a:solidFill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이다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99903E92-3169-3CC6-8E93-D49CA369AE95}"/>
              </a:ext>
            </a:extLst>
          </p:cNvPr>
          <p:cNvCxnSpPr>
            <a:cxnSpLocks/>
          </p:cNvCxnSpPr>
          <p:nvPr/>
        </p:nvCxnSpPr>
        <p:spPr>
          <a:xfrm flipV="1">
            <a:off x="5133822" y="4643352"/>
            <a:ext cx="3255350" cy="70961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8CDDDD4-2799-B8D6-6D5D-1D2B3200D15A}"/>
              </a:ext>
            </a:extLst>
          </p:cNvPr>
          <p:cNvSpPr/>
          <p:nvPr/>
        </p:nvSpPr>
        <p:spPr>
          <a:xfrm>
            <a:off x="8389172" y="4437826"/>
            <a:ext cx="2800037" cy="14381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rgbClr val="C00000"/>
                </a:solidFill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Result</a:t>
            </a:r>
            <a:r>
              <a:rPr lang="en-US" altLang="ko-KR" dirty="0">
                <a:solidFill>
                  <a:schemeClr val="tx1"/>
                </a:solidFill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 : </a:t>
            </a:r>
            <a:r>
              <a:rPr lang="en-US" altLang="ko-KR" dirty="0">
                <a:solidFill>
                  <a:schemeClr val="bg2">
                    <a:lumMod val="25000"/>
                  </a:schemeClr>
                </a:solidFill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50000</a:t>
            </a:r>
          </a:p>
          <a:p>
            <a:endParaRPr lang="en-US" altLang="ko-KR" dirty="0">
              <a:solidFill>
                <a:schemeClr val="tx1"/>
              </a:solidFill>
              <a:latin typeface="ONE Mobile Title OTF" panose="00000500000000000000" pitchFamily="50" charset="-127"/>
              <a:ea typeface="ONE Mobile Title OTF" panose="00000500000000000000" pitchFamily="50" charset="-127"/>
            </a:endParaRPr>
          </a:p>
          <a:p>
            <a:r>
              <a:rPr lang="ko-KR" altLang="en-US" dirty="0">
                <a:solidFill>
                  <a:schemeClr val="tx1"/>
                </a:solidFill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세로 연산 시</a:t>
            </a:r>
            <a:r>
              <a:rPr lang="en-US" altLang="ko-KR" dirty="0">
                <a:solidFill>
                  <a:schemeClr val="tx1"/>
                </a:solidFill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,</a:t>
            </a:r>
          </a:p>
          <a:p>
            <a:r>
              <a:rPr lang="en-US" altLang="ko-KR" dirty="0">
                <a:solidFill>
                  <a:schemeClr val="tx1"/>
                </a:solidFill>
                <a:highlight>
                  <a:srgbClr val="C0C0C0"/>
                </a:highlight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NULL</a:t>
            </a:r>
            <a:r>
              <a:rPr lang="ko-KR" altLang="en-US" dirty="0">
                <a:solidFill>
                  <a:schemeClr val="tx1"/>
                </a:solidFill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이 포함되어 있으면</a:t>
            </a:r>
            <a:endParaRPr lang="en-US" altLang="ko-KR" dirty="0">
              <a:solidFill>
                <a:schemeClr val="tx1"/>
              </a:solidFill>
              <a:latin typeface="ONE Mobile Title OTF" panose="00000500000000000000" pitchFamily="50" charset="-127"/>
              <a:ea typeface="ONE Mobile Title OTF" panose="00000500000000000000" pitchFamily="50" charset="-127"/>
            </a:endParaRPr>
          </a:p>
          <a:p>
            <a:r>
              <a:rPr lang="en-US" altLang="ko-KR" dirty="0">
                <a:solidFill>
                  <a:schemeClr val="tx1"/>
                </a:solidFill>
                <a:highlight>
                  <a:srgbClr val="C0C0C0"/>
                </a:highlight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NULL</a:t>
            </a:r>
            <a:r>
              <a:rPr lang="ko-KR" altLang="en-US" dirty="0">
                <a:solidFill>
                  <a:schemeClr val="tx1"/>
                </a:solidFill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값은 제외한다</a:t>
            </a:r>
            <a:endParaRPr lang="en-US" altLang="ko-KR" dirty="0">
              <a:solidFill>
                <a:schemeClr val="tx1"/>
              </a:solidFill>
              <a:latin typeface="ONE Mobile Title OTF" panose="00000500000000000000" pitchFamily="50" charset="-127"/>
              <a:ea typeface="ONE Mobile Title OTF" panose="00000500000000000000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8A88F90-4B28-358C-6D38-AB7E28BC9BFD}"/>
              </a:ext>
            </a:extLst>
          </p:cNvPr>
          <p:cNvSpPr txBox="1"/>
          <p:nvPr/>
        </p:nvSpPr>
        <p:spPr>
          <a:xfrm>
            <a:off x="5106006" y="3270123"/>
            <a:ext cx="3481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rgbClr val="C00000"/>
                </a:solidFill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+</a:t>
            </a:r>
            <a:endParaRPr lang="ko-KR" altLang="en-US" sz="2000" dirty="0">
              <a:solidFill>
                <a:srgbClr val="C00000"/>
              </a:solidFill>
              <a:latin typeface="ONE Mobile Title OTF" panose="00000500000000000000" pitchFamily="50" charset="-127"/>
              <a:ea typeface="ONE Mobile Title OTF" panose="00000500000000000000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D2023C6-DA9C-0B75-5357-70850E6F2F4A}"/>
              </a:ext>
            </a:extLst>
          </p:cNvPr>
          <p:cNvSpPr txBox="1"/>
          <p:nvPr/>
        </p:nvSpPr>
        <p:spPr>
          <a:xfrm>
            <a:off x="4401842" y="4948254"/>
            <a:ext cx="3481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rgbClr val="C00000"/>
                </a:solidFill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+</a:t>
            </a:r>
            <a:endParaRPr lang="ko-KR" altLang="en-US" sz="2000" dirty="0">
              <a:solidFill>
                <a:srgbClr val="C00000"/>
              </a:solidFill>
              <a:latin typeface="ONE Mobile Title OTF" panose="00000500000000000000" pitchFamily="50" charset="-127"/>
              <a:ea typeface="ONE Mobile Title OTF" panose="00000500000000000000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342DE44-3189-C85B-F508-8070AFACEDA8}"/>
              </a:ext>
            </a:extLst>
          </p:cNvPr>
          <p:cNvSpPr txBox="1"/>
          <p:nvPr/>
        </p:nvSpPr>
        <p:spPr>
          <a:xfrm>
            <a:off x="4401842" y="5321186"/>
            <a:ext cx="3481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rgbClr val="C00000"/>
                </a:solidFill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+</a:t>
            </a:r>
            <a:endParaRPr lang="ko-KR" altLang="en-US" sz="2000" dirty="0">
              <a:solidFill>
                <a:srgbClr val="C00000"/>
              </a:solidFill>
              <a:latin typeface="ONE Mobile Title OTF" panose="00000500000000000000" pitchFamily="50" charset="-127"/>
              <a:ea typeface="ONE Mobile Title OTF" panose="000005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934146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7333" y="381000"/>
            <a:ext cx="2573867" cy="508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7600" y="381000"/>
            <a:ext cx="2573867" cy="508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7867" y="381000"/>
            <a:ext cx="2573867" cy="5080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20133"/>
            <a:ext cx="3251200" cy="643467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753533"/>
            <a:ext cx="12192000" cy="6104467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1733" y="1075267"/>
            <a:ext cx="11557000" cy="5469467"/>
          </a:xfrm>
          <a:prstGeom prst="rect">
            <a:avLst/>
          </a:prstGeom>
          <a:effectLst>
            <a:outerShdw blurRad="669826" dist="252339" dir="2700000">
              <a:srgbClr val="000000">
                <a:alpha val="10000"/>
              </a:srgbClr>
            </a:outerShdw>
          </a:effectLst>
        </p:spPr>
      </p:pic>
      <p:sp>
        <p:nvSpPr>
          <p:cNvPr id="15" name="TextBox 15"/>
          <p:cNvSpPr txBox="1"/>
          <p:nvPr/>
        </p:nvSpPr>
        <p:spPr>
          <a:xfrm>
            <a:off x="2116667" y="5190067"/>
            <a:ext cx="2319867" cy="423333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24499"/>
              </a:lnSpc>
            </a:pPr>
            <a:r>
              <a:rPr lang="ko-KR" sz="2400" b="0" i="0" u="none" strike="noStrike" spc="67">
                <a:solidFill>
                  <a:srgbClr val="FFFFFF"/>
                </a:solidFill>
                <a:ea typeface="ONE Mobile Title OTF"/>
              </a:rPr>
              <a:t>핵심</a:t>
            </a:r>
            <a:r>
              <a:rPr lang="en-US" sz="2400" b="0" i="0" u="none" strike="noStrike" spc="67">
                <a:solidFill>
                  <a:srgbClr val="FFFFFF"/>
                </a:solidFill>
                <a:latin typeface="ONE Mobile Title OTF"/>
              </a:rPr>
              <a:t> </a:t>
            </a:r>
            <a:r>
              <a:rPr lang="ko-KR" sz="2400" b="0" i="0" u="none" strike="noStrike" spc="67">
                <a:solidFill>
                  <a:srgbClr val="FFFFFF"/>
                </a:solidFill>
                <a:ea typeface="ONE Mobile Title OTF"/>
              </a:rPr>
              <a:t>키워드</a:t>
            </a:r>
            <a:r>
              <a:rPr lang="en-US" sz="2400" b="0" i="0" u="none" strike="noStrike" spc="67">
                <a:solidFill>
                  <a:srgbClr val="FFFFFF"/>
                </a:solidFill>
                <a:latin typeface="ONE Mobile Title OTF"/>
              </a:rPr>
              <a:t> 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125133" y="3022600"/>
            <a:ext cx="2311400" cy="423333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24499"/>
              </a:lnSpc>
            </a:pPr>
            <a:r>
              <a:rPr lang="ko-KR" sz="2400" b="0" i="0" u="none" strike="noStrike" spc="67">
                <a:solidFill>
                  <a:srgbClr val="FFFFFF"/>
                </a:solidFill>
                <a:ea typeface="ONE Mobile Title OTF"/>
              </a:rPr>
              <a:t>핵심</a:t>
            </a:r>
            <a:r>
              <a:rPr lang="en-US" sz="2400" b="0" i="0" u="none" strike="noStrike" spc="67">
                <a:solidFill>
                  <a:srgbClr val="FFFFFF"/>
                </a:solidFill>
                <a:latin typeface="ONE Mobile Title OTF"/>
              </a:rPr>
              <a:t> </a:t>
            </a:r>
            <a:r>
              <a:rPr lang="ko-KR" sz="2400" b="0" i="0" u="none" strike="noStrike" spc="67">
                <a:solidFill>
                  <a:srgbClr val="FFFFFF"/>
                </a:solidFill>
                <a:ea typeface="ONE Mobile Title OTF"/>
              </a:rPr>
              <a:t>키워드</a:t>
            </a:r>
            <a:r>
              <a:rPr lang="en-US" sz="2400" b="0" i="0" u="none" strike="noStrike" spc="67">
                <a:solidFill>
                  <a:srgbClr val="FFFFFF"/>
                </a:solidFill>
                <a:latin typeface="ONE Mobile Title OTF"/>
              </a:rPr>
              <a:t> 1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996070" y="3582396"/>
            <a:ext cx="8212667" cy="855133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16199"/>
              </a:lnSpc>
            </a:pPr>
            <a:r>
              <a:rPr lang="ko-KR" altLang="en-US" sz="9650" b="1">
                <a:solidFill>
                  <a:srgbClr val="CFBFE6"/>
                </a:solidFill>
                <a:ea typeface="ONE Mobile Title OTF"/>
              </a:rPr>
              <a:t>감사합니다</a:t>
            </a:r>
          </a:p>
          <a:p>
            <a:pPr algn="ctr">
              <a:lnSpc>
                <a:spcPct val="116199"/>
              </a:lnSpc>
            </a:pPr>
            <a:r>
              <a:rPr lang="ko-KR" altLang="en-US" sz="4400" b="1" err="1">
                <a:solidFill>
                  <a:srgbClr val="CFBFE6"/>
                </a:solidFill>
                <a:ea typeface="ONE Mobile Title OTF"/>
              </a:rPr>
              <a:t>Thank</a:t>
            </a:r>
            <a:r>
              <a:rPr lang="ko-KR" altLang="en-US" sz="4400" b="1">
                <a:solidFill>
                  <a:srgbClr val="CFBFE6"/>
                </a:solidFill>
                <a:ea typeface="ONE Mobile Title OTF"/>
              </a:rPr>
              <a:t> </a:t>
            </a:r>
            <a:r>
              <a:rPr lang="ko-KR" altLang="en-US" sz="4400" b="1" err="1">
                <a:solidFill>
                  <a:srgbClr val="CFBFE6"/>
                </a:solidFill>
                <a:ea typeface="ONE Mobile Title OTF"/>
              </a:rPr>
              <a:t>you</a:t>
            </a:r>
            <a:endParaRPr lang="ko-KR" altLang="en-US" sz="4400" b="1">
              <a:solidFill>
                <a:srgbClr val="CFBFE6"/>
              </a:solidFill>
              <a:ea typeface="ONE Mobile Title OTF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491067" y="423333"/>
            <a:ext cx="1998133" cy="279400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04580"/>
              </a:lnSpc>
            </a:pPr>
            <a:r>
              <a:rPr lang="en-US" sz="1600" b="0" i="0" u="none" strike="noStrike" spc="400">
                <a:solidFill>
                  <a:srgbClr val="FFFFFF"/>
                </a:solidFill>
                <a:latin typeface="Pretendard Bold"/>
              </a:rPr>
              <a:t>EFFECT</a:t>
            </a:r>
          </a:p>
        </p:txBody>
      </p:sp>
      <p:pic>
        <p:nvPicPr>
          <p:cNvPr id="23" name="Picture 8" descr="원이(가) 표시된 사진&#10;&#10;자동 생성된 설명">
            <a:extLst>
              <a:ext uri="{FF2B5EF4-FFF2-40B4-BE49-F238E27FC236}">
                <a16:creationId xmlns:a16="http://schemas.microsoft.com/office/drawing/2014/main" id="{6CD044A3-A66C-C1B2-9B9D-77CF6D15A7E1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30000"/>
          </a:blip>
          <a:stretch>
            <a:fillRect/>
          </a:stretch>
        </p:blipFill>
        <p:spPr>
          <a:xfrm>
            <a:off x="9509276" y="4546600"/>
            <a:ext cx="1100667" cy="1100667"/>
          </a:xfrm>
          <a:prstGeom prst="rect">
            <a:avLst/>
          </a:prstGeom>
        </p:spPr>
      </p:pic>
      <p:pic>
        <p:nvPicPr>
          <p:cNvPr id="25" name="Picture 9" descr="원, 천체이(가) 표시된 사진&#10;&#10;자동 생성된 설명">
            <a:extLst>
              <a:ext uri="{FF2B5EF4-FFF2-40B4-BE49-F238E27FC236}">
                <a16:creationId xmlns:a16="http://schemas.microsoft.com/office/drawing/2014/main" id="{E57DEDEB-0765-78B6-8703-7CA84CA06A9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54810" y="4792133"/>
            <a:ext cx="609600" cy="609600"/>
          </a:xfrm>
          <a:prstGeom prst="rect">
            <a:avLst/>
          </a:prstGeom>
        </p:spPr>
      </p:pic>
      <p:pic>
        <p:nvPicPr>
          <p:cNvPr id="27" name="Picture 10" descr="폰트, 화이트, 그래픽, 상징이(가) 표시된 사진&#10;&#10;자동 생성된 설명">
            <a:extLst>
              <a:ext uri="{FF2B5EF4-FFF2-40B4-BE49-F238E27FC236}">
                <a16:creationId xmlns:a16="http://schemas.microsoft.com/office/drawing/2014/main" id="{93CD6ECE-1451-C4EF-5277-7BD4F49D7A6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0700000">
            <a:off x="10152743" y="4961467"/>
            <a:ext cx="448733" cy="745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278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5B6C410-EA12-7FF0-921E-3B5EB693C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A9B8979D-46B6-5951-0DA4-228F753BF1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7333" y="381000"/>
            <a:ext cx="2573867" cy="5080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AB6221DE-A7A7-DAFE-A89E-AFBAB308ED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7600" y="381000"/>
            <a:ext cx="2573867" cy="5080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37725071-CF14-B3E3-B689-3922770D96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7867" y="381000"/>
            <a:ext cx="2573867" cy="5080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17629F51-D77A-C5E3-2A55-C217EB8C6E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20133"/>
            <a:ext cx="3251200" cy="643467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5CEE47D3-3CB0-719F-C9BF-AA92B2388E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4" y="753533"/>
            <a:ext cx="12192000" cy="6104467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8ED4016A-E12D-43BF-F93B-5509AA817A2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7500" y="1126066"/>
            <a:ext cx="11557000" cy="5469467"/>
          </a:xfrm>
          <a:prstGeom prst="rect">
            <a:avLst/>
          </a:prstGeom>
          <a:effectLst>
            <a:outerShdw blurRad="669826" dist="252339" dir="2700000">
              <a:srgbClr val="000000">
                <a:alpha val="10000"/>
              </a:srgbClr>
            </a:outerShdw>
          </a:effectLst>
        </p:spPr>
      </p:pic>
      <p:sp>
        <p:nvSpPr>
          <p:cNvPr id="16" name="TextBox 16">
            <a:extLst>
              <a:ext uri="{FF2B5EF4-FFF2-40B4-BE49-F238E27FC236}">
                <a16:creationId xmlns:a16="http://schemas.microsoft.com/office/drawing/2014/main" id="{E8768B63-3C1B-E06A-E6AA-43DC30849D90}"/>
              </a:ext>
            </a:extLst>
          </p:cNvPr>
          <p:cNvSpPr txBox="1"/>
          <p:nvPr/>
        </p:nvSpPr>
        <p:spPr>
          <a:xfrm>
            <a:off x="491067" y="423333"/>
            <a:ext cx="1998133" cy="279400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04580"/>
              </a:lnSpc>
            </a:pPr>
            <a:r>
              <a:rPr lang="ko-KR" altLang="en-US" sz="1800" b="1" spc="400">
                <a:solidFill>
                  <a:srgbClr val="FFFFFF"/>
                </a:solidFill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속성</a:t>
            </a:r>
            <a:endParaRPr lang="en-US" sz="1800" b="1" i="0" u="none" strike="noStrike" spc="400">
              <a:solidFill>
                <a:srgbClr val="FFFFFF"/>
              </a:solidFill>
              <a:latin typeface="ONE Mobile Title OTF" panose="00000500000000000000" pitchFamily="50" charset="-127"/>
              <a:ea typeface="ONE Mobile Title OTF" panose="00000500000000000000" pitchFamily="50" charset="-127"/>
            </a:endParaRPr>
          </a:p>
        </p:txBody>
      </p:sp>
      <p:sp>
        <p:nvSpPr>
          <p:cNvPr id="9" name="TextBox 16">
            <a:extLst>
              <a:ext uri="{FF2B5EF4-FFF2-40B4-BE49-F238E27FC236}">
                <a16:creationId xmlns:a16="http://schemas.microsoft.com/office/drawing/2014/main" id="{7F9673AF-668A-DAF3-0395-A877EC4F9AA6}"/>
              </a:ext>
            </a:extLst>
          </p:cNvPr>
          <p:cNvSpPr txBox="1"/>
          <p:nvPr/>
        </p:nvSpPr>
        <p:spPr>
          <a:xfrm>
            <a:off x="3420985" y="1942494"/>
            <a:ext cx="3044062" cy="1761066"/>
          </a:xfrm>
          <a:prstGeom prst="rect">
            <a:avLst/>
          </a:prstGeom>
        </p:spPr>
        <p:txBody>
          <a:bodyPr lIns="0" tIns="0" rIns="0" bIns="0" rtlCol="0" anchor="t"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ko-KR" altLang="en-US" sz="1600">
                <a:solidFill>
                  <a:srgbClr val="000000"/>
                </a:solidFill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속성값은 엔티티에 속한 하나의 인스턴스를 구체적으로 </a:t>
            </a:r>
            <a:r>
              <a:rPr lang="ko-KR" altLang="en-US" sz="1600" err="1">
                <a:solidFill>
                  <a:srgbClr val="000000"/>
                </a:solidFill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나타내주는</a:t>
            </a:r>
            <a:r>
              <a:rPr lang="ko-KR" altLang="en-US" sz="1600">
                <a:solidFill>
                  <a:srgbClr val="000000"/>
                </a:solidFill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 데이터</a:t>
            </a:r>
            <a:endParaRPr lang="en-US" altLang="ko-KR" sz="1600">
              <a:solidFill>
                <a:srgbClr val="000000"/>
              </a:solidFill>
              <a:latin typeface="ONE Mobile Title OTF" panose="00000500000000000000" pitchFamily="50" charset="-127"/>
              <a:ea typeface="ONE Mobile Title OTF" panose="00000500000000000000" pitchFamily="50" charset="-127"/>
            </a:endParaRPr>
          </a:p>
          <a:p>
            <a:pPr marL="285750" indent="-285750">
              <a:buClr>
                <a:srgbClr val="000000"/>
              </a:buClr>
              <a:buFont typeface="Arial" panose="020B0604020202020204" pitchFamily="34" charset="0"/>
              <a:buChar char="•"/>
            </a:pPr>
            <a:endParaRPr lang="en-US" altLang="ko-KR" sz="1600">
              <a:solidFill>
                <a:srgbClr val="000000"/>
              </a:solidFill>
              <a:latin typeface="ONE Mobile Title OTF" panose="00000500000000000000" pitchFamily="50" charset="-127"/>
              <a:ea typeface="ONE Mobile Title OTF" panose="00000500000000000000" pitchFamily="50" charset="-127"/>
            </a:endParaRPr>
          </a:p>
          <a:p>
            <a:pPr marL="285750" indent="-285750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ko-KR" altLang="en-US" sz="1600">
                <a:solidFill>
                  <a:srgbClr val="000000"/>
                </a:solidFill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하나의 속성은 하나의 속성값만 가질 수 있다</a:t>
            </a:r>
            <a:r>
              <a:rPr lang="en-US" altLang="ko-KR" sz="1600">
                <a:solidFill>
                  <a:srgbClr val="000000"/>
                </a:solidFill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.</a:t>
            </a:r>
            <a:endParaRPr lang="ko-KR" altLang="en-US" sz="1600">
              <a:solidFill>
                <a:srgbClr val="000000"/>
              </a:solidFill>
              <a:latin typeface="ONE Mobile Title OTF" panose="00000500000000000000" pitchFamily="50" charset="-127"/>
              <a:ea typeface="ONE Mobile Title OTF" panose="00000500000000000000" pitchFamily="50" charset="-127"/>
            </a:endParaRPr>
          </a:p>
        </p:txBody>
      </p:sp>
      <p:sp>
        <p:nvSpPr>
          <p:cNvPr id="10" name="TextBox 17">
            <a:extLst>
              <a:ext uri="{FF2B5EF4-FFF2-40B4-BE49-F238E27FC236}">
                <a16:creationId xmlns:a16="http://schemas.microsoft.com/office/drawing/2014/main" id="{04FA9845-6D81-D1FA-890E-E456D01A45ED}"/>
              </a:ext>
            </a:extLst>
          </p:cNvPr>
          <p:cNvSpPr txBox="1"/>
          <p:nvPr/>
        </p:nvSpPr>
        <p:spPr>
          <a:xfrm>
            <a:off x="3725230" y="1422400"/>
            <a:ext cx="832988" cy="364068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2050" b="1" spc="67">
                <a:solidFill>
                  <a:srgbClr val="000000"/>
                </a:solidFill>
                <a:ea typeface="ONE Mobile Title OTF"/>
              </a:rPr>
              <a:t>속성값</a:t>
            </a:r>
            <a:endParaRPr lang="ko-KR" sz="2050" b="1" i="0" u="none" strike="noStrike" spc="67">
              <a:solidFill>
                <a:srgbClr val="000000"/>
              </a:solidFill>
              <a:ea typeface="ONE Mobile Title OTF"/>
            </a:endParaRPr>
          </a:p>
        </p:txBody>
      </p:sp>
      <p:sp>
        <p:nvSpPr>
          <p:cNvPr id="11" name="TextBox 18">
            <a:extLst>
              <a:ext uri="{FF2B5EF4-FFF2-40B4-BE49-F238E27FC236}">
                <a16:creationId xmlns:a16="http://schemas.microsoft.com/office/drawing/2014/main" id="{77195B96-3DA3-E249-F192-20225124A876}"/>
              </a:ext>
            </a:extLst>
          </p:cNvPr>
          <p:cNvSpPr txBox="1"/>
          <p:nvPr/>
        </p:nvSpPr>
        <p:spPr>
          <a:xfrm>
            <a:off x="826105" y="1942494"/>
            <a:ext cx="2425095" cy="1297818"/>
          </a:xfrm>
          <a:prstGeom prst="rect">
            <a:avLst/>
          </a:prstGeom>
        </p:spPr>
        <p:txBody>
          <a:bodyPr lIns="0" tIns="0" rIns="0" bIns="0" rtlCol="0" anchor="t"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600">
                <a:solidFill>
                  <a:srgbClr val="000000"/>
                </a:solidFill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사물이나 개념의 특징을 설명해줄 수 있는 항목으로</a:t>
            </a:r>
            <a:endParaRPr lang="en-US" altLang="ko-KR" sz="1600">
              <a:solidFill>
                <a:srgbClr val="000000"/>
              </a:solidFill>
              <a:latin typeface="ONE Mobile Title OTF" panose="00000500000000000000" pitchFamily="50" charset="-127"/>
              <a:ea typeface="ONE Mobile Title OTF" panose="00000500000000000000" pitchFamily="50" charset="-127"/>
            </a:endParaRPr>
          </a:p>
          <a:p>
            <a:r>
              <a:rPr lang="ko-KR" altLang="en-US" sz="1600">
                <a:solidFill>
                  <a:srgbClr val="000000"/>
                </a:solidFill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의미상 더 이상 쪼개지지 않는 레벨</a:t>
            </a:r>
            <a:r>
              <a:rPr lang="en-US" altLang="ko-KR" sz="1600">
                <a:solidFill>
                  <a:srgbClr val="000000"/>
                </a:solidFill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, </a:t>
            </a:r>
            <a:r>
              <a:rPr lang="ko-KR" altLang="en-US" sz="1600">
                <a:solidFill>
                  <a:srgbClr val="000000"/>
                </a:solidFill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프로세스에 필요한 항목</a:t>
            </a:r>
            <a:endParaRPr lang="en-US" altLang="ko-KR" sz="1600">
              <a:solidFill>
                <a:srgbClr val="000000"/>
              </a:solidFill>
              <a:latin typeface="ONE"/>
              <a:ea typeface="ONE Mobile Title OTF" panose="00000500000000000000" pitchFamily="50" charset="-127"/>
            </a:endParaRPr>
          </a:p>
        </p:txBody>
      </p:sp>
      <p:sp>
        <p:nvSpPr>
          <p:cNvPr id="12" name="TextBox 19">
            <a:extLst>
              <a:ext uri="{FF2B5EF4-FFF2-40B4-BE49-F238E27FC236}">
                <a16:creationId xmlns:a16="http://schemas.microsoft.com/office/drawing/2014/main" id="{9A8405C3-094F-F349-2360-B5D72BACD4F9}"/>
              </a:ext>
            </a:extLst>
          </p:cNvPr>
          <p:cNvSpPr txBox="1"/>
          <p:nvPr/>
        </p:nvSpPr>
        <p:spPr>
          <a:xfrm>
            <a:off x="826105" y="1410303"/>
            <a:ext cx="1280487" cy="364067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050" b="1" spc="67">
                <a:solidFill>
                  <a:srgbClr val="000000"/>
                </a:solidFill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속성이란</a:t>
            </a:r>
            <a:r>
              <a:rPr lang="en-US" altLang="ko-KR" sz="2050" b="1" spc="67">
                <a:solidFill>
                  <a:srgbClr val="000000"/>
                </a:solidFill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?</a:t>
            </a:r>
            <a:endParaRPr lang="ko-KR" altLang="en-US" sz="2050" b="1" spc="67">
              <a:latin typeface="ONE Mobile Title OTF" panose="00000500000000000000" pitchFamily="50" charset="-127"/>
              <a:ea typeface="ONE Mobile Title OTF" panose="00000500000000000000" pitchFamily="50" charset="-127"/>
            </a:endParaRPr>
          </a:p>
        </p:txBody>
      </p:sp>
      <p:sp>
        <p:nvSpPr>
          <p:cNvPr id="14" name="TextBox 17">
            <a:extLst>
              <a:ext uri="{FF2B5EF4-FFF2-40B4-BE49-F238E27FC236}">
                <a16:creationId xmlns:a16="http://schemas.microsoft.com/office/drawing/2014/main" id="{8786B897-56D2-4987-FE1B-EC09C606601F}"/>
              </a:ext>
            </a:extLst>
          </p:cNvPr>
          <p:cNvSpPr txBox="1"/>
          <p:nvPr/>
        </p:nvSpPr>
        <p:spPr>
          <a:xfrm>
            <a:off x="7190964" y="1341363"/>
            <a:ext cx="3873570" cy="351969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2050" b="1" spc="67" err="1">
                <a:solidFill>
                  <a:srgbClr val="000000"/>
                </a:solidFill>
                <a:ea typeface="ONE Mobile Title OTF"/>
              </a:rPr>
              <a:t>엔터티</a:t>
            </a:r>
            <a:r>
              <a:rPr lang="en-US" altLang="ko-KR" sz="2050" b="1" spc="67">
                <a:solidFill>
                  <a:srgbClr val="000000"/>
                </a:solidFill>
                <a:ea typeface="ONE Mobile Title OTF"/>
              </a:rPr>
              <a:t>, </a:t>
            </a:r>
            <a:r>
              <a:rPr lang="ko-KR" altLang="en-US" sz="2050" b="1" spc="67">
                <a:solidFill>
                  <a:srgbClr val="000000"/>
                </a:solidFill>
                <a:ea typeface="ONE Mobile Title OTF"/>
              </a:rPr>
              <a:t>인스턴스</a:t>
            </a:r>
            <a:r>
              <a:rPr lang="en-US" altLang="ko-KR" sz="2050" b="1" spc="67">
                <a:solidFill>
                  <a:srgbClr val="000000"/>
                </a:solidFill>
                <a:ea typeface="ONE Mobile Title OTF"/>
              </a:rPr>
              <a:t>, </a:t>
            </a:r>
            <a:r>
              <a:rPr lang="ko-KR" altLang="en-US" sz="2050" b="1" spc="67">
                <a:solidFill>
                  <a:srgbClr val="000000"/>
                </a:solidFill>
                <a:ea typeface="ONE Mobile Title OTF"/>
              </a:rPr>
              <a:t>속성</a:t>
            </a:r>
            <a:r>
              <a:rPr lang="en-US" altLang="ko-KR" sz="2050" b="1" spc="67">
                <a:solidFill>
                  <a:srgbClr val="000000"/>
                </a:solidFill>
                <a:ea typeface="ONE Mobile Title OTF"/>
              </a:rPr>
              <a:t>, </a:t>
            </a:r>
            <a:r>
              <a:rPr lang="ko-KR" altLang="en-US" sz="2050" b="1" spc="67">
                <a:solidFill>
                  <a:srgbClr val="000000"/>
                </a:solidFill>
                <a:ea typeface="ONE Mobile Title OTF"/>
              </a:rPr>
              <a:t>속성값과의 관계</a:t>
            </a:r>
            <a:endParaRPr lang="ko-KR" sz="2050" b="1" i="0" u="none" strike="noStrike" spc="67">
              <a:solidFill>
                <a:srgbClr val="000000"/>
              </a:solidFill>
              <a:ea typeface="ONE Mobile Title OTF"/>
            </a:endParaRPr>
          </a:p>
        </p:txBody>
      </p:sp>
      <p:sp>
        <p:nvSpPr>
          <p:cNvPr id="23" name="TextBox 16">
            <a:extLst>
              <a:ext uri="{FF2B5EF4-FFF2-40B4-BE49-F238E27FC236}">
                <a16:creationId xmlns:a16="http://schemas.microsoft.com/office/drawing/2014/main" id="{91C207CF-F5A8-D280-0408-7CB906E92526}"/>
              </a:ext>
            </a:extLst>
          </p:cNvPr>
          <p:cNvSpPr txBox="1"/>
          <p:nvPr/>
        </p:nvSpPr>
        <p:spPr>
          <a:xfrm>
            <a:off x="1009199" y="3647329"/>
            <a:ext cx="2480733" cy="1761067"/>
          </a:xfrm>
          <a:prstGeom prst="rect">
            <a:avLst/>
          </a:prstGeom>
        </p:spPr>
        <p:txBody>
          <a:bodyPr lIns="0" tIns="0" rIns="0" bIns="0" rtlCol="0" anchor="t"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ko-KR" altLang="en-US" sz="1600">
                <a:solidFill>
                  <a:srgbClr val="000000"/>
                </a:solidFill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특성에 따른 분류</a:t>
            </a:r>
            <a:endParaRPr lang="en-US" altLang="ko-KR" sz="1600">
              <a:solidFill>
                <a:srgbClr val="000000"/>
              </a:solidFill>
              <a:latin typeface="ONE Mobile Title OTF" panose="00000500000000000000" pitchFamily="50" charset="-127"/>
              <a:ea typeface="ONE Mobile Title OTF" panose="00000500000000000000" pitchFamily="50" charset="-127"/>
            </a:endParaRPr>
          </a:p>
          <a:p>
            <a:pPr marL="285750" indent="-285750">
              <a:buClr>
                <a:srgbClr val="000000"/>
              </a:buClr>
              <a:buFont typeface="Arial" panose="020B0604020202020204" pitchFamily="34" charset="0"/>
              <a:buChar char="•"/>
            </a:pPr>
            <a:endParaRPr lang="en-US" altLang="ko-KR" sz="1600">
              <a:solidFill>
                <a:srgbClr val="000000"/>
              </a:solidFill>
              <a:latin typeface="ONE Mobile Title OTF" panose="00000500000000000000" pitchFamily="50" charset="-127"/>
              <a:ea typeface="ONE Mobile Title OTF" panose="00000500000000000000" pitchFamily="50" charset="-127"/>
            </a:endParaRPr>
          </a:p>
          <a:p>
            <a:pPr marL="285750" indent="-285750">
              <a:buClr>
                <a:srgbClr val="000000"/>
              </a:buClr>
              <a:buFont typeface="Arial" panose="020B0604020202020204" pitchFamily="34" charset="0"/>
              <a:buChar char="•"/>
            </a:pPr>
            <a:endParaRPr lang="en-US" altLang="ko-KR" sz="1600">
              <a:solidFill>
                <a:srgbClr val="000000"/>
              </a:solidFill>
              <a:latin typeface="ONE Mobile Title OTF" panose="00000500000000000000" pitchFamily="50" charset="-127"/>
              <a:ea typeface="ONE Mobile Title OTF" panose="00000500000000000000" pitchFamily="50" charset="-127"/>
            </a:endParaRPr>
          </a:p>
          <a:p>
            <a:pPr marL="285750" indent="-285750">
              <a:buClr>
                <a:srgbClr val="000000"/>
              </a:buClr>
              <a:buFont typeface="Arial" panose="020B0604020202020204" pitchFamily="34" charset="0"/>
              <a:buChar char="•"/>
            </a:pPr>
            <a:endParaRPr lang="en-US" altLang="ko-KR" sz="1600">
              <a:solidFill>
                <a:srgbClr val="000000"/>
              </a:solidFill>
              <a:latin typeface="ONE Mobile Title OTF" panose="00000500000000000000" pitchFamily="50" charset="-127"/>
              <a:ea typeface="ONE Mobile Title OTF" panose="00000500000000000000" pitchFamily="50" charset="-127"/>
            </a:endParaRPr>
          </a:p>
          <a:p>
            <a:pPr marL="285750" indent="-285750">
              <a:buClr>
                <a:srgbClr val="000000"/>
              </a:buClr>
              <a:buFont typeface="Arial" panose="020B0604020202020204" pitchFamily="34" charset="0"/>
              <a:buChar char="•"/>
            </a:pPr>
            <a:endParaRPr lang="en-US" altLang="ko-KR" sz="1600">
              <a:solidFill>
                <a:srgbClr val="000000"/>
              </a:solidFill>
              <a:latin typeface="ONE Mobile Title OTF" panose="00000500000000000000" pitchFamily="50" charset="-127"/>
              <a:ea typeface="ONE Mobile Title OTF" panose="00000500000000000000" pitchFamily="50" charset="-127"/>
            </a:endParaRPr>
          </a:p>
          <a:p>
            <a:pPr marL="285750" indent="-285750">
              <a:buClr>
                <a:srgbClr val="000000"/>
              </a:buClr>
              <a:buFont typeface="Arial" panose="020B0604020202020204" pitchFamily="34" charset="0"/>
              <a:buChar char="•"/>
            </a:pPr>
            <a:endParaRPr lang="en-US" altLang="ko-KR" sz="1600">
              <a:solidFill>
                <a:srgbClr val="000000"/>
              </a:solidFill>
              <a:latin typeface="ONE Mobile Title OTF" panose="00000500000000000000" pitchFamily="50" charset="-127"/>
              <a:ea typeface="ONE Mobile Title OTF" panose="00000500000000000000" pitchFamily="50" charset="-127"/>
            </a:endParaRPr>
          </a:p>
          <a:p>
            <a:pPr marL="285750" indent="-285750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ko-KR" altLang="en-US" sz="1600">
                <a:solidFill>
                  <a:srgbClr val="000000"/>
                </a:solidFill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구성방식에 따른 분류</a:t>
            </a:r>
          </a:p>
        </p:txBody>
      </p:sp>
      <p:sp>
        <p:nvSpPr>
          <p:cNvPr id="25" name="TextBox 17">
            <a:extLst>
              <a:ext uri="{FF2B5EF4-FFF2-40B4-BE49-F238E27FC236}">
                <a16:creationId xmlns:a16="http://schemas.microsoft.com/office/drawing/2014/main" id="{F1E0051B-520A-AF94-9F41-CB6A73391F20}"/>
              </a:ext>
            </a:extLst>
          </p:cNvPr>
          <p:cNvSpPr txBox="1"/>
          <p:nvPr/>
        </p:nvSpPr>
        <p:spPr>
          <a:xfrm>
            <a:off x="704647" y="3256370"/>
            <a:ext cx="832988" cy="364068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2050" b="1" spc="67">
                <a:solidFill>
                  <a:srgbClr val="000000"/>
                </a:solidFill>
                <a:ea typeface="ONE Mobile Title OTF"/>
              </a:rPr>
              <a:t>분류</a:t>
            </a:r>
            <a:endParaRPr lang="ko-KR" sz="2050" b="1" i="0" u="none" strike="noStrike" spc="67">
              <a:solidFill>
                <a:srgbClr val="000000"/>
              </a:solidFill>
              <a:ea typeface="ONE Mobile Title OTF"/>
            </a:endParaRPr>
          </a:p>
        </p:txBody>
      </p:sp>
      <p:sp>
        <p:nvSpPr>
          <p:cNvPr id="30" name="TextBox 16">
            <a:extLst>
              <a:ext uri="{FF2B5EF4-FFF2-40B4-BE49-F238E27FC236}">
                <a16:creationId xmlns:a16="http://schemas.microsoft.com/office/drawing/2014/main" id="{44772D52-C810-E285-F72B-5BBD5A10B496}"/>
              </a:ext>
            </a:extLst>
          </p:cNvPr>
          <p:cNvSpPr txBox="1"/>
          <p:nvPr/>
        </p:nvSpPr>
        <p:spPr>
          <a:xfrm>
            <a:off x="8707747" y="5904280"/>
            <a:ext cx="2480733" cy="551364"/>
          </a:xfrm>
          <a:prstGeom prst="rect">
            <a:avLst/>
          </a:prstGeom>
        </p:spPr>
        <p:txBody>
          <a:bodyPr lIns="0" tIns="0" rIns="0" bIns="0" rtlCol="0" anchor="t"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ko-KR" altLang="en-US" sz="1600">
                <a:solidFill>
                  <a:srgbClr val="000000"/>
                </a:solidFill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속성이 가질 수 있는 속성값의 범위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1BBDE687-6991-8F77-B7E0-0CB27BE05F4D}"/>
              </a:ext>
            </a:extLst>
          </p:cNvPr>
          <p:cNvSpPr txBox="1"/>
          <p:nvPr/>
        </p:nvSpPr>
        <p:spPr>
          <a:xfrm>
            <a:off x="9006525" y="5482982"/>
            <a:ext cx="832988" cy="364068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2050" b="1" spc="67">
                <a:solidFill>
                  <a:srgbClr val="000000"/>
                </a:solidFill>
                <a:ea typeface="ONE Mobile Title OTF"/>
              </a:rPr>
              <a:t>도메인</a:t>
            </a:r>
            <a:endParaRPr lang="ko-KR" sz="2050" b="1" i="0" u="none" strike="noStrike" spc="67">
              <a:solidFill>
                <a:srgbClr val="000000"/>
              </a:solidFill>
              <a:ea typeface="ONE Mobile Title OTF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9828DCE9-9534-8211-83F0-338A5DD0921B}"/>
              </a:ext>
            </a:extLst>
          </p:cNvPr>
          <p:cNvSpPr/>
          <p:nvPr/>
        </p:nvSpPr>
        <p:spPr>
          <a:xfrm>
            <a:off x="6996660" y="1938692"/>
            <a:ext cx="1211600" cy="522366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err="1">
                <a:solidFill>
                  <a:sysClr val="windowText" lastClr="000000"/>
                </a:solidFill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엔터티</a:t>
            </a:r>
            <a:endParaRPr lang="ko-KR" altLang="en-US">
              <a:solidFill>
                <a:sysClr val="windowText" lastClr="000000"/>
              </a:solidFill>
              <a:latin typeface="ONE Mobile Title OTF" panose="00000500000000000000" pitchFamily="50" charset="-127"/>
              <a:ea typeface="ONE Mobile Title OTF" panose="00000500000000000000" pitchFamily="50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1E4532BC-D963-ADFC-DC98-20A6B2F5F259}"/>
              </a:ext>
            </a:extLst>
          </p:cNvPr>
          <p:cNvSpPr/>
          <p:nvPr/>
        </p:nvSpPr>
        <p:spPr>
          <a:xfrm>
            <a:off x="8650625" y="1942494"/>
            <a:ext cx="1211600" cy="522366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>
                <a:solidFill>
                  <a:sysClr val="windowText" lastClr="000000"/>
                </a:solidFill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인스턴스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DA6B4420-D827-9A0A-67E6-6DB354CAE53B}"/>
              </a:ext>
            </a:extLst>
          </p:cNvPr>
          <p:cNvSpPr/>
          <p:nvPr/>
        </p:nvSpPr>
        <p:spPr>
          <a:xfrm>
            <a:off x="8650624" y="3065022"/>
            <a:ext cx="1211600" cy="522366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>
                <a:solidFill>
                  <a:sysClr val="windowText" lastClr="000000"/>
                </a:solidFill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속성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5C005007-D31F-4BC0-6CF4-F13154B2D989}"/>
              </a:ext>
            </a:extLst>
          </p:cNvPr>
          <p:cNvSpPr/>
          <p:nvPr/>
        </p:nvSpPr>
        <p:spPr>
          <a:xfrm>
            <a:off x="10340206" y="3065022"/>
            <a:ext cx="1211600" cy="522366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>
                <a:solidFill>
                  <a:sysClr val="windowText" lastClr="000000"/>
                </a:solidFill>
                <a:latin typeface="ONE Mobile Title OTF" panose="00000500000000000000" pitchFamily="50" charset="-127"/>
                <a:ea typeface="ONE Mobile Title OTF" panose="00000500000000000000" pitchFamily="50" charset="-127"/>
              </a:rPr>
              <a:t>속성값</a:t>
            </a:r>
          </a:p>
        </p:txBody>
      </p: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2BFFBECC-09CB-A2DA-7F4F-B9C1EB216523}"/>
              </a:ext>
            </a:extLst>
          </p:cNvPr>
          <p:cNvCxnSpPr>
            <a:cxnSpLocks/>
            <a:stCxn id="32" idx="3"/>
            <a:endCxn id="33" idx="1"/>
          </p:cNvCxnSpPr>
          <p:nvPr/>
        </p:nvCxnSpPr>
        <p:spPr>
          <a:xfrm>
            <a:off x="8208260" y="2199875"/>
            <a:ext cx="442365" cy="380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E04DAF65-35C1-8AE8-2CC7-AA82F139B509}"/>
              </a:ext>
            </a:extLst>
          </p:cNvPr>
          <p:cNvCxnSpPr>
            <a:stCxn id="33" idx="2"/>
            <a:endCxn id="34" idx="0"/>
          </p:cNvCxnSpPr>
          <p:nvPr/>
        </p:nvCxnSpPr>
        <p:spPr>
          <a:xfrm flipH="1">
            <a:off x="9256424" y="2464860"/>
            <a:ext cx="1" cy="60016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8698810E-CD2D-4E54-341E-5F01C2765791}"/>
              </a:ext>
            </a:extLst>
          </p:cNvPr>
          <p:cNvCxnSpPr>
            <a:stCxn id="34" idx="3"/>
            <a:endCxn id="35" idx="1"/>
          </p:cNvCxnSpPr>
          <p:nvPr/>
        </p:nvCxnSpPr>
        <p:spPr>
          <a:xfrm>
            <a:off x="9862224" y="3326205"/>
            <a:ext cx="47798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CD20F976-5C35-96F8-3EAF-422D2F1E9E39}"/>
              </a:ext>
            </a:extLst>
          </p:cNvPr>
          <p:cNvCxnSpPr>
            <a:cxnSpLocks/>
          </p:cNvCxnSpPr>
          <p:nvPr/>
        </p:nvCxnSpPr>
        <p:spPr>
          <a:xfrm>
            <a:off x="8278722" y="2069328"/>
            <a:ext cx="0" cy="25563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528A82D0-1A57-787F-5BFA-A852F1862227}"/>
              </a:ext>
            </a:extLst>
          </p:cNvPr>
          <p:cNvCxnSpPr>
            <a:cxnSpLocks/>
          </p:cNvCxnSpPr>
          <p:nvPr/>
        </p:nvCxnSpPr>
        <p:spPr>
          <a:xfrm>
            <a:off x="8546946" y="2075859"/>
            <a:ext cx="0" cy="25563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2E07D5AF-D3E4-C0C9-8BFB-0E36025ABA0D}"/>
              </a:ext>
            </a:extLst>
          </p:cNvPr>
          <p:cNvCxnSpPr>
            <a:cxnSpLocks/>
          </p:cNvCxnSpPr>
          <p:nvPr/>
        </p:nvCxnSpPr>
        <p:spPr>
          <a:xfrm>
            <a:off x="9936833" y="3196940"/>
            <a:ext cx="0" cy="25563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889447B6-8D83-2157-0592-F463A1AD53D6}"/>
              </a:ext>
            </a:extLst>
          </p:cNvPr>
          <p:cNvCxnSpPr>
            <a:cxnSpLocks/>
          </p:cNvCxnSpPr>
          <p:nvPr/>
        </p:nvCxnSpPr>
        <p:spPr>
          <a:xfrm>
            <a:off x="10248058" y="3204898"/>
            <a:ext cx="0" cy="25563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CE6D6C88-D8A2-BAFA-02B4-1C014EAF1E36}"/>
              </a:ext>
            </a:extLst>
          </p:cNvPr>
          <p:cNvCxnSpPr>
            <a:cxnSpLocks/>
          </p:cNvCxnSpPr>
          <p:nvPr/>
        </p:nvCxnSpPr>
        <p:spPr>
          <a:xfrm rot="16200000">
            <a:off x="9256425" y="2417740"/>
            <a:ext cx="0" cy="25563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44467439-560B-6D59-1023-C39A7D52EAB5}"/>
              </a:ext>
            </a:extLst>
          </p:cNvPr>
          <p:cNvCxnSpPr>
            <a:cxnSpLocks/>
          </p:cNvCxnSpPr>
          <p:nvPr/>
        </p:nvCxnSpPr>
        <p:spPr>
          <a:xfrm rot="16200000">
            <a:off x="9256425" y="2790731"/>
            <a:ext cx="0" cy="25563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E806611D-F73E-6551-BA77-111513A55FF9}"/>
              </a:ext>
            </a:extLst>
          </p:cNvPr>
          <p:cNvCxnSpPr>
            <a:cxnSpLocks/>
          </p:cNvCxnSpPr>
          <p:nvPr/>
        </p:nvCxnSpPr>
        <p:spPr>
          <a:xfrm flipV="1">
            <a:off x="9128606" y="2918548"/>
            <a:ext cx="127820" cy="14647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3EAB55B3-3D25-32D5-36A1-002D2455A777}"/>
              </a:ext>
            </a:extLst>
          </p:cNvPr>
          <p:cNvCxnSpPr>
            <a:cxnSpLocks/>
          </p:cNvCxnSpPr>
          <p:nvPr/>
        </p:nvCxnSpPr>
        <p:spPr>
          <a:xfrm flipH="1" flipV="1">
            <a:off x="9262972" y="2918548"/>
            <a:ext cx="121270" cy="14647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F80FE04D-A018-580D-213A-3F184D784574}"/>
              </a:ext>
            </a:extLst>
          </p:cNvPr>
          <p:cNvCxnSpPr>
            <a:cxnSpLocks/>
          </p:cNvCxnSpPr>
          <p:nvPr/>
        </p:nvCxnSpPr>
        <p:spPr>
          <a:xfrm flipH="1">
            <a:off x="8546944" y="2075859"/>
            <a:ext cx="103681" cy="1278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8E8A5B51-C43E-8292-8567-D561D6B2A05E}"/>
              </a:ext>
            </a:extLst>
          </p:cNvPr>
          <p:cNvCxnSpPr>
            <a:cxnSpLocks/>
          </p:cNvCxnSpPr>
          <p:nvPr/>
        </p:nvCxnSpPr>
        <p:spPr>
          <a:xfrm flipH="1" flipV="1">
            <a:off x="8546945" y="2203676"/>
            <a:ext cx="103679" cy="12070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69" name="표 68">
            <a:extLst>
              <a:ext uri="{FF2B5EF4-FFF2-40B4-BE49-F238E27FC236}">
                <a16:creationId xmlns:a16="http://schemas.microsoft.com/office/drawing/2014/main" id="{4B9FD668-FDFC-8594-0E36-D6C722C515FB}"/>
              </a:ext>
            </a:extLst>
          </p:cNvPr>
          <p:cNvGraphicFramePr>
            <a:graphicFrameLocks noGrp="1"/>
          </p:cNvGraphicFramePr>
          <p:nvPr/>
        </p:nvGraphicFramePr>
        <p:xfrm>
          <a:off x="955060" y="3924757"/>
          <a:ext cx="10462214" cy="11125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3413003">
                  <a:extLst>
                    <a:ext uri="{9D8B030D-6E8A-4147-A177-3AD203B41FA5}">
                      <a16:colId xmlns:a16="http://schemas.microsoft.com/office/drawing/2014/main" val="1615830661"/>
                    </a:ext>
                  </a:extLst>
                </a:gridCol>
                <a:gridCol w="7049211">
                  <a:extLst>
                    <a:ext uri="{9D8B030D-6E8A-4147-A177-3AD203B41FA5}">
                      <a16:colId xmlns:a16="http://schemas.microsoft.com/office/drawing/2014/main" val="7811201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1">
                          <a:solidFill>
                            <a:schemeClr val="bg1"/>
                          </a:solidFill>
                          <a:latin typeface="ONE Mobile Title OTF" panose="00000500000000000000" pitchFamily="50" charset="-127"/>
                          <a:ea typeface="ONE Mobile Title OTF" panose="00000500000000000000" pitchFamily="50" charset="-127"/>
                        </a:rPr>
                        <a:t>기본속성</a:t>
                      </a:r>
                      <a:r>
                        <a:rPr lang="en-US" altLang="ko-KR" sz="1600" b="1">
                          <a:solidFill>
                            <a:schemeClr val="bg1"/>
                          </a:solidFill>
                          <a:latin typeface="ONE Mobile Title OTF" panose="00000500000000000000" pitchFamily="50" charset="-127"/>
                          <a:ea typeface="ONE Mobile Title OTF" panose="00000500000000000000" pitchFamily="50" charset="-127"/>
                        </a:rPr>
                        <a:t>(Basic</a:t>
                      </a:r>
                      <a:r>
                        <a:rPr lang="ko-KR" altLang="en-US" sz="1600" b="1">
                          <a:solidFill>
                            <a:schemeClr val="bg1"/>
                          </a:solidFill>
                          <a:latin typeface="ONE Mobile Title OTF" panose="00000500000000000000" pitchFamily="50" charset="-127"/>
                          <a:ea typeface="ONE Mobile Title OTF" panose="00000500000000000000" pitchFamily="50" charset="-127"/>
                        </a:rPr>
                        <a:t> </a:t>
                      </a:r>
                      <a:r>
                        <a:rPr lang="en-US" altLang="ko-KR" sz="1600" b="1">
                          <a:solidFill>
                            <a:schemeClr val="bg1"/>
                          </a:solidFill>
                          <a:latin typeface="ONE Mobile Title OTF" panose="00000500000000000000" pitchFamily="50" charset="-127"/>
                          <a:ea typeface="ONE Mobile Title OTF" panose="00000500000000000000" pitchFamily="50" charset="-127"/>
                        </a:rPr>
                        <a:t>Attribute)</a:t>
                      </a:r>
                      <a:endParaRPr lang="ko-KR" altLang="en-US" sz="1600" b="1">
                        <a:solidFill>
                          <a:schemeClr val="bg1"/>
                        </a:solidFill>
                        <a:latin typeface="ONE Mobile Title OTF" panose="00000500000000000000" pitchFamily="50" charset="-127"/>
                        <a:ea typeface="ONE Mobile Title OTF" panose="00000500000000000000" pitchFamily="50" charset="-127"/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DC8ED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1">
                          <a:solidFill>
                            <a:sysClr val="windowText" lastClr="000000"/>
                          </a:solidFill>
                          <a:latin typeface="ONE Mobile Title OTF" panose="00000500000000000000" pitchFamily="50" charset="-127"/>
                          <a:ea typeface="ONE Mobile Title OTF" panose="00000500000000000000" pitchFamily="50" charset="-127"/>
                        </a:rPr>
                        <a:t>업무 프로세스 분석을 통해 바로 정의가 가능한 속성</a:t>
                      </a: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72022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1">
                          <a:solidFill>
                            <a:schemeClr val="bg1"/>
                          </a:solidFill>
                          <a:latin typeface="ONE Mobile Title OTF" panose="00000500000000000000" pitchFamily="50" charset="-127"/>
                          <a:ea typeface="ONE Mobile Title OTF" panose="00000500000000000000" pitchFamily="50" charset="-127"/>
                        </a:rPr>
                        <a:t>설계속성</a:t>
                      </a:r>
                      <a:r>
                        <a:rPr lang="en-US" altLang="ko-KR" sz="1600" b="1">
                          <a:solidFill>
                            <a:schemeClr val="bg1"/>
                          </a:solidFill>
                          <a:latin typeface="ONE Mobile Title OTF" panose="00000500000000000000" pitchFamily="50" charset="-127"/>
                          <a:ea typeface="ONE Mobile Title OTF" panose="00000500000000000000" pitchFamily="50" charset="-127"/>
                        </a:rPr>
                        <a:t>(Designed Attribute)</a:t>
                      </a:r>
                      <a:endParaRPr lang="ko-KR" altLang="en-US" sz="1600" b="1">
                        <a:solidFill>
                          <a:schemeClr val="bg1"/>
                        </a:solidFill>
                        <a:latin typeface="ONE Mobile Title OTF" panose="00000500000000000000" pitchFamily="50" charset="-127"/>
                        <a:ea typeface="ONE Mobile Title OTF" panose="00000500000000000000" pitchFamily="50" charset="-127"/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DC8ED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1">
                          <a:solidFill>
                            <a:sysClr val="windowText" lastClr="000000"/>
                          </a:solidFill>
                          <a:latin typeface="ONE Mobile Title OTF" panose="00000500000000000000" pitchFamily="50" charset="-127"/>
                          <a:ea typeface="ONE Mobile Title OTF" panose="00000500000000000000" pitchFamily="50" charset="-127"/>
                        </a:rPr>
                        <a:t>업무에 존재하지는 않지만 설계하다 보니 필요하다고 판단되어 도출해낸 속성</a:t>
                      </a: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36474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1">
                          <a:solidFill>
                            <a:schemeClr val="bg1"/>
                          </a:solidFill>
                          <a:latin typeface="ONE Mobile Title OTF" panose="00000500000000000000" pitchFamily="50" charset="-127"/>
                          <a:ea typeface="ONE Mobile Title OTF" panose="00000500000000000000" pitchFamily="50" charset="-127"/>
                        </a:rPr>
                        <a:t>파생속성</a:t>
                      </a:r>
                      <a:r>
                        <a:rPr lang="en-US" altLang="ko-KR" sz="1600" b="1">
                          <a:solidFill>
                            <a:schemeClr val="bg1"/>
                          </a:solidFill>
                          <a:latin typeface="ONE Mobile Title OTF" panose="00000500000000000000" pitchFamily="50" charset="-127"/>
                          <a:ea typeface="ONE Mobile Title OTF" panose="00000500000000000000" pitchFamily="50" charset="-127"/>
                        </a:rPr>
                        <a:t>(Derived Attribute)</a:t>
                      </a:r>
                      <a:endParaRPr lang="ko-KR" altLang="en-US" sz="1600" b="1">
                        <a:solidFill>
                          <a:schemeClr val="bg1"/>
                        </a:solidFill>
                        <a:latin typeface="ONE Mobile Title OTF" panose="00000500000000000000" pitchFamily="50" charset="-127"/>
                        <a:ea typeface="ONE Mobile Title OTF" panose="00000500000000000000" pitchFamily="50" charset="-127"/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DC8ED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1">
                          <a:solidFill>
                            <a:sysClr val="windowText" lastClr="000000"/>
                          </a:solidFill>
                          <a:latin typeface="ONE Mobile Title OTF" panose="00000500000000000000" pitchFamily="50" charset="-127"/>
                          <a:ea typeface="ONE Mobile Title OTF" panose="00000500000000000000" pitchFamily="50" charset="-127"/>
                        </a:rPr>
                        <a:t>다른 속성의 속성값을 계산하거나 특정한 규칙으로 변형하여 생성한 속성</a:t>
                      </a: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4684172"/>
                  </a:ext>
                </a:extLst>
              </a:tr>
            </a:tbl>
          </a:graphicData>
        </a:graphic>
      </p:graphicFrame>
      <p:graphicFrame>
        <p:nvGraphicFramePr>
          <p:cNvPr id="71" name="표 70">
            <a:extLst>
              <a:ext uri="{FF2B5EF4-FFF2-40B4-BE49-F238E27FC236}">
                <a16:creationId xmlns:a16="http://schemas.microsoft.com/office/drawing/2014/main" id="{DED85BB0-E4EF-BEED-45CA-00B85771007D}"/>
              </a:ext>
            </a:extLst>
          </p:cNvPr>
          <p:cNvGraphicFramePr>
            <a:graphicFrameLocks noGrp="1"/>
          </p:cNvGraphicFramePr>
          <p:nvPr/>
        </p:nvGraphicFramePr>
        <p:xfrm>
          <a:off x="955059" y="5468093"/>
          <a:ext cx="6780741" cy="107696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439163">
                  <a:extLst>
                    <a:ext uri="{9D8B030D-6E8A-4147-A177-3AD203B41FA5}">
                      <a16:colId xmlns:a16="http://schemas.microsoft.com/office/drawing/2014/main" val="1615830661"/>
                    </a:ext>
                  </a:extLst>
                </a:gridCol>
                <a:gridCol w="4341578">
                  <a:extLst>
                    <a:ext uri="{9D8B030D-6E8A-4147-A177-3AD203B41FA5}">
                      <a16:colId xmlns:a16="http://schemas.microsoft.com/office/drawing/2014/main" val="7811201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1">
                          <a:solidFill>
                            <a:schemeClr val="bg1"/>
                          </a:solidFill>
                          <a:latin typeface="ONE Mobile Title OTF" panose="00000500000000000000" pitchFamily="50" charset="-127"/>
                          <a:ea typeface="ONE Mobile Title OTF" panose="00000500000000000000" pitchFamily="50" charset="-127"/>
                        </a:rPr>
                        <a:t>PK(Primary</a:t>
                      </a:r>
                      <a:r>
                        <a:rPr lang="ko-KR" altLang="en-US" sz="1600" b="1">
                          <a:solidFill>
                            <a:schemeClr val="bg1"/>
                          </a:solidFill>
                          <a:latin typeface="ONE Mobile Title OTF" panose="00000500000000000000" pitchFamily="50" charset="-127"/>
                          <a:ea typeface="ONE Mobile Title OTF" panose="00000500000000000000" pitchFamily="50" charset="-127"/>
                        </a:rPr>
                        <a:t> </a:t>
                      </a:r>
                      <a:r>
                        <a:rPr lang="en-US" altLang="ko-KR" sz="1600" b="1">
                          <a:solidFill>
                            <a:schemeClr val="bg1"/>
                          </a:solidFill>
                          <a:latin typeface="ONE Mobile Title OTF" panose="00000500000000000000" pitchFamily="50" charset="-127"/>
                          <a:ea typeface="ONE Mobile Title OTF" panose="00000500000000000000" pitchFamily="50" charset="-127"/>
                        </a:rPr>
                        <a:t>Key)</a:t>
                      </a:r>
                      <a:r>
                        <a:rPr lang="ko-KR" altLang="en-US" sz="1600" b="1">
                          <a:solidFill>
                            <a:schemeClr val="bg1"/>
                          </a:solidFill>
                          <a:latin typeface="ONE Mobile Title OTF" panose="00000500000000000000" pitchFamily="50" charset="-127"/>
                          <a:ea typeface="ONE Mobile Title OTF" panose="00000500000000000000" pitchFamily="50" charset="-127"/>
                        </a:rPr>
                        <a:t>속성</a:t>
                      </a: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DC8ED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1">
                          <a:solidFill>
                            <a:sysClr val="windowText" lastClr="000000"/>
                          </a:solidFill>
                          <a:latin typeface="ONE Mobile Title OTF" panose="00000500000000000000" pitchFamily="50" charset="-127"/>
                          <a:ea typeface="ONE Mobile Title OTF" panose="00000500000000000000" pitchFamily="50" charset="-127"/>
                        </a:rPr>
                        <a:t>엔터티의 인스턴스들을 식별할 수 있는 속성</a:t>
                      </a: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72022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1">
                          <a:solidFill>
                            <a:schemeClr val="bg1"/>
                          </a:solidFill>
                          <a:latin typeface="ONE Mobile Title OTF" panose="00000500000000000000" pitchFamily="50" charset="-127"/>
                          <a:ea typeface="ONE Mobile Title OTF" panose="00000500000000000000" pitchFamily="50" charset="-127"/>
                        </a:rPr>
                        <a:t>FK(Foreign Key)</a:t>
                      </a:r>
                      <a:r>
                        <a:rPr lang="ko-KR" altLang="en-US" sz="1600" b="1">
                          <a:solidFill>
                            <a:schemeClr val="bg1"/>
                          </a:solidFill>
                          <a:latin typeface="ONE Mobile Title OTF" panose="00000500000000000000" pitchFamily="50" charset="-127"/>
                          <a:ea typeface="ONE Mobile Title OTF" panose="00000500000000000000" pitchFamily="50" charset="-127"/>
                        </a:rPr>
                        <a:t>속성</a:t>
                      </a: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DC8ED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1">
                          <a:solidFill>
                            <a:sysClr val="windowText" lastClr="000000"/>
                          </a:solidFill>
                          <a:latin typeface="ONE Mobile Title OTF" panose="00000500000000000000" pitchFamily="50" charset="-127"/>
                          <a:ea typeface="ONE Mobile Title OTF" panose="00000500000000000000" pitchFamily="50" charset="-127"/>
                        </a:rPr>
                        <a:t>다른 엔터티의 속성에서 가져온 속성</a:t>
                      </a: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36474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1">
                          <a:solidFill>
                            <a:schemeClr val="bg1"/>
                          </a:solidFill>
                          <a:latin typeface="ONE Mobile Title OTF" panose="00000500000000000000" pitchFamily="50" charset="-127"/>
                          <a:ea typeface="ONE Mobile Title OTF" panose="00000500000000000000" pitchFamily="50" charset="-127"/>
                        </a:rPr>
                        <a:t>일반속성</a:t>
                      </a: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DC8ED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1">
                          <a:solidFill>
                            <a:sysClr val="windowText" lastClr="000000"/>
                          </a:solidFill>
                          <a:latin typeface="ONE Mobile Title OTF" panose="00000500000000000000" pitchFamily="50" charset="-127"/>
                          <a:ea typeface="ONE Mobile Title OTF" panose="00000500000000000000" pitchFamily="50" charset="-127"/>
                        </a:rPr>
                        <a:t>PK,</a:t>
                      </a:r>
                      <a:r>
                        <a:rPr lang="ko-KR" altLang="en-US" sz="1600" b="1">
                          <a:solidFill>
                            <a:sysClr val="windowText" lastClr="000000"/>
                          </a:solidFill>
                          <a:latin typeface="ONE Mobile Title OTF" panose="00000500000000000000" pitchFamily="50" charset="-127"/>
                          <a:ea typeface="ONE Mobile Title OTF" panose="00000500000000000000" pitchFamily="50" charset="-127"/>
                        </a:rPr>
                        <a:t> </a:t>
                      </a:r>
                      <a:r>
                        <a:rPr lang="en-US" altLang="ko-KR" sz="1600" b="1">
                          <a:solidFill>
                            <a:sysClr val="windowText" lastClr="000000"/>
                          </a:solidFill>
                          <a:latin typeface="ONE Mobile Title OTF" panose="00000500000000000000" pitchFamily="50" charset="-127"/>
                          <a:ea typeface="ONE Mobile Title OTF" panose="00000500000000000000" pitchFamily="50" charset="-127"/>
                        </a:rPr>
                        <a:t>FK</a:t>
                      </a:r>
                      <a:r>
                        <a:rPr lang="ko-KR" altLang="en-US" sz="1600" b="1">
                          <a:solidFill>
                            <a:sysClr val="windowText" lastClr="000000"/>
                          </a:solidFill>
                          <a:latin typeface="ONE Mobile Title OTF" panose="00000500000000000000" pitchFamily="50" charset="-127"/>
                          <a:ea typeface="ONE Mobile Title OTF" panose="00000500000000000000" pitchFamily="50" charset="-127"/>
                        </a:rPr>
                        <a:t>를 제외한 나머지 속성</a:t>
                      </a: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46841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74044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7333" y="381000"/>
            <a:ext cx="2573867" cy="508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7600" y="381000"/>
            <a:ext cx="2573867" cy="508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7867" y="381000"/>
            <a:ext cx="2573867" cy="5080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20133"/>
            <a:ext cx="3251200" cy="643467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753533"/>
            <a:ext cx="12192000" cy="6104467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1733" y="1075267"/>
            <a:ext cx="11557000" cy="5469467"/>
          </a:xfrm>
          <a:prstGeom prst="rect">
            <a:avLst/>
          </a:prstGeom>
          <a:effectLst>
            <a:outerShdw blurRad="669826" dist="252339" dir="2700000">
              <a:srgbClr val="000000">
                <a:alpha val="10000"/>
              </a:srgbClr>
            </a:outerShdw>
          </a:effectLst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53067" y="5300134"/>
            <a:ext cx="9677400" cy="651933"/>
          </a:xfrm>
          <a:prstGeom prst="rect">
            <a:avLst/>
          </a:prstGeom>
        </p:spPr>
      </p:pic>
      <p:graphicFrame>
        <p:nvGraphicFramePr>
          <p:cNvPr id="9" name="Table 9"/>
          <p:cNvGraphicFramePr>
            <a:graphicFrameLocks noGrp="1"/>
          </p:cNvGraphicFramePr>
          <p:nvPr/>
        </p:nvGraphicFramePr>
        <p:xfrm>
          <a:off x="1253067" y="2700867"/>
          <a:ext cx="9677398" cy="2286000"/>
        </p:xfrm>
        <a:graphic>
          <a:graphicData uri="http://schemas.openxmlformats.org/drawingml/2006/table">
            <a:tbl>
              <a:tblPr/>
              <a:tblGrid>
                <a:gridCol w="12107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3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3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3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93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93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700"/>
                    </a:p>
                  </a:txBody>
                  <a:tcPr marL="12700" marR="12700" marT="12700" marB="12700" anchor="ctr">
                    <a:lnL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200" b="0" i="0" u="none" strike="noStrike" spc="200">
                          <a:solidFill>
                            <a:srgbClr val="9E9E9E"/>
                          </a:solidFill>
                          <a:latin typeface="Pretendard Medium"/>
                        </a:rPr>
                        <a:t>WEEK 1</a:t>
                      </a:r>
                      <a:endParaRPr lang="en-US" sz="700"/>
                    </a:p>
                  </a:txBody>
                  <a:tcPr marL="12700" marR="12700" marT="12700" marB="12700" anchor="ctr">
                    <a:lnL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200" b="0" i="0" u="none" strike="noStrike" spc="200">
                          <a:solidFill>
                            <a:srgbClr val="9E9E9E"/>
                          </a:solidFill>
                          <a:latin typeface="Pretendard Medium"/>
                        </a:rPr>
                        <a:t>WEEK 2</a:t>
                      </a:r>
                      <a:endParaRPr lang="en-US" sz="700"/>
                    </a:p>
                  </a:txBody>
                  <a:tcPr marL="12700" marR="12700" marT="12700" marB="12700" anchor="ctr">
                    <a:lnL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200" b="0" i="0" u="none" strike="noStrike" spc="200">
                          <a:solidFill>
                            <a:srgbClr val="9E9E9E"/>
                          </a:solidFill>
                          <a:latin typeface="Pretendard Medium"/>
                        </a:rPr>
                        <a:t>WEEK 3</a:t>
                      </a:r>
                      <a:endParaRPr lang="en-US" sz="700"/>
                    </a:p>
                  </a:txBody>
                  <a:tcPr marL="12700" marR="12700" marT="12700" marB="12700" anchor="ctr">
                    <a:lnL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200" b="0" i="0" u="none" strike="noStrike" spc="200">
                          <a:solidFill>
                            <a:srgbClr val="9E9E9E"/>
                          </a:solidFill>
                          <a:latin typeface="Pretendard Medium"/>
                        </a:rPr>
                        <a:t>WEEK 4</a:t>
                      </a:r>
                      <a:endParaRPr lang="en-US" sz="700"/>
                    </a:p>
                  </a:txBody>
                  <a:tcPr marL="12700" marR="12700" marT="12700" marB="12700" anchor="ctr">
                    <a:lnL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200" b="0" i="0" u="none" strike="noStrike" spc="200">
                          <a:solidFill>
                            <a:srgbClr val="9E9E9E"/>
                          </a:solidFill>
                          <a:latin typeface="Pretendard Medium"/>
                        </a:rPr>
                        <a:t>WEEK 5</a:t>
                      </a:r>
                      <a:endParaRPr lang="en-US" sz="700"/>
                    </a:p>
                  </a:txBody>
                  <a:tcPr marL="12700" marR="12700" marT="12700" marB="12700" anchor="ctr">
                    <a:lnL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200" b="0" i="0" u="none" strike="noStrike" spc="200">
                          <a:solidFill>
                            <a:srgbClr val="FFFFFF"/>
                          </a:solidFill>
                          <a:latin typeface="Pretendard Medium"/>
                        </a:rPr>
                        <a:t>STEP 01</a:t>
                      </a:r>
                      <a:endParaRPr lang="en-US" sz="700"/>
                    </a:p>
                  </a:txBody>
                  <a:tcPr marL="12700" marR="12700" marT="12700" marB="12700" anchor="ctr">
                    <a:lnL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B68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buNone/>
                      </a:pPr>
                      <a:r>
                        <a:rPr lang="ko-KR" sz="1100" b="1" i="0" u="none" strike="noStrike">
                          <a:solidFill>
                            <a:schemeClr val="tx1">
                              <a:lumMod val="76000"/>
                              <a:lumOff val="24000"/>
                            </a:schemeClr>
                          </a:solidFill>
                        </a:rPr>
                        <a:t>데이터 모델링의 이해</a:t>
                      </a:r>
                    </a:p>
                  </a:txBody>
                  <a:tcPr marL="12700" marR="12700" marT="12700" marB="12700" anchor="ctr">
                    <a:lnL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DA9E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700" b="1">
                        <a:solidFill>
                          <a:schemeClr val="tx1">
                            <a:lumMod val="76000"/>
                            <a:lumOff val="24000"/>
                          </a:schemeClr>
                        </a:solidFill>
                      </a:endParaRPr>
                    </a:p>
                  </a:txBody>
                  <a:tcPr marL="12700" marR="12700" marT="12700" marB="12700" anchor="ctr">
                    <a:lnL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700" b="1">
                        <a:solidFill>
                          <a:schemeClr val="tx1">
                            <a:lumMod val="76000"/>
                            <a:lumOff val="24000"/>
                          </a:schemeClr>
                        </a:solidFill>
                      </a:endParaRPr>
                    </a:p>
                  </a:txBody>
                  <a:tcPr marL="12700" marR="12700" marT="12700" marB="12700" anchor="ctr">
                    <a:lnL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700" b="1">
                        <a:solidFill>
                          <a:schemeClr val="tx1">
                            <a:lumMod val="76000"/>
                            <a:lumOff val="24000"/>
                          </a:schemeClr>
                        </a:solidFill>
                      </a:endParaRPr>
                    </a:p>
                  </a:txBody>
                  <a:tcPr marL="12700" marR="12700" marT="12700" marB="12700" anchor="ctr">
                    <a:lnL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700"/>
                    </a:p>
                  </a:txBody>
                  <a:tcPr marL="12700" marR="12700" marT="12700" marB="12700" anchor="ctr">
                    <a:lnL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200" b="0" i="0" u="none" strike="noStrike" spc="200">
                          <a:solidFill>
                            <a:srgbClr val="FFFFFF"/>
                          </a:solidFill>
                          <a:latin typeface="Pretendard Medium"/>
                        </a:rPr>
                        <a:t>STEP 02</a:t>
                      </a:r>
                      <a:endParaRPr lang="en-US" sz="700"/>
                    </a:p>
                  </a:txBody>
                  <a:tcPr marL="12700" marR="12700" marT="12700" marB="12700" anchor="ctr">
                    <a:lnL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E6E"/>
                    </a:solidFill>
                  </a:tcPr>
                </a:tc>
                <a:tc gridSpan="2"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buNone/>
                      </a:pPr>
                      <a:r>
                        <a:rPr lang="ko-KR" sz="1100" b="1" i="0" u="none" strike="noStrike">
                          <a:solidFill>
                            <a:schemeClr val="tx1">
                              <a:lumMod val="76000"/>
                              <a:lumOff val="24000"/>
                            </a:schemeClr>
                          </a:solidFill>
                        </a:rPr>
                        <a:t>데이터 모델과 </a:t>
                      </a:r>
                      <a:r>
                        <a:rPr lang="en-US" altLang="ko-KR" sz="1100" b="1" i="0" u="none" strike="noStrike">
                          <a:solidFill>
                            <a:schemeClr val="tx1">
                              <a:lumMod val="76000"/>
                              <a:lumOff val="24000"/>
                            </a:schemeClr>
                          </a:solidFill>
                        </a:rPr>
                        <a:t>SQL</a:t>
                      </a:r>
                      <a:endParaRPr lang="ko-KR" altLang="en-US" sz="1100" b="1" i="0" u="none" strike="noStrike">
                        <a:solidFill>
                          <a:schemeClr val="tx1">
                            <a:lumMod val="76000"/>
                            <a:lumOff val="24000"/>
                          </a:schemeClr>
                        </a:solidFill>
                      </a:endParaRPr>
                    </a:p>
                  </a:txBody>
                  <a:tcPr marL="12700" marR="12700" marT="12700" marB="12700" anchor="ctr">
                    <a:lnL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FAD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FA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700" b="1">
                        <a:solidFill>
                          <a:schemeClr val="tx1">
                            <a:lumMod val="76000"/>
                            <a:lumOff val="24000"/>
                          </a:schemeClr>
                        </a:solidFill>
                      </a:endParaRPr>
                    </a:p>
                  </a:txBody>
                  <a:tcPr marL="12700" marR="12700" marT="12700" marB="12700" anchor="ctr">
                    <a:lnL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700" b="1">
                        <a:solidFill>
                          <a:schemeClr val="tx1">
                            <a:lumMod val="76000"/>
                            <a:lumOff val="24000"/>
                          </a:schemeClr>
                        </a:solidFill>
                      </a:endParaRPr>
                    </a:p>
                  </a:txBody>
                  <a:tcPr marL="12700" marR="12700" marT="12700" marB="12700" anchor="ctr">
                    <a:lnL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700"/>
                    </a:p>
                  </a:txBody>
                  <a:tcPr marL="12700" marR="12700" marT="12700" marB="12700" anchor="ctr">
                    <a:lnL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200" b="0" i="0" u="none" strike="noStrike" spc="200">
                          <a:solidFill>
                            <a:srgbClr val="FFFFFF"/>
                          </a:solidFill>
                          <a:latin typeface="Pretendard Medium"/>
                        </a:rPr>
                        <a:t>STEP 03</a:t>
                      </a:r>
                      <a:endParaRPr lang="en-US" sz="700"/>
                    </a:p>
                  </a:txBody>
                  <a:tcPr marL="12700" marR="12700" marT="12700" marB="12700" anchor="ctr">
                    <a:lnL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AE8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700" b="1">
                        <a:solidFill>
                          <a:schemeClr val="tx1">
                            <a:lumMod val="76000"/>
                            <a:lumOff val="24000"/>
                          </a:schemeClr>
                        </a:solidFill>
                      </a:endParaRPr>
                    </a:p>
                  </a:txBody>
                  <a:tcPr marL="12700" marR="12700" marT="12700" marB="12700" anchor="ctr">
                    <a:lnL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</a:pPr>
                      <a:r>
                        <a:rPr lang="ko-KR" altLang="en-US" sz="1100" b="1" i="0" u="none" strike="noStrike">
                          <a:solidFill>
                            <a:schemeClr val="tx1">
                              <a:lumMod val="76000"/>
                              <a:lumOff val="24000"/>
                            </a:schemeClr>
                          </a:solidFill>
                        </a:rPr>
                        <a:t>SQL 기본</a:t>
                      </a:r>
                    </a:p>
                  </a:txBody>
                  <a:tcPr marL="12700" marR="12700" marT="12700" marB="12700" anchor="ctr">
                    <a:lnL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AAD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AA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700" b="1">
                        <a:solidFill>
                          <a:schemeClr val="tx1">
                            <a:lumMod val="76000"/>
                            <a:lumOff val="24000"/>
                          </a:schemeClr>
                        </a:solidFill>
                      </a:endParaRPr>
                    </a:p>
                  </a:txBody>
                  <a:tcPr marL="12700" marR="12700" marT="12700" marB="12700" anchor="ctr">
                    <a:lnL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700"/>
                    </a:p>
                  </a:txBody>
                  <a:tcPr marL="12700" marR="12700" marT="12700" marB="12700" anchor="ctr">
                    <a:lnL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200" b="0" i="0" u="none" strike="noStrike" spc="200">
                          <a:solidFill>
                            <a:srgbClr val="FFFFFF"/>
                          </a:solidFill>
                          <a:latin typeface="Pretendard Medium"/>
                        </a:rPr>
                        <a:t>STEP 04</a:t>
                      </a:r>
                      <a:endParaRPr lang="en-US" sz="700"/>
                    </a:p>
                  </a:txBody>
                  <a:tcPr marL="12700" marR="12700" marT="12700" marB="12700" anchor="ctr">
                    <a:lnL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CAE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700" b="1">
                        <a:solidFill>
                          <a:schemeClr val="tx1">
                            <a:lumMod val="76000"/>
                            <a:lumOff val="24000"/>
                          </a:schemeClr>
                        </a:solidFill>
                      </a:endParaRPr>
                    </a:p>
                  </a:txBody>
                  <a:tcPr marL="12700" marR="12700" marT="12700" marB="12700" anchor="ctr">
                    <a:lnL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700" b="1">
                        <a:solidFill>
                          <a:schemeClr val="tx1">
                            <a:lumMod val="76000"/>
                            <a:lumOff val="24000"/>
                          </a:schemeClr>
                        </a:solidFill>
                      </a:endParaRPr>
                    </a:p>
                  </a:txBody>
                  <a:tcPr marL="12700" marR="12700" marT="12700" marB="12700" anchor="ctr">
                    <a:lnL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buNone/>
                      </a:pPr>
                      <a:r>
                        <a:rPr lang="en-US" altLang="ko-KR" sz="1100" b="1" i="0" u="none" strike="noStrike">
                          <a:solidFill>
                            <a:schemeClr val="tx1">
                              <a:lumMod val="76000"/>
                              <a:lumOff val="24000"/>
                            </a:schemeClr>
                          </a:solidFill>
                        </a:rPr>
                        <a:t>SQL </a:t>
                      </a:r>
                      <a:r>
                        <a:rPr lang="en-US" altLang="ko-KR" sz="1100" b="1" i="0" u="none" strike="noStrike" err="1">
                          <a:solidFill>
                            <a:schemeClr val="tx1">
                              <a:lumMod val="76000"/>
                              <a:lumOff val="24000"/>
                            </a:schemeClr>
                          </a:solidFill>
                        </a:rPr>
                        <a:t>활용</a:t>
                      </a:r>
                      <a:endParaRPr lang="ko-KR" sz="1100" b="1" i="0" u="none" strike="noStrike">
                        <a:solidFill>
                          <a:schemeClr val="tx1">
                            <a:lumMod val="76000"/>
                            <a:lumOff val="24000"/>
                          </a:schemeClr>
                        </a:solidFill>
                      </a:endParaRPr>
                    </a:p>
                  </a:txBody>
                  <a:tcPr marL="12700" marR="12700" marT="12700" marB="12700" anchor="ctr">
                    <a:lnL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E1F9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E1F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700"/>
                    </a:p>
                  </a:txBody>
                  <a:tcPr marL="12700" marR="12700" marT="12700" marB="12700" anchor="ctr">
                    <a:lnL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200" b="0" i="0" u="none" strike="noStrike" spc="200">
                          <a:solidFill>
                            <a:srgbClr val="FFFFFF"/>
                          </a:solidFill>
                          <a:latin typeface="Pretendard Medium"/>
                        </a:rPr>
                        <a:t>STEP 05</a:t>
                      </a:r>
                      <a:endParaRPr lang="en-US" sz="700"/>
                    </a:p>
                  </a:txBody>
                  <a:tcPr marL="12700" marR="12700" marT="12700" marB="12700" anchor="ctr">
                    <a:lnL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9D8B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700" b="1">
                        <a:solidFill>
                          <a:schemeClr val="tx1">
                            <a:lumMod val="76000"/>
                            <a:lumOff val="24000"/>
                          </a:schemeClr>
                        </a:solidFill>
                      </a:endParaRPr>
                    </a:p>
                  </a:txBody>
                  <a:tcPr marL="12700" marR="12700" marT="12700" marB="12700" anchor="ctr">
                    <a:lnL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700" b="1">
                        <a:solidFill>
                          <a:schemeClr val="tx1">
                            <a:lumMod val="76000"/>
                            <a:lumOff val="24000"/>
                          </a:schemeClr>
                        </a:solidFill>
                      </a:endParaRPr>
                    </a:p>
                  </a:txBody>
                  <a:tcPr marL="12700" marR="12700" marT="12700" marB="12700" anchor="ctr">
                    <a:lnL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700" b="1">
                        <a:solidFill>
                          <a:schemeClr val="tx1">
                            <a:lumMod val="76000"/>
                            <a:lumOff val="24000"/>
                          </a:schemeClr>
                        </a:solidFill>
                      </a:endParaRPr>
                    </a:p>
                  </a:txBody>
                  <a:tcPr marL="12700" marR="12700" marT="12700" marB="12700" anchor="ctr">
                    <a:lnL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buNone/>
                      </a:pPr>
                      <a:r>
                        <a:rPr lang="ko-KR" altLang="en-US" sz="1100" b="1" i="0" u="none" strike="noStrike">
                          <a:solidFill>
                            <a:schemeClr val="tx1">
                              <a:lumMod val="76000"/>
                              <a:lumOff val="24000"/>
                            </a:schemeClr>
                          </a:solidFill>
                        </a:rPr>
                        <a:t>관리 구문</a:t>
                      </a:r>
                    </a:p>
                  </a:txBody>
                  <a:tcPr marL="12700" marR="12700" marT="12700" marB="12700" anchor="ctr">
                    <a:lnL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EEDF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30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EE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Box 10"/>
          <p:cNvSpPr txBox="1"/>
          <p:nvPr/>
        </p:nvSpPr>
        <p:spPr>
          <a:xfrm>
            <a:off x="1752600" y="5503334"/>
            <a:ext cx="8686800" cy="245533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4499"/>
              </a:lnSpc>
            </a:pPr>
            <a:r>
              <a:rPr lang="ko-KR" altLang="en-US" sz="1400">
                <a:solidFill>
                  <a:srgbClr val="000000"/>
                </a:solidFill>
                <a:latin typeface="맑은 고딕"/>
                <a:ea typeface="맑은 고딕"/>
              </a:rPr>
              <a:t>주차 마다 과목의 주요항목들을 정복!</a:t>
            </a:r>
            <a:endParaRPr lang="ko-KR" altLang="en-US" sz="1400" b="0" i="0" u="none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989667" y="1430867"/>
            <a:ext cx="8212667" cy="855133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16199"/>
              </a:lnSpc>
            </a:pPr>
            <a:r>
              <a:rPr lang="ko-KR" altLang="en-US" sz="4800" err="1">
                <a:solidFill>
                  <a:srgbClr val="78CDE0"/>
                </a:solidFill>
                <a:latin typeface="ONE Mobile Title OTF"/>
                <a:ea typeface="맑은 고딕"/>
              </a:rPr>
              <a:t>주차별</a:t>
            </a:r>
            <a:r>
              <a:rPr lang="ko-KR" altLang="en-US" sz="4800">
                <a:solidFill>
                  <a:srgbClr val="78CDE0"/>
                </a:solidFill>
                <a:latin typeface="ONE Mobile Title OTF"/>
                <a:ea typeface="맑은 고딕"/>
              </a:rPr>
              <a:t> 준비 계획</a:t>
            </a:r>
            <a:endParaRPr lang="ko-KR" sz="4800">
              <a:solidFill>
                <a:srgbClr val="78CDE0"/>
              </a:solidFill>
              <a:ea typeface="Malgun Gothic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491067" y="423333"/>
            <a:ext cx="1998133" cy="279400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04580"/>
              </a:lnSpc>
            </a:pPr>
            <a:r>
              <a:rPr lang="en-US" sz="1600" b="0" i="0" u="none" strike="noStrike" spc="400">
                <a:solidFill>
                  <a:srgbClr val="FFFFFF"/>
                </a:solidFill>
                <a:latin typeface="Pretendard Bold"/>
              </a:rPr>
              <a:t>SCHEDULE</a:t>
            </a:r>
          </a:p>
        </p:txBody>
      </p:sp>
    </p:spTree>
    <p:extLst>
      <p:ext uri="{BB962C8B-B14F-4D97-AF65-F5344CB8AC3E}">
        <p14:creationId xmlns:p14="http://schemas.microsoft.com/office/powerpoint/2010/main" val="11668296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7333" y="381000"/>
            <a:ext cx="2573867" cy="508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7600" y="381000"/>
            <a:ext cx="2573867" cy="508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7867" y="381000"/>
            <a:ext cx="2573867" cy="5080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20133"/>
            <a:ext cx="3251200" cy="643467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753533"/>
            <a:ext cx="12192000" cy="6104467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1733" y="1075267"/>
            <a:ext cx="11557000" cy="5469467"/>
          </a:xfrm>
          <a:prstGeom prst="rect">
            <a:avLst/>
          </a:prstGeom>
          <a:effectLst>
            <a:outerShdw blurRad="669826" dist="252339" dir="2700000">
              <a:srgbClr val="000000">
                <a:alpha val="10000"/>
              </a:srgbClr>
            </a:outerShdw>
          </a:effectLst>
        </p:spPr>
      </p:pic>
      <p:sp>
        <p:nvSpPr>
          <p:cNvPr id="21" name="TextBox 21"/>
          <p:cNvSpPr txBox="1"/>
          <p:nvPr/>
        </p:nvSpPr>
        <p:spPr>
          <a:xfrm>
            <a:off x="491067" y="423333"/>
            <a:ext cx="1998133" cy="279400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04580"/>
              </a:lnSpc>
            </a:pPr>
            <a:r>
              <a:rPr lang="ko-KR" altLang="en-US" sz="1600" spc="400">
                <a:solidFill>
                  <a:srgbClr val="FFFFFF"/>
                </a:solidFill>
                <a:latin typeface="Pretendard Bold"/>
                <a:ea typeface="맑은 고딕"/>
              </a:rPr>
              <a:t>시험주요내용</a:t>
            </a:r>
            <a:endParaRPr lang="en-US" sz="1600" b="0" i="0" u="none" strike="noStrike" spc="400">
              <a:solidFill>
                <a:srgbClr val="FFFFFF"/>
              </a:solidFill>
              <a:latin typeface="Pretendard Bold"/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BAA629A9-15EC-DA0B-7A80-62C66DC7A831}"/>
              </a:ext>
            </a:extLst>
          </p:cNvPr>
          <p:cNvGraphicFramePr>
            <a:graphicFrameLocks noGrp="1"/>
          </p:cNvGraphicFramePr>
          <p:nvPr/>
        </p:nvGraphicFramePr>
        <p:xfrm>
          <a:off x="3715407" y="1556406"/>
          <a:ext cx="8109923" cy="4950675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1042422">
                  <a:extLst>
                    <a:ext uri="{9D8B030D-6E8A-4147-A177-3AD203B41FA5}">
                      <a16:colId xmlns:a16="http://schemas.microsoft.com/office/drawing/2014/main" val="60860948"/>
                    </a:ext>
                  </a:extLst>
                </a:gridCol>
                <a:gridCol w="1571535">
                  <a:extLst>
                    <a:ext uri="{9D8B030D-6E8A-4147-A177-3AD203B41FA5}">
                      <a16:colId xmlns:a16="http://schemas.microsoft.com/office/drawing/2014/main" val="3713885553"/>
                    </a:ext>
                  </a:extLst>
                </a:gridCol>
                <a:gridCol w="1650506">
                  <a:extLst>
                    <a:ext uri="{9D8B030D-6E8A-4147-A177-3AD203B41FA5}">
                      <a16:colId xmlns:a16="http://schemas.microsoft.com/office/drawing/2014/main" val="179063355"/>
                    </a:ext>
                  </a:extLst>
                </a:gridCol>
                <a:gridCol w="1349324">
                  <a:extLst>
                    <a:ext uri="{9D8B030D-6E8A-4147-A177-3AD203B41FA5}">
                      <a16:colId xmlns:a16="http://schemas.microsoft.com/office/drawing/2014/main" val="209443028"/>
                    </a:ext>
                  </a:extLst>
                </a:gridCol>
                <a:gridCol w="1871628">
                  <a:extLst>
                    <a:ext uri="{9D8B030D-6E8A-4147-A177-3AD203B41FA5}">
                      <a16:colId xmlns:a16="http://schemas.microsoft.com/office/drawing/2014/main" val="315290010"/>
                    </a:ext>
                  </a:extLst>
                </a:gridCol>
                <a:gridCol w="624508">
                  <a:extLst>
                    <a:ext uri="{9D8B030D-6E8A-4147-A177-3AD203B41FA5}">
                      <a16:colId xmlns:a16="http://schemas.microsoft.com/office/drawing/2014/main" val="1740211836"/>
                    </a:ext>
                  </a:extLst>
                </a:gridCol>
              </a:tblGrid>
              <a:tr h="297793"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400" u="none" strike="noStrike" kern="1200">
                          <a:solidFill>
                            <a:srgbClr val="FFFFFF"/>
                          </a:solidFill>
                          <a:effectLst/>
                        </a:rPr>
                        <a:t>과목명</a:t>
                      </a:r>
                      <a:endParaRPr lang="ko-KR" altLang="en-US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9D8BD"/>
                      </a:solidFill>
                    </a:lnL>
                    <a:lnR w="12700">
                      <a:solidFill>
                        <a:srgbClr val="89D8BD"/>
                      </a:solidFill>
                    </a:lnR>
                    <a:lnT w="12700">
                      <a:solidFill>
                        <a:srgbClr val="89D8BD"/>
                      </a:solidFill>
                    </a:lnT>
                    <a:lnB w="12700">
                      <a:solidFill>
                        <a:srgbClr val="89D8BD"/>
                      </a:solidFill>
                    </a:lnB>
                    <a:solidFill>
                      <a:srgbClr val="88D7B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400" u="none" strike="noStrike" kern="1200">
                          <a:solidFill>
                            <a:srgbClr val="FFFFFF"/>
                          </a:solidFill>
                          <a:effectLst/>
                        </a:rPr>
                        <a:t>데이터 모델링의 이해</a:t>
                      </a:r>
                      <a:endParaRPr lang="ko-KR" altLang="en-US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9D8BD"/>
                      </a:solidFill>
                    </a:lnL>
                    <a:lnR w="12700">
                      <a:solidFill>
                        <a:srgbClr val="89D8BD"/>
                      </a:solidFill>
                    </a:lnR>
                    <a:lnT w="12700">
                      <a:solidFill>
                        <a:srgbClr val="89D8BD"/>
                      </a:solidFill>
                    </a:lnT>
                    <a:lnB w="12700">
                      <a:solidFill>
                        <a:srgbClr val="89D8BD"/>
                      </a:solidFill>
                    </a:lnB>
                    <a:solidFill>
                      <a:srgbClr val="88D7B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 horzOverflow="overflow"/>
                </a:tc>
                <a:tc gridSpan="3"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en-US" sz="1400" u="none" strike="noStrike" kern="1200">
                          <a:solidFill>
                            <a:srgbClr val="FFFFFF"/>
                          </a:solidFill>
                          <a:effectLst/>
                        </a:rPr>
                        <a:t>SQL </a:t>
                      </a:r>
                      <a:r>
                        <a:rPr lang="ko-KR" altLang="en-US" sz="1400" u="none" strike="noStrike" kern="1200">
                          <a:solidFill>
                            <a:srgbClr val="FFFFFF"/>
                          </a:solidFill>
                          <a:effectLst/>
                        </a:rPr>
                        <a:t>기본 및 활용</a:t>
                      </a:r>
                      <a:endParaRPr lang="ko-KR" altLang="en-US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9D8BD"/>
                      </a:solidFill>
                    </a:lnL>
                    <a:lnR w="12700">
                      <a:solidFill>
                        <a:srgbClr val="89D8BD"/>
                      </a:solidFill>
                    </a:lnR>
                    <a:lnT w="12700">
                      <a:solidFill>
                        <a:srgbClr val="89D8BD"/>
                      </a:solidFill>
                    </a:lnT>
                    <a:lnB w="12700">
                      <a:solidFill>
                        <a:srgbClr val="89D8BD"/>
                      </a:solidFill>
                    </a:lnB>
                    <a:solidFill>
                      <a:srgbClr val="88D7B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 horzOverflow="overflow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 horzOverflow="overflow"/>
                </a:tc>
                <a:extLst>
                  <a:ext uri="{0D108BD9-81ED-4DB2-BD59-A6C34878D82A}">
                    <a16:rowId xmlns:a16="http://schemas.microsoft.com/office/drawing/2014/main" val="1669447462"/>
                  </a:ext>
                </a:extLst>
              </a:tr>
              <a:tr h="440953"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400" b="1" u="none" strike="noStrike" kern="1200">
                          <a:solidFill>
                            <a:schemeClr val="bg1"/>
                          </a:solidFill>
                          <a:effectLst/>
                        </a:rPr>
                        <a:t>주요항목</a:t>
                      </a:r>
                      <a:endParaRPr lang="ko-KR" altLang="en-US" sz="1400" b="1" u="none" strike="noStrike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9D8BD"/>
                      </a:solidFill>
                    </a:lnL>
                    <a:lnR w="12700">
                      <a:solidFill>
                        <a:srgbClr val="89D8BD"/>
                      </a:solidFill>
                    </a:lnR>
                    <a:lnT w="12700">
                      <a:solidFill>
                        <a:srgbClr val="89D8BD"/>
                      </a:solidFill>
                    </a:lnT>
                    <a:lnB w="12700">
                      <a:solidFill>
                        <a:srgbClr val="BCEBDB"/>
                      </a:solidFill>
                    </a:lnB>
                    <a:solidFill>
                      <a:srgbClr val="88D7B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데이터 모델링의 이해</a:t>
                      </a:r>
                      <a:endParaRPr lang="ko-KR" altLang="en-US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9D8BD"/>
                      </a:solidFill>
                    </a:lnL>
                    <a:lnR w="12700">
                      <a:solidFill>
                        <a:srgbClr val="89D8BD"/>
                      </a:solidFill>
                    </a:lnR>
                    <a:lnT w="12700">
                      <a:solidFill>
                        <a:srgbClr val="89D8BD"/>
                      </a:solidFill>
                    </a:lnT>
                    <a:lnB w="12700">
                      <a:solidFill>
                        <a:srgbClr val="88D7BC"/>
                      </a:solidFill>
                    </a:lnB>
                    <a:solidFill>
                      <a:srgbClr val="BCEBD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데이터 모델과 </a:t>
                      </a:r>
                      <a:r>
                        <a:rPr lang="af-ZA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SQL</a:t>
                      </a:r>
                      <a:endParaRPr lang="af-ZA" altLang="ko-KR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9D8BD"/>
                      </a:solidFill>
                    </a:lnL>
                    <a:lnR w="12700">
                      <a:solidFill>
                        <a:srgbClr val="89D8BD"/>
                      </a:solidFill>
                    </a:lnR>
                    <a:lnT w="12700">
                      <a:solidFill>
                        <a:srgbClr val="89D8BD"/>
                      </a:solidFill>
                    </a:lnT>
                    <a:lnB w="12700">
                      <a:solidFill>
                        <a:srgbClr val="89D8BD"/>
                      </a:solidFill>
                    </a:lnB>
                    <a:solidFill>
                      <a:srgbClr val="BCEBD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SQL </a:t>
                      </a:r>
                      <a: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기본</a:t>
                      </a:r>
                      <a:endParaRPr lang="ko-KR" altLang="en-US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9D8BD"/>
                      </a:solidFill>
                    </a:lnL>
                    <a:lnR w="12700">
                      <a:solidFill>
                        <a:srgbClr val="89D8BD"/>
                      </a:solidFill>
                    </a:lnR>
                    <a:lnT w="12700">
                      <a:solidFill>
                        <a:srgbClr val="89D8BD"/>
                      </a:solidFill>
                    </a:lnT>
                    <a:lnB w="12700">
                      <a:solidFill>
                        <a:srgbClr val="89D8BD"/>
                      </a:solidFill>
                    </a:lnB>
                    <a:solidFill>
                      <a:srgbClr val="BCEBD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SQL </a:t>
                      </a:r>
                      <a: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활용</a:t>
                      </a:r>
                      <a:endParaRPr lang="ko-KR" altLang="en-US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9D8BD"/>
                      </a:solidFill>
                    </a:lnL>
                    <a:lnR w="12700">
                      <a:solidFill>
                        <a:srgbClr val="89D8BD"/>
                      </a:solidFill>
                    </a:lnR>
                    <a:lnT w="12700">
                      <a:solidFill>
                        <a:srgbClr val="89D8BD"/>
                      </a:solidFill>
                    </a:lnT>
                    <a:lnB w="12700">
                      <a:solidFill>
                        <a:srgbClr val="89D8BD"/>
                      </a:solidFill>
                    </a:lnB>
                    <a:solidFill>
                      <a:srgbClr val="BCEBD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DML</a:t>
                      </a:r>
                      <a:endParaRPr lang="en-US" altLang="ko-KR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9D8BD"/>
                      </a:solidFill>
                    </a:lnL>
                    <a:lnR w="12700">
                      <a:solidFill>
                        <a:srgbClr val="89D8BD"/>
                      </a:solidFill>
                    </a:lnR>
                    <a:lnT w="12700">
                      <a:solidFill>
                        <a:srgbClr val="89D8BD"/>
                      </a:solidFill>
                    </a:lnT>
                    <a:lnB w="12700">
                      <a:solidFill>
                        <a:srgbClr val="89D8BD"/>
                      </a:solidFill>
                    </a:lnB>
                    <a:solidFill>
                      <a:srgbClr val="BCEB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4068383"/>
                  </a:ext>
                </a:extLst>
              </a:tr>
              <a:tr h="501775">
                <a:tc rowSpan="8"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400" b="1" u="none" strike="noStrike" kern="1200">
                          <a:solidFill>
                            <a:schemeClr val="bg1"/>
                          </a:solidFill>
                          <a:effectLst/>
                        </a:rPr>
                        <a:t>세부항목</a:t>
                      </a:r>
                      <a:endParaRPr lang="ko-KR" altLang="en-US" sz="1400" b="1" u="none" strike="noStrike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BCEBDB"/>
                      </a:solidFill>
                    </a:lnL>
                    <a:lnR w="12700">
                      <a:solidFill>
                        <a:srgbClr val="88D7BC"/>
                      </a:solidFill>
                    </a:lnR>
                    <a:lnT w="12700">
                      <a:solidFill>
                        <a:srgbClr val="BCEBDB"/>
                      </a:solidFill>
                    </a:lnT>
                    <a:lnB w="12700">
                      <a:solidFill>
                        <a:srgbClr val="BCEBDB"/>
                      </a:solidFill>
                    </a:lnB>
                    <a:solidFill>
                      <a:srgbClr val="88D7B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데이터모델의 </a:t>
                      </a:r>
                      <a:b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이해</a:t>
                      </a:r>
                      <a:endParaRPr lang="ko-KR" altLang="en-US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8D7BC"/>
                      </a:solidFill>
                    </a:lnL>
                    <a:lnR w="12700">
                      <a:solidFill>
                        <a:srgbClr val="88D7BC"/>
                      </a:solidFill>
                    </a:lnR>
                    <a:lnT w="12700">
                      <a:solidFill>
                        <a:srgbClr val="88D7BC"/>
                      </a:solidFill>
                    </a:lnT>
                    <a:lnB w="12700">
                      <a:solidFill>
                        <a:srgbClr val="88D7B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정규화</a:t>
                      </a:r>
                      <a:endParaRPr lang="ko-KR" altLang="en-US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8D7BC"/>
                      </a:solidFill>
                    </a:lnL>
                    <a:lnR w="12700">
                      <a:solidFill>
                        <a:srgbClr val="89D8BD"/>
                      </a:solidFill>
                    </a:lnR>
                    <a:lnT w="12700">
                      <a:solidFill>
                        <a:srgbClr val="89D8BD"/>
                      </a:solidFill>
                    </a:lnT>
                    <a:lnB w="12700">
                      <a:solidFill>
                        <a:srgbClr val="89D8B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관계형 데이터베이스 개요</a:t>
                      </a:r>
                      <a:endParaRPr lang="ko-KR" altLang="en-US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9D8BD"/>
                      </a:solidFill>
                    </a:lnL>
                    <a:lnR w="12700">
                      <a:solidFill>
                        <a:srgbClr val="89D8BD"/>
                      </a:solidFill>
                    </a:lnR>
                    <a:lnT w="12700">
                      <a:solidFill>
                        <a:srgbClr val="89D8BD"/>
                      </a:solidFill>
                    </a:lnT>
                    <a:lnB w="12700">
                      <a:solidFill>
                        <a:srgbClr val="89D8B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서브 쿼리</a:t>
                      </a:r>
                      <a:endParaRPr lang="ko-KR" altLang="en-US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9D8BD"/>
                      </a:solidFill>
                    </a:lnL>
                    <a:lnR w="12700">
                      <a:solidFill>
                        <a:srgbClr val="89D8BD"/>
                      </a:solidFill>
                    </a:lnR>
                    <a:lnT w="12700">
                      <a:solidFill>
                        <a:srgbClr val="89D8BD"/>
                      </a:solidFill>
                    </a:lnT>
                    <a:lnB w="12700">
                      <a:solidFill>
                        <a:srgbClr val="89D8B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TCL</a:t>
                      </a:r>
                      <a:endParaRPr lang="en-US" altLang="ko-KR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9D8BD"/>
                      </a:solidFill>
                    </a:lnL>
                    <a:lnR w="12700">
                      <a:solidFill>
                        <a:srgbClr val="89D8BD"/>
                      </a:solidFill>
                    </a:lnR>
                    <a:lnT w="12700">
                      <a:solidFill>
                        <a:srgbClr val="89D8BD"/>
                      </a:solidFill>
                    </a:lnT>
                    <a:lnB w="12700">
                      <a:solidFill>
                        <a:srgbClr val="89D8BD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5863733"/>
                  </a:ext>
                </a:extLst>
              </a:tr>
              <a:tr h="44095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400" u="none" strike="noStrike" kern="1200" err="1">
                          <a:solidFill>
                            <a:srgbClr val="000000"/>
                          </a:solidFill>
                          <a:effectLst/>
                        </a:rPr>
                        <a:t>엔터티</a:t>
                      </a:r>
                      <a:endParaRPr lang="ko-KR" altLang="en-US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8D7BC"/>
                      </a:solidFill>
                    </a:lnL>
                    <a:lnR w="12700">
                      <a:solidFill>
                        <a:srgbClr val="88D7BC"/>
                      </a:solidFill>
                    </a:lnR>
                    <a:lnT w="12700">
                      <a:solidFill>
                        <a:srgbClr val="88D7BC"/>
                      </a:solidFill>
                    </a:lnT>
                    <a:lnB w="12700">
                      <a:solidFill>
                        <a:srgbClr val="88D7BC"/>
                      </a:solidFill>
                    </a:lnB>
                    <a:solidFill>
                      <a:srgbClr val="BCEBD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관계와 조인의 </a:t>
                      </a:r>
                      <a:endParaRPr lang="ko-KR" altLang="en-US" sz="1400" u="none" strike="noStrike">
                        <a:effectLst/>
                      </a:endParaRPr>
                    </a:p>
                    <a:p>
                      <a:pPr marL="0" lvl="0" algn="ctr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이해</a:t>
                      </a:r>
                      <a:endParaRPr lang="ko-KR" altLang="en-US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8D7BC"/>
                      </a:solidFill>
                    </a:lnL>
                    <a:lnR w="12700">
                      <a:solidFill>
                        <a:srgbClr val="89D8BD"/>
                      </a:solidFill>
                    </a:lnR>
                    <a:lnT w="12700">
                      <a:solidFill>
                        <a:srgbClr val="89D8BD"/>
                      </a:solidFill>
                    </a:lnT>
                    <a:lnB w="12700">
                      <a:solidFill>
                        <a:srgbClr val="89D8BD"/>
                      </a:solidFill>
                    </a:lnB>
                    <a:solidFill>
                      <a:srgbClr val="BCEBD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SELECT </a:t>
                      </a:r>
                      <a: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문</a:t>
                      </a:r>
                      <a:endParaRPr lang="ko-KR" altLang="en-US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9D8BD"/>
                      </a:solidFill>
                    </a:lnL>
                    <a:lnR w="12700">
                      <a:solidFill>
                        <a:srgbClr val="89D8BD"/>
                      </a:solidFill>
                    </a:lnR>
                    <a:lnT w="12700">
                      <a:solidFill>
                        <a:srgbClr val="89D8BD"/>
                      </a:solidFill>
                    </a:lnT>
                    <a:lnB w="12700">
                      <a:solidFill>
                        <a:srgbClr val="89D8BD"/>
                      </a:solidFill>
                    </a:lnB>
                    <a:solidFill>
                      <a:srgbClr val="BCEBD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집합 연산자</a:t>
                      </a:r>
                      <a:endParaRPr lang="ko-KR" altLang="en-US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9D8BD"/>
                      </a:solidFill>
                    </a:lnL>
                    <a:lnR w="12700">
                      <a:solidFill>
                        <a:srgbClr val="89D8BD"/>
                      </a:solidFill>
                    </a:lnR>
                    <a:lnT w="12700">
                      <a:solidFill>
                        <a:srgbClr val="89D8BD"/>
                      </a:solidFill>
                    </a:lnT>
                    <a:lnB w="12700">
                      <a:solidFill>
                        <a:srgbClr val="89D8BD"/>
                      </a:solidFill>
                    </a:lnB>
                    <a:solidFill>
                      <a:srgbClr val="BCEBD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DDL</a:t>
                      </a:r>
                      <a:endParaRPr lang="en-US" altLang="ko-KR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9D8BD"/>
                      </a:solidFill>
                    </a:lnL>
                    <a:lnR w="12700">
                      <a:solidFill>
                        <a:srgbClr val="89D8BD"/>
                      </a:solidFill>
                    </a:lnR>
                    <a:lnT w="12700">
                      <a:solidFill>
                        <a:srgbClr val="89D8BD"/>
                      </a:solidFill>
                    </a:lnT>
                    <a:lnB w="12700">
                      <a:solidFill>
                        <a:srgbClr val="89D8BD"/>
                      </a:solidFill>
                    </a:lnB>
                    <a:solidFill>
                      <a:srgbClr val="BCEB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4410961"/>
                  </a:ext>
                </a:extLst>
              </a:tr>
              <a:tr h="66903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속성</a:t>
                      </a:r>
                      <a:endParaRPr lang="ko-KR" altLang="en-US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8D7BC"/>
                      </a:solidFill>
                    </a:lnL>
                    <a:lnR w="12700">
                      <a:solidFill>
                        <a:srgbClr val="88D7BC"/>
                      </a:solidFill>
                    </a:lnR>
                    <a:lnT w="12700">
                      <a:solidFill>
                        <a:srgbClr val="88D7BC"/>
                      </a:solidFill>
                    </a:lnT>
                    <a:lnB w="12700">
                      <a:solidFill>
                        <a:srgbClr val="88D7B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모델이 표현하는 </a:t>
                      </a:r>
                      <a:b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트랜잭션의 이해</a:t>
                      </a:r>
                      <a:endParaRPr lang="ko-KR" altLang="en-US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8D7BC"/>
                      </a:solidFill>
                    </a:lnL>
                    <a:lnR w="12700">
                      <a:solidFill>
                        <a:srgbClr val="89D8BD"/>
                      </a:solidFill>
                    </a:lnR>
                    <a:lnT w="12700">
                      <a:solidFill>
                        <a:srgbClr val="89D8BD"/>
                      </a:solidFill>
                    </a:lnT>
                    <a:lnB w="12700">
                      <a:solidFill>
                        <a:srgbClr val="89D8B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함수</a:t>
                      </a:r>
                      <a:endParaRPr lang="ko-KR" altLang="en-US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9D8BD"/>
                      </a:solidFill>
                    </a:lnL>
                    <a:lnR w="12700">
                      <a:solidFill>
                        <a:srgbClr val="89D8BD"/>
                      </a:solidFill>
                    </a:lnR>
                    <a:lnT w="12700">
                      <a:solidFill>
                        <a:srgbClr val="89D8BD"/>
                      </a:solidFill>
                    </a:lnT>
                    <a:lnB w="12700">
                      <a:solidFill>
                        <a:srgbClr val="89D8B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그룹 함수</a:t>
                      </a:r>
                      <a:endParaRPr lang="ko-KR" altLang="en-US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9D8BD"/>
                      </a:solidFill>
                    </a:lnL>
                    <a:lnR w="12700">
                      <a:solidFill>
                        <a:srgbClr val="89D8BD"/>
                      </a:solidFill>
                    </a:lnR>
                    <a:lnT w="12700">
                      <a:solidFill>
                        <a:srgbClr val="89D8BD"/>
                      </a:solidFill>
                    </a:lnT>
                    <a:lnB w="12700">
                      <a:solidFill>
                        <a:srgbClr val="89D8B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CDL</a:t>
                      </a:r>
                      <a:endParaRPr lang="en-US" altLang="ko-KR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9D8BD"/>
                      </a:solidFill>
                    </a:lnL>
                    <a:lnR w="12700">
                      <a:solidFill>
                        <a:srgbClr val="89D8BD"/>
                      </a:solidFill>
                    </a:lnR>
                    <a:lnT w="12700">
                      <a:solidFill>
                        <a:srgbClr val="89D8BD"/>
                      </a:solidFill>
                    </a:lnT>
                    <a:lnB w="12700">
                      <a:solidFill>
                        <a:srgbClr val="89D8BD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2086291"/>
                  </a:ext>
                </a:extLst>
              </a:tr>
              <a:tr h="34972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관계</a:t>
                      </a:r>
                      <a:endParaRPr lang="ko-KR" altLang="en-US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8D7BC"/>
                      </a:solidFill>
                    </a:lnL>
                    <a:lnR w="12700">
                      <a:solidFill>
                        <a:srgbClr val="88D7BC"/>
                      </a:solidFill>
                    </a:lnR>
                    <a:lnT w="12700">
                      <a:solidFill>
                        <a:srgbClr val="88D7BC"/>
                      </a:solidFill>
                    </a:lnT>
                    <a:lnB w="12700">
                      <a:solidFill>
                        <a:srgbClr val="88D7BC"/>
                      </a:solidFill>
                    </a:lnB>
                    <a:solidFill>
                      <a:srgbClr val="BCEBD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Null </a:t>
                      </a:r>
                      <a: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속성의 이해</a:t>
                      </a:r>
                      <a:endParaRPr lang="ko-KR" altLang="en-US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8D7BC"/>
                      </a:solidFill>
                    </a:lnL>
                    <a:lnR w="12700">
                      <a:solidFill>
                        <a:srgbClr val="89D8BD"/>
                      </a:solidFill>
                    </a:lnR>
                    <a:lnT w="12700">
                      <a:solidFill>
                        <a:srgbClr val="89D8BD"/>
                      </a:solidFill>
                    </a:lnT>
                    <a:lnB w="12700">
                      <a:solidFill>
                        <a:srgbClr val="89D8BD"/>
                      </a:solidFill>
                    </a:lnB>
                    <a:solidFill>
                      <a:srgbClr val="BCEBD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WHERE </a:t>
                      </a:r>
                      <a: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절</a:t>
                      </a:r>
                      <a:endParaRPr lang="ko-KR" altLang="en-US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9D8BD"/>
                      </a:solidFill>
                    </a:lnL>
                    <a:lnR w="12700">
                      <a:solidFill>
                        <a:srgbClr val="89D8BD"/>
                      </a:solidFill>
                    </a:lnR>
                    <a:lnT w="12700">
                      <a:solidFill>
                        <a:srgbClr val="89D8BD"/>
                      </a:solidFill>
                    </a:lnT>
                    <a:lnB w="12700">
                      <a:solidFill>
                        <a:srgbClr val="89D8BD"/>
                      </a:solidFill>
                    </a:lnB>
                    <a:solidFill>
                      <a:srgbClr val="BCEBD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윈도우 함수</a:t>
                      </a:r>
                      <a:endParaRPr lang="ko-KR" altLang="en-US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9D8BD"/>
                      </a:solidFill>
                    </a:lnL>
                    <a:lnR w="12700">
                      <a:solidFill>
                        <a:srgbClr val="89D8BD"/>
                      </a:solidFill>
                    </a:lnR>
                    <a:lnT w="12700">
                      <a:solidFill>
                        <a:srgbClr val="89D8BD"/>
                      </a:solidFill>
                    </a:lnT>
                    <a:lnB w="12700">
                      <a:solidFill>
                        <a:srgbClr val="89D8BD"/>
                      </a:solidFill>
                    </a:lnB>
                    <a:solidFill>
                      <a:srgbClr val="BCEBDB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-</a:t>
                      </a:r>
                      <a:endParaRPr lang="en-US" altLang="ko-KR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9D8BD"/>
                      </a:solidFill>
                    </a:lnL>
                    <a:lnR w="12700">
                      <a:solidFill>
                        <a:srgbClr val="89D8BD"/>
                      </a:solidFill>
                    </a:lnR>
                    <a:lnT w="12700">
                      <a:solidFill>
                        <a:srgbClr val="89D8BD"/>
                      </a:solidFill>
                    </a:lnT>
                    <a:lnB w="12700">
                      <a:solidFill>
                        <a:srgbClr val="89D8BD"/>
                      </a:solidFill>
                    </a:lnB>
                    <a:solidFill>
                      <a:srgbClr val="BCEB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6876979"/>
                  </a:ext>
                </a:extLst>
              </a:tr>
              <a:tr h="63862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식별자</a:t>
                      </a:r>
                      <a:endParaRPr lang="ko-KR" altLang="en-US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8D7BC"/>
                      </a:solidFill>
                    </a:lnL>
                    <a:lnR w="12700">
                      <a:solidFill>
                        <a:srgbClr val="88D7BC"/>
                      </a:solidFill>
                    </a:lnR>
                    <a:lnT w="12700">
                      <a:solidFill>
                        <a:srgbClr val="88D7BC"/>
                      </a:solidFill>
                    </a:lnT>
                    <a:lnB w="12700">
                      <a:solidFill>
                        <a:srgbClr val="88D7B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본질식별자 </a:t>
                      </a:r>
                      <a:b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af-ZA" sz="1400" u="none" strike="noStrike" kern="1200" err="1">
                          <a:solidFill>
                            <a:srgbClr val="000000"/>
                          </a:solidFill>
                          <a:effectLst/>
                        </a:rPr>
                        <a:t>vs</a:t>
                      </a:r>
                      <a:br>
                        <a:rPr lang="af-ZA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인조식별자</a:t>
                      </a:r>
                      <a:endParaRPr lang="ko-KR" altLang="en-US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8D7BC"/>
                      </a:solidFill>
                    </a:lnL>
                    <a:lnR w="12700">
                      <a:solidFill>
                        <a:srgbClr val="89D8BD"/>
                      </a:solidFill>
                    </a:lnR>
                    <a:lnT w="12700">
                      <a:solidFill>
                        <a:srgbClr val="89D8BD"/>
                      </a:solidFill>
                    </a:lnT>
                    <a:lnB w="12700">
                      <a:solidFill>
                        <a:srgbClr val="89D8B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GROUP BY, HAVING </a:t>
                      </a:r>
                      <a: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절</a:t>
                      </a:r>
                      <a:endParaRPr lang="ko-KR" altLang="en-US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9D8BD"/>
                      </a:solidFill>
                    </a:lnL>
                    <a:lnR w="12700">
                      <a:solidFill>
                        <a:srgbClr val="89D8BD"/>
                      </a:solidFill>
                    </a:lnR>
                    <a:lnT w="12700">
                      <a:solidFill>
                        <a:srgbClr val="89D8BD"/>
                      </a:solidFill>
                    </a:lnT>
                    <a:lnB w="12700">
                      <a:solidFill>
                        <a:srgbClr val="89D8B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Top N </a:t>
                      </a:r>
                      <a: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처리</a:t>
                      </a:r>
                      <a:endParaRPr lang="ko-KR" altLang="en-US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9D8BD"/>
                      </a:solidFill>
                    </a:lnL>
                    <a:lnR w="12700">
                      <a:solidFill>
                        <a:srgbClr val="89D8BD"/>
                      </a:solidFill>
                    </a:lnR>
                    <a:lnT w="12700">
                      <a:solidFill>
                        <a:srgbClr val="89D8BD"/>
                      </a:solidFill>
                    </a:lnT>
                    <a:lnB w="12700">
                      <a:solidFill>
                        <a:srgbClr val="89D8BD"/>
                      </a:solidFill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 horzOverflow="overflow"/>
                </a:tc>
                <a:extLst>
                  <a:ext uri="{0D108BD9-81ED-4DB2-BD59-A6C34878D82A}">
                    <a16:rowId xmlns:a16="http://schemas.microsoft.com/office/drawing/2014/main" val="4170134591"/>
                  </a:ext>
                </a:extLst>
              </a:tr>
              <a:tr h="44095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 horzOverflow="overflow"/>
                </a:tc>
                <a:tc rowSpan="3"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-</a:t>
                      </a:r>
                      <a:endParaRPr lang="en-US" altLang="ko-KR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8D7BC"/>
                      </a:solidFill>
                    </a:lnL>
                    <a:lnR w="12700">
                      <a:solidFill>
                        <a:srgbClr val="88D7BC"/>
                      </a:solidFill>
                    </a:lnR>
                    <a:lnT w="12700">
                      <a:solidFill>
                        <a:srgbClr val="88D7BC"/>
                      </a:solidFill>
                    </a:lnT>
                    <a:lnB w="12700">
                      <a:solidFill>
                        <a:srgbClr val="88D7BC"/>
                      </a:solidFill>
                    </a:lnB>
                    <a:solidFill>
                      <a:srgbClr val="BCEBDB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-</a:t>
                      </a:r>
                      <a:endParaRPr lang="en-US" altLang="ko-KR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8D7BC"/>
                      </a:solidFill>
                    </a:lnL>
                    <a:lnR w="12700">
                      <a:solidFill>
                        <a:srgbClr val="89D8BD"/>
                      </a:solidFill>
                    </a:lnR>
                    <a:lnT w="12700">
                      <a:solidFill>
                        <a:srgbClr val="89D8BD"/>
                      </a:solidFill>
                    </a:lnT>
                    <a:lnB w="12700">
                      <a:solidFill>
                        <a:srgbClr val="89D8BD"/>
                      </a:solidFill>
                    </a:lnB>
                    <a:solidFill>
                      <a:srgbClr val="BCEBD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ORDER BY </a:t>
                      </a:r>
                      <a: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절</a:t>
                      </a:r>
                      <a:endParaRPr lang="ko-KR" altLang="en-US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9D8BD"/>
                      </a:solidFill>
                    </a:lnL>
                    <a:lnR w="12700">
                      <a:solidFill>
                        <a:srgbClr val="89D8BD"/>
                      </a:solidFill>
                    </a:lnR>
                    <a:lnT w="12700">
                      <a:solidFill>
                        <a:srgbClr val="89D8BD"/>
                      </a:solidFill>
                    </a:lnT>
                    <a:lnB w="12700">
                      <a:solidFill>
                        <a:srgbClr val="89D8BD"/>
                      </a:solidFill>
                    </a:lnB>
                    <a:solidFill>
                      <a:srgbClr val="BCEBD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계층형 질의와 </a:t>
                      </a:r>
                      <a:endParaRPr lang="ko-KR" altLang="en-US" sz="1400" u="none" strike="noStrike">
                        <a:effectLst/>
                      </a:endParaRPr>
                    </a:p>
                    <a:p>
                      <a:pPr marL="0" lvl="0" algn="ctr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셀프 조인</a:t>
                      </a:r>
                      <a:endParaRPr lang="ko-KR" altLang="en-US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9D8BD"/>
                      </a:solidFill>
                    </a:lnL>
                    <a:lnR w="12700">
                      <a:solidFill>
                        <a:srgbClr val="89D8BD"/>
                      </a:solidFill>
                    </a:lnR>
                    <a:lnT w="12700">
                      <a:solidFill>
                        <a:srgbClr val="89D8BD"/>
                      </a:solidFill>
                    </a:lnT>
                    <a:lnB w="12700">
                      <a:solidFill>
                        <a:srgbClr val="89D8BD"/>
                      </a:solidFill>
                    </a:lnB>
                    <a:solidFill>
                      <a:srgbClr val="BCEBDB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 horzOverflow="overflow"/>
                </a:tc>
                <a:extLst>
                  <a:ext uri="{0D108BD9-81ED-4DB2-BD59-A6C34878D82A}">
                    <a16:rowId xmlns:a16="http://schemas.microsoft.com/office/drawing/2014/main" val="1264133320"/>
                  </a:ext>
                </a:extLst>
              </a:tr>
              <a:tr h="34972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 horzOverflow="overflow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 horzOverflow="overflow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조인</a:t>
                      </a:r>
                      <a:endParaRPr lang="ko-KR" altLang="en-US" sz="1400" u="none" strike="noStrike">
                        <a:effectLst/>
                        <a:latin typeface="ONE Mobile Title OTF"/>
                      </a:endParaRPr>
                    </a:p>
                  </a:txBody>
                  <a:tcPr anchor="ctr">
                    <a:lnL w="12700">
                      <a:solidFill>
                        <a:srgbClr val="89D8BD"/>
                      </a:solidFill>
                    </a:lnL>
                    <a:lnR w="12700">
                      <a:solidFill>
                        <a:srgbClr val="89D8BD"/>
                      </a:solidFill>
                    </a:lnR>
                    <a:lnT w="12700">
                      <a:solidFill>
                        <a:srgbClr val="89D8BD"/>
                      </a:solidFill>
                    </a:lnT>
                    <a:lnB w="12700">
                      <a:solidFill>
                        <a:srgbClr val="89D8B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PIVOT </a:t>
                      </a:r>
                      <a: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절과 </a:t>
                      </a:r>
                      <a:r>
                        <a:rPr 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UNPIVOT</a:t>
                      </a:r>
                      <a: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절</a:t>
                      </a:r>
                      <a:endParaRPr lang="ko-KR" altLang="en-US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9D8BD"/>
                      </a:solidFill>
                    </a:lnL>
                    <a:lnR w="12700">
                      <a:solidFill>
                        <a:srgbClr val="89D8BD"/>
                      </a:solidFill>
                    </a:lnR>
                    <a:lnT w="12700">
                      <a:solidFill>
                        <a:srgbClr val="89D8BD"/>
                      </a:solidFill>
                    </a:lnT>
                    <a:lnB w="12700">
                      <a:solidFill>
                        <a:srgbClr val="89D8BD"/>
                      </a:solidFill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 horzOverflow="overflow"/>
                </a:tc>
                <a:extLst>
                  <a:ext uri="{0D108BD9-81ED-4DB2-BD59-A6C34878D82A}">
                    <a16:rowId xmlns:a16="http://schemas.microsoft.com/office/drawing/2014/main" val="1369870539"/>
                  </a:ext>
                </a:extLst>
              </a:tr>
              <a:tr h="25849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 horzOverflow="overflow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 horzOverflow="overflow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표준 조인</a:t>
                      </a:r>
                      <a:endParaRPr lang="ko-KR" altLang="en-US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9D8BD"/>
                      </a:solidFill>
                    </a:lnL>
                    <a:lnR w="12700">
                      <a:solidFill>
                        <a:srgbClr val="89D8BD"/>
                      </a:solidFill>
                    </a:lnR>
                    <a:lnT w="12700">
                      <a:solidFill>
                        <a:srgbClr val="89D8BD"/>
                      </a:solidFill>
                    </a:lnT>
                    <a:lnB w="12700">
                      <a:solidFill>
                        <a:srgbClr val="89D8BD"/>
                      </a:solidFill>
                    </a:lnB>
                    <a:solidFill>
                      <a:srgbClr val="BCEBD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정규 표현식</a:t>
                      </a:r>
                      <a:endParaRPr lang="ko-KR" altLang="en-US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9D8BD"/>
                      </a:solidFill>
                    </a:lnL>
                    <a:lnR w="12700">
                      <a:solidFill>
                        <a:srgbClr val="89D8BD"/>
                      </a:solidFill>
                    </a:lnR>
                    <a:lnT w="12700">
                      <a:solidFill>
                        <a:srgbClr val="89D8BD"/>
                      </a:solidFill>
                    </a:lnT>
                    <a:lnB w="12700">
                      <a:solidFill>
                        <a:srgbClr val="89D8BD"/>
                      </a:solidFill>
                    </a:lnB>
                    <a:solidFill>
                      <a:srgbClr val="BCEBDB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 horzOverflow="overflow"/>
                </a:tc>
                <a:extLst>
                  <a:ext uri="{0D108BD9-81ED-4DB2-BD59-A6C34878D82A}">
                    <a16:rowId xmlns:a16="http://schemas.microsoft.com/office/drawing/2014/main" val="80557851"/>
                  </a:ext>
                </a:extLst>
              </a:tr>
            </a:tbl>
          </a:graphicData>
        </a:graphic>
      </p:graphicFrame>
      <p:pic>
        <p:nvPicPr>
          <p:cNvPr id="27" name="Picture 10" descr="스크린샷이(가) 표시된 사진&#10;&#10;자동 생성된 설명">
            <a:extLst>
              <a:ext uri="{FF2B5EF4-FFF2-40B4-BE49-F238E27FC236}">
                <a16:creationId xmlns:a16="http://schemas.microsoft.com/office/drawing/2014/main" id="{64D3A904-B84F-7EFD-DDD4-33C681A40AC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4717" y="2254177"/>
            <a:ext cx="2006600" cy="397933"/>
          </a:xfrm>
          <a:prstGeom prst="rect">
            <a:avLst/>
          </a:prstGeom>
        </p:spPr>
      </p:pic>
      <p:pic>
        <p:nvPicPr>
          <p:cNvPr id="29" name="Picture 11" descr="직사각형, 스크린샷, 사각형, 프레임이(가) 표시된 사진&#10;&#10;자동 생성된 설명">
            <a:extLst>
              <a:ext uri="{FF2B5EF4-FFF2-40B4-BE49-F238E27FC236}">
                <a16:creationId xmlns:a16="http://schemas.microsoft.com/office/drawing/2014/main" id="{3B4A4D40-7E14-DDFF-06EB-3F21C516130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4717" y="2516644"/>
            <a:ext cx="3141133" cy="2988733"/>
          </a:xfrm>
          <a:prstGeom prst="rect">
            <a:avLst/>
          </a:prstGeom>
        </p:spPr>
      </p:pic>
      <p:sp>
        <p:nvSpPr>
          <p:cNvPr id="31" name="TextBox 16">
            <a:extLst>
              <a:ext uri="{FF2B5EF4-FFF2-40B4-BE49-F238E27FC236}">
                <a16:creationId xmlns:a16="http://schemas.microsoft.com/office/drawing/2014/main" id="{67B4DA3B-E8FB-2C20-D97F-F4E6FD215CA9}"/>
              </a:ext>
            </a:extLst>
          </p:cNvPr>
          <p:cNvSpPr txBox="1"/>
          <p:nvPr/>
        </p:nvSpPr>
        <p:spPr>
          <a:xfrm>
            <a:off x="856885" y="3431335"/>
            <a:ext cx="2603354" cy="1752309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ko-KR" altLang="en-US" sz="1400">
                <a:solidFill>
                  <a:srgbClr val="000000"/>
                </a:solidFill>
                <a:latin typeface="맑은 고딕"/>
                <a:ea typeface="맑은 고딕"/>
              </a:rPr>
              <a:t>SQL 개발자 가격시험의 </a:t>
            </a:r>
            <a:br>
              <a:rPr lang="ko-KR" altLang="en-US" sz="1400">
                <a:solidFill>
                  <a:srgbClr val="000000"/>
                </a:solidFill>
                <a:latin typeface="맑은 고딕"/>
                <a:ea typeface="맑은 고딕"/>
              </a:rPr>
            </a:br>
            <a:r>
              <a:rPr lang="ko-KR" altLang="en-US" sz="1400">
                <a:solidFill>
                  <a:srgbClr val="000000"/>
                </a:solidFill>
                <a:latin typeface="맑은 고딕"/>
                <a:ea typeface="맑은 고딕"/>
              </a:rPr>
              <a:t>과목은 총 2과목으로 구성</a:t>
            </a:r>
            <a:endParaRPr lang="ko-KR"/>
          </a:p>
          <a:p>
            <a:pPr marL="228600" indent="-228600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endParaRPr lang="ko-KR" altLang="en-US" sz="140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marL="228600" indent="-228600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ko-KR" altLang="en-US" sz="1400">
                <a:solidFill>
                  <a:srgbClr val="000000"/>
                </a:solidFill>
                <a:latin typeface="맑은 고딕"/>
                <a:ea typeface="맑은 고딕"/>
              </a:rPr>
              <a:t>데이터 모델링의 이해 과목을 바탕으로 SQL 기본 및 활용을 수행하는 능력을 검정한다.</a:t>
            </a:r>
            <a:endParaRPr lang="ko-KR">
              <a:ea typeface="맑은 고딕"/>
            </a:endParaRPr>
          </a:p>
        </p:txBody>
      </p:sp>
      <p:sp>
        <p:nvSpPr>
          <p:cNvPr id="33" name="TextBox 17">
            <a:extLst>
              <a:ext uri="{FF2B5EF4-FFF2-40B4-BE49-F238E27FC236}">
                <a16:creationId xmlns:a16="http://schemas.microsoft.com/office/drawing/2014/main" id="{F97FF5A8-6F58-FBDA-734C-61CACD348A48}"/>
              </a:ext>
            </a:extLst>
          </p:cNvPr>
          <p:cNvSpPr txBox="1"/>
          <p:nvPr/>
        </p:nvSpPr>
        <p:spPr>
          <a:xfrm>
            <a:off x="855717" y="2821443"/>
            <a:ext cx="2302933" cy="364067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97540"/>
              </a:lnSpc>
            </a:pPr>
            <a:r>
              <a:rPr lang="ko-KR" altLang="en-US" sz="2050" spc="67">
                <a:solidFill>
                  <a:srgbClr val="000000"/>
                </a:solidFill>
                <a:ea typeface="ONE Mobile Title OTF"/>
              </a:rPr>
              <a:t>과목 및 내용</a:t>
            </a:r>
            <a:endParaRPr lang="ko-KR" altLang="en-US" sz="2050" b="0" i="0" u="none" strike="noStrike" spc="67">
              <a:solidFill>
                <a:srgbClr val="000000"/>
              </a:solidFill>
              <a:ea typeface="ONE Mobile Title OTF"/>
            </a:endParaRPr>
          </a:p>
        </p:txBody>
      </p:sp>
      <p:pic>
        <p:nvPicPr>
          <p:cNvPr id="43" name="Picture 9">
            <a:extLst>
              <a:ext uri="{FF2B5EF4-FFF2-40B4-BE49-F238E27FC236}">
                <a16:creationId xmlns:a16="http://schemas.microsoft.com/office/drawing/2014/main" id="{065AD901-D036-A26C-3A09-BE9C65DFF7A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879657" y="-2462633"/>
            <a:ext cx="5590919" cy="1615965"/>
          </a:xfrm>
          <a:prstGeom prst="rect">
            <a:avLst/>
          </a:prstGeom>
        </p:spPr>
      </p:pic>
      <p:sp>
        <p:nvSpPr>
          <p:cNvPr id="48" name="TextBox 16">
            <a:extLst>
              <a:ext uri="{FF2B5EF4-FFF2-40B4-BE49-F238E27FC236}">
                <a16:creationId xmlns:a16="http://schemas.microsoft.com/office/drawing/2014/main" id="{82E0D397-5366-54BC-EBA4-D4AED50DFBC5}"/>
              </a:ext>
            </a:extLst>
          </p:cNvPr>
          <p:cNvSpPr txBox="1"/>
          <p:nvPr/>
        </p:nvSpPr>
        <p:spPr>
          <a:xfrm>
            <a:off x="-597047" y="-2095355"/>
            <a:ext cx="2603354" cy="1025344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ko-KR" altLang="en-US" sz="1400">
                <a:solidFill>
                  <a:srgbClr val="000000"/>
                </a:solidFill>
                <a:latin typeface="맑은 고딕"/>
                <a:ea typeface="맑은 고딕"/>
              </a:rPr>
              <a:t>SQL 개발자 가격시험의 </a:t>
            </a:r>
            <a:br>
              <a:rPr lang="ko-KR" altLang="en-US" sz="1400">
                <a:solidFill>
                  <a:srgbClr val="000000"/>
                </a:solidFill>
                <a:latin typeface="맑은 고딕"/>
                <a:ea typeface="맑은 고딕"/>
              </a:rPr>
            </a:br>
            <a:r>
              <a:rPr lang="ko-KR" altLang="en-US" sz="1400">
                <a:solidFill>
                  <a:srgbClr val="000000"/>
                </a:solidFill>
                <a:latin typeface="맑은 고딕"/>
                <a:ea typeface="맑은 고딕"/>
              </a:rPr>
              <a:t>과목은 총 2과목으로 구성</a:t>
            </a:r>
            <a:endParaRPr lang="ko-KR"/>
          </a:p>
        </p:txBody>
      </p:sp>
      <p:sp>
        <p:nvSpPr>
          <p:cNvPr id="49" name="TextBox 17">
            <a:extLst>
              <a:ext uri="{FF2B5EF4-FFF2-40B4-BE49-F238E27FC236}">
                <a16:creationId xmlns:a16="http://schemas.microsoft.com/office/drawing/2014/main" id="{D0258348-7DFA-EA31-40A8-D68559B0BA03}"/>
              </a:ext>
            </a:extLst>
          </p:cNvPr>
          <p:cNvSpPr txBox="1"/>
          <p:nvPr/>
        </p:nvSpPr>
        <p:spPr>
          <a:xfrm>
            <a:off x="-598215" y="-2363661"/>
            <a:ext cx="2302933" cy="364067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97540"/>
              </a:lnSpc>
            </a:pPr>
            <a:r>
              <a:rPr lang="ko-KR" altLang="en-US" sz="2050" spc="67">
                <a:solidFill>
                  <a:srgbClr val="000000"/>
                </a:solidFill>
                <a:ea typeface="ONE Mobile Title OTF"/>
              </a:rPr>
              <a:t>과목 및 내용</a:t>
            </a:r>
            <a:endParaRPr lang="ko-KR" altLang="en-US" sz="2050" b="0" i="0" u="none" strike="noStrike" spc="67">
              <a:solidFill>
                <a:srgbClr val="000000"/>
              </a:solidFill>
              <a:ea typeface="ONE Mobile Title OTF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8D3AA12-911F-02E4-3C13-1C3B16CEAD06}"/>
              </a:ext>
            </a:extLst>
          </p:cNvPr>
          <p:cNvSpPr txBox="1"/>
          <p:nvPr/>
        </p:nvSpPr>
        <p:spPr>
          <a:xfrm>
            <a:off x="1562538" y="-1897117"/>
            <a:ext cx="2743200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Arial,Sans-Serif"/>
              <a:buChar char="●"/>
            </a:pPr>
            <a:r>
              <a:rPr lang="ko-KR" sz="1400">
                <a:latin typeface="Arial"/>
                <a:ea typeface="맑은 고딕"/>
                <a:cs typeface="Arial"/>
              </a:rPr>
              <a:t>데이터 모델링의 이해 과목을 바탕으로 SQL 기본 및 활용을 수행하는 능력을 검정한다.​</a:t>
            </a:r>
          </a:p>
        </p:txBody>
      </p:sp>
      <p:graphicFrame>
        <p:nvGraphicFramePr>
          <p:cNvPr id="51" name="표 50">
            <a:extLst>
              <a:ext uri="{FF2B5EF4-FFF2-40B4-BE49-F238E27FC236}">
                <a16:creationId xmlns:a16="http://schemas.microsoft.com/office/drawing/2014/main" id="{280B71A9-B4DF-CCB7-28BB-88394B092916}"/>
              </a:ext>
            </a:extLst>
          </p:cNvPr>
          <p:cNvGraphicFramePr>
            <a:graphicFrameLocks noGrp="1"/>
          </p:cNvGraphicFramePr>
          <p:nvPr/>
        </p:nvGraphicFramePr>
        <p:xfrm>
          <a:off x="4214648" y="-5844628"/>
          <a:ext cx="8109923" cy="4950675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1042422">
                  <a:extLst>
                    <a:ext uri="{9D8B030D-6E8A-4147-A177-3AD203B41FA5}">
                      <a16:colId xmlns:a16="http://schemas.microsoft.com/office/drawing/2014/main" val="60860948"/>
                    </a:ext>
                  </a:extLst>
                </a:gridCol>
                <a:gridCol w="1571535">
                  <a:extLst>
                    <a:ext uri="{9D8B030D-6E8A-4147-A177-3AD203B41FA5}">
                      <a16:colId xmlns:a16="http://schemas.microsoft.com/office/drawing/2014/main" val="3713885553"/>
                    </a:ext>
                  </a:extLst>
                </a:gridCol>
                <a:gridCol w="1650506">
                  <a:extLst>
                    <a:ext uri="{9D8B030D-6E8A-4147-A177-3AD203B41FA5}">
                      <a16:colId xmlns:a16="http://schemas.microsoft.com/office/drawing/2014/main" val="179063355"/>
                    </a:ext>
                  </a:extLst>
                </a:gridCol>
                <a:gridCol w="1349324">
                  <a:extLst>
                    <a:ext uri="{9D8B030D-6E8A-4147-A177-3AD203B41FA5}">
                      <a16:colId xmlns:a16="http://schemas.microsoft.com/office/drawing/2014/main" val="209443028"/>
                    </a:ext>
                  </a:extLst>
                </a:gridCol>
                <a:gridCol w="1871628">
                  <a:extLst>
                    <a:ext uri="{9D8B030D-6E8A-4147-A177-3AD203B41FA5}">
                      <a16:colId xmlns:a16="http://schemas.microsoft.com/office/drawing/2014/main" val="315290010"/>
                    </a:ext>
                  </a:extLst>
                </a:gridCol>
                <a:gridCol w="624508">
                  <a:extLst>
                    <a:ext uri="{9D8B030D-6E8A-4147-A177-3AD203B41FA5}">
                      <a16:colId xmlns:a16="http://schemas.microsoft.com/office/drawing/2014/main" val="1740211836"/>
                    </a:ext>
                  </a:extLst>
                </a:gridCol>
              </a:tblGrid>
              <a:tr h="297793"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400" u="none" strike="noStrike" kern="1200">
                          <a:solidFill>
                            <a:srgbClr val="FFFFFF"/>
                          </a:solidFill>
                          <a:effectLst/>
                        </a:rPr>
                        <a:t>과목명</a:t>
                      </a:r>
                      <a:endParaRPr lang="ko-KR" altLang="en-US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9D8BD"/>
                      </a:solidFill>
                    </a:lnL>
                    <a:lnR w="12700">
                      <a:solidFill>
                        <a:srgbClr val="89D8BD"/>
                      </a:solidFill>
                    </a:lnR>
                    <a:lnT w="12700">
                      <a:solidFill>
                        <a:srgbClr val="89D8BD"/>
                      </a:solidFill>
                    </a:lnT>
                    <a:lnB w="12700">
                      <a:solidFill>
                        <a:srgbClr val="89D8BD"/>
                      </a:solidFill>
                    </a:lnB>
                    <a:solidFill>
                      <a:srgbClr val="88D7B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400" u="none" strike="noStrike" kern="1200">
                          <a:solidFill>
                            <a:srgbClr val="FFFFFF"/>
                          </a:solidFill>
                          <a:effectLst/>
                        </a:rPr>
                        <a:t>데이터 모델링의 이해</a:t>
                      </a:r>
                      <a:endParaRPr lang="ko-KR" altLang="en-US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9D8BD"/>
                      </a:solidFill>
                    </a:lnL>
                    <a:lnR w="12700">
                      <a:solidFill>
                        <a:srgbClr val="89D8BD"/>
                      </a:solidFill>
                    </a:lnR>
                    <a:lnT w="12700">
                      <a:solidFill>
                        <a:srgbClr val="89D8BD"/>
                      </a:solidFill>
                    </a:lnT>
                    <a:lnB w="12700">
                      <a:solidFill>
                        <a:srgbClr val="89D8BD"/>
                      </a:solidFill>
                    </a:lnB>
                    <a:solidFill>
                      <a:srgbClr val="88D7B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 horzOverflow="overflow"/>
                </a:tc>
                <a:tc gridSpan="3"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en-US" sz="1400" u="none" strike="noStrike" kern="1200">
                          <a:solidFill>
                            <a:srgbClr val="FFFFFF"/>
                          </a:solidFill>
                          <a:effectLst/>
                        </a:rPr>
                        <a:t>SQL </a:t>
                      </a:r>
                      <a:r>
                        <a:rPr lang="ko-KR" altLang="en-US" sz="1400" u="none" strike="noStrike" kern="1200">
                          <a:solidFill>
                            <a:srgbClr val="FFFFFF"/>
                          </a:solidFill>
                          <a:effectLst/>
                        </a:rPr>
                        <a:t>기본 및 활용</a:t>
                      </a:r>
                      <a:endParaRPr lang="ko-KR" altLang="en-US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9D8BD"/>
                      </a:solidFill>
                    </a:lnL>
                    <a:lnR w="12700">
                      <a:solidFill>
                        <a:srgbClr val="89D8BD"/>
                      </a:solidFill>
                    </a:lnR>
                    <a:lnT w="12700">
                      <a:solidFill>
                        <a:srgbClr val="89D8BD"/>
                      </a:solidFill>
                    </a:lnT>
                    <a:lnB w="12700">
                      <a:solidFill>
                        <a:srgbClr val="89D8BD"/>
                      </a:solidFill>
                    </a:lnB>
                    <a:solidFill>
                      <a:srgbClr val="88D7B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 horzOverflow="overflow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 horzOverflow="overflow"/>
                </a:tc>
                <a:extLst>
                  <a:ext uri="{0D108BD9-81ED-4DB2-BD59-A6C34878D82A}">
                    <a16:rowId xmlns:a16="http://schemas.microsoft.com/office/drawing/2014/main" val="1669447462"/>
                  </a:ext>
                </a:extLst>
              </a:tr>
              <a:tr h="440953"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400" b="1" u="none" strike="noStrike" kern="1200">
                          <a:solidFill>
                            <a:schemeClr val="bg1"/>
                          </a:solidFill>
                          <a:effectLst/>
                        </a:rPr>
                        <a:t>주요항목</a:t>
                      </a:r>
                      <a:endParaRPr lang="ko-KR" altLang="en-US" sz="1400" b="1" u="none" strike="noStrike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9D8BD"/>
                      </a:solidFill>
                    </a:lnL>
                    <a:lnR w="12700">
                      <a:solidFill>
                        <a:srgbClr val="89D8BD"/>
                      </a:solidFill>
                    </a:lnR>
                    <a:lnT w="12700">
                      <a:solidFill>
                        <a:srgbClr val="89D8BD"/>
                      </a:solidFill>
                    </a:lnT>
                    <a:lnB w="12700">
                      <a:solidFill>
                        <a:srgbClr val="BCEBDB"/>
                      </a:solidFill>
                    </a:lnB>
                    <a:solidFill>
                      <a:srgbClr val="88D7B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데이터 모델링의 이해</a:t>
                      </a:r>
                      <a:endParaRPr lang="ko-KR" altLang="en-US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9D8BD"/>
                      </a:solidFill>
                    </a:lnL>
                    <a:lnR w="12700">
                      <a:solidFill>
                        <a:srgbClr val="89D8BD"/>
                      </a:solidFill>
                    </a:lnR>
                    <a:lnT w="12700">
                      <a:solidFill>
                        <a:srgbClr val="89D8BD"/>
                      </a:solidFill>
                    </a:lnT>
                    <a:lnB w="12700">
                      <a:solidFill>
                        <a:srgbClr val="88D7BC"/>
                      </a:solidFill>
                    </a:lnB>
                    <a:solidFill>
                      <a:srgbClr val="BCEBD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데이터 모델과 </a:t>
                      </a:r>
                      <a:r>
                        <a:rPr lang="af-ZA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SQL</a:t>
                      </a:r>
                      <a:endParaRPr lang="af-ZA" altLang="ko-KR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9D8BD"/>
                      </a:solidFill>
                    </a:lnL>
                    <a:lnR w="12700">
                      <a:solidFill>
                        <a:srgbClr val="89D8BD"/>
                      </a:solidFill>
                    </a:lnR>
                    <a:lnT w="12700">
                      <a:solidFill>
                        <a:srgbClr val="89D8BD"/>
                      </a:solidFill>
                    </a:lnT>
                    <a:lnB w="12700">
                      <a:solidFill>
                        <a:srgbClr val="89D8BD"/>
                      </a:solidFill>
                    </a:lnB>
                    <a:solidFill>
                      <a:srgbClr val="BCEBD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SQL </a:t>
                      </a:r>
                      <a: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기본</a:t>
                      </a:r>
                      <a:endParaRPr lang="ko-KR" altLang="en-US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9D8BD"/>
                      </a:solidFill>
                    </a:lnL>
                    <a:lnR w="12700">
                      <a:solidFill>
                        <a:srgbClr val="89D8BD"/>
                      </a:solidFill>
                    </a:lnR>
                    <a:lnT w="12700">
                      <a:solidFill>
                        <a:srgbClr val="89D8BD"/>
                      </a:solidFill>
                    </a:lnT>
                    <a:lnB w="12700">
                      <a:solidFill>
                        <a:srgbClr val="89D8BD"/>
                      </a:solidFill>
                    </a:lnB>
                    <a:solidFill>
                      <a:srgbClr val="BCEBD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SQL </a:t>
                      </a:r>
                      <a: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활용</a:t>
                      </a:r>
                      <a:endParaRPr lang="ko-KR" altLang="en-US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9D8BD"/>
                      </a:solidFill>
                    </a:lnL>
                    <a:lnR w="12700">
                      <a:solidFill>
                        <a:srgbClr val="89D8BD"/>
                      </a:solidFill>
                    </a:lnR>
                    <a:lnT w="12700">
                      <a:solidFill>
                        <a:srgbClr val="89D8BD"/>
                      </a:solidFill>
                    </a:lnT>
                    <a:lnB w="12700">
                      <a:solidFill>
                        <a:srgbClr val="89D8BD"/>
                      </a:solidFill>
                    </a:lnB>
                    <a:solidFill>
                      <a:srgbClr val="BCEBD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DML</a:t>
                      </a:r>
                      <a:endParaRPr lang="en-US" altLang="ko-KR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9D8BD"/>
                      </a:solidFill>
                    </a:lnL>
                    <a:lnR w="12700">
                      <a:solidFill>
                        <a:srgbClr val="89D8BD"/>
                      </a:solidFill>
                    </a:lnR>
                    <a:lnT w="12700">
                      <a:solidFill>
                        <a:srgbClr val="89D8BD"/>
                      </a:solidFill>
                    </a:lnT>
                    <a:lnB w="12700">
                      <a:solidFill>
                        <a:srgbClr val="89D8BD"/>
                      </a:solidFill>
                    </a:lnB>
                    <a:solidFill>
                      <a:srgbClr val="BCEB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4068383"/>
                  </a:ext>
                </a:extLst>
              </a:tr>
              <a:tr h="501775">
                <a:tc rowSpan="8"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400" b="1" u="none" strike="noStrike" kern="1200">
                          <a:solidFill>
                            <a:schemeClr val="bg1"/>
                          </a:solidFill>
                          <a:effectLst/>
                        </a:rPr>
                        <a:t>세부항목</a:t>
                      </a:r>
                      <a:endParaRPr lang="ko-KR" altLang="en-US" sz="1400" b="1" u="none" strike="noStrike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BCEBDB"/>
                      </a:solidFill>
                    </a:lnL>
                    <a:lnR w="12700">
                      <a:solidFill>
                        <a:srgbClr val="88D7BC"/>
                      </a:solidFill>
                    </a:lnR>
                    <a:lnT w="12700">
                      <a:solidFill>
                        <a:srgbClr val="BCEBDB"/>
                      </a:solidFill>
                    </a:lnT>
                    <a:lnB w="12700">
                      <a:solidFill>
                        <a:srgbClr val="BCEBDB"/>
                      </a:solidFill>
                    </a:lnB>
                    <a:solidFill>
                      <a:srgbClr val="88D7B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데이터모델의 </a:t>
                      </a:r>
                      <a:b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이해</a:t>
                      </a:r>
                      <a:endParaRPr lang="ko-KR" altLang="en-US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8D7BC"/>
                      </a:solidFill>
                    </a:lnL>
                    <a:lnR w="12700">
                      <a:solidFill>
                        <a:srgbClr val="88D7BC"/>
                      </a:solidFill>
                    </a:lnR>
                    <a:lnT w="12700">
                      <a:solidFill>
                        <a:srgbClr val="88D7BC"/>
                      </a:solidFill>
                    </a:lnT>
                    <a:lnB w="12700">
                      <a:solidFill>
                        <a:srgbClr val="88D7B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정규화</a:t>
                      </a:r>
                      <a:endParaRPr lang="ko-KR" altLang="en-US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8D7BC"/>
                      </a:solidFill>
                    </a:lnL>
                    <a:lnR w="12700">
                      <a:solidFill>
                        <a:srgbClr val="89D8BD"/>
                      </a:solidFill>
                    </a:lnR>
                    <a:lnT w="12700">
                      <a:solidFill>
                        <a:srgbClr val="89D8BD"/>
                      </a:solidFill>
                    </a:lnT>
                    <a:lnB w="12700">
                      <a:solidFill>
                        <a:srgbClr val="89D8B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관계형 데이터베이스 개요</a:t>
                      </a:r>
                      <a:endParaRPr lang="ko-KR" altLang="en-US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9D8BD"/>
                      </a:solidFill>
                    </a:lnL>
                    <a:lnR w="12700">
                      <a:solidFill>
                        <a:srgbClr val="89D8BD"/>
                      </a:solidFill>
                    </a:lnR>
                    <a:lnT w="12700">
                      <a:solidFill>
                        <a:srgbClr val="89D8BD"/>
                      </a:solidFill>
                    </a:lnT>
                    <a:lnB w="12700">
                      <a:solidFill>
                        <a:srgbClr val="89D8B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서브 쿼리</a:t>
                      </a:r>
                      <a:endParaRPr lang="ko-KR" altLang="en-US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9D8BD"/>
                      </a:solidFill>
                    </a:lnL>
                    <a:lnR w="12700">
                      <a:solidFill>
                        <a:srgbClr val="89D8BD"/>
                      </a:solidFill>
                    </a:lnR>
                    <a:lnT w="12700">
                      <a:solidFill>
                        <a:srgbClr val="89D8BD"/>
                      </a:solidFill>
                    </a:lnT>
                    <a:lnB w="12700">
                      <a:solidFill>
                        <a:srgbClr val="89D8B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TCL</a:t>
                      </a:r>
                      <a:endParaRPr lang="en-US" altLang="ko-KR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9D8BD"/>
                      </a:solidFill>
                    </a:lnL>
                    <a:lnR w="12700">
                      <a:solidFill>
                        <a:srgbClr val="89D8BD"/>
                      </a:solidFill>
                    </a:lnR>
                    <a:lnT w="12700">
                      <a:solidFill>
                        <a:srgbClr val="89D8BD"/>
                      </a:solidFill>
                    </a:lnT>
                    <a:lnB w="12700">
                      <a:solidFill>
                        <a:srgbClr val="89D8BD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5863733"/>
                  </a:ext>
                </a:extLst>
              </a:tr>
              <a:tr h="44095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400" u="none" strike="noStrike" kern="1200" err="1">
                          <a:solidFill>
                            <a:srgbClr val="000000"/>
                          </a:solidFill>
                          <a:effectLst/>
                        </a:rPr>
                        <a:t>엔터티</a:t>
                      </a:r>
                      <a:endParaRPr lang="ko-KR" altLang="en-US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8D7BC"/>
                      </a:solidFill>
                    </a:lnL>
                    <a:lnR w="12700">
                      <a:solidFill>
                        <a:srgbClr val="88D7BC"/>
                      </a:solidFill>
                    </a:lnR>
                    <a:lnT w="12700">
                      <a:solidFill>
                        <a:srgbClr val="88D7BC"/>
                      </a:solidFill>
                    </a:lnT>
                    <a:lnB w="12700">
                      <a:solidFill>
                        <a:srgbClr val="88D7BC"/>
                      </a:solidFill>
                    </a:lnB>
                    <a:solidFill>
                      <a:srgbClr val="BCEBD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관계와 조인의 </a:t>
                      </a:r>
                      <a:endParaRPr lang="ko-KR" altLang="en-US" sz="1400" u="none" strike="noStrike">
                        <a:effectLst/>
                      </a:endParaRPr>
                    </a:p>
                    <a:p>
                      <a:pPr marL="0" lvl="0" algn="ctr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이해</a:t>
                      </a:r>
                      <a:endParaRPr lang="ko-KR" altLang="en-US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8D7BC"/>
                      </a:solidFill>
                    </a:lnL>
                    <a:lnR w="12700">
                      <a:solidFill>
                        <a:srgbClr val="89D8BD"/>
                      </a:solidFill>
                    </a:lnR>
                    <a:lnT w="12700">
                      <a:solidFill>
                        <a:srgbClr val="89D8BD"/>
                      </a:solidFill>
                    </a:lnT>
                    <a:lnB w="12700">
                      <a:solidFill>
                        <a:srgbClr val="89D8BD"/>
                      </a:solidFill>
                    </a:lnB>
                    <a:solidFill>
                      <a:srgbClr val="BCEBD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SELECT </a:t>
                      </a:r>
                      <a: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문</a:t>
                      </a:r>
                      <a:endParaRPr lang="ko-KR" altLang="en-US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9D8BD"/>
                      </a:solidFill>
                    </a:lnL>
                    <a:lnR w="12700">
                      <a:solidFill>
                        <a:srgbClr val="89D8BD"/>
                      </a:solidFill>
                    </a:lnR>
                    <a:lnT w="12700">
                      <a:solidFill>
                        <a:srgbClr val="89D8BD"/>
                      </a:solidFill>
                    </a:lnT>
                    <a:lnB w="12700">
                      <a:solidFill>
                        <a:srgbClr val="89D8BD"/>
                      </a:solidFill>
                    </a:lnB>
                    <a:solidFill>
                      <a:srgbClr val="BCEBD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집합 연산자</a:t>
                      </a:r>
                      <a:endParaRPr lang="ko-KR" altLang="en-US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9D8BD"/>
                      </a:solidFill>
                    </a:lnL>
                    <a:lnR w="12700">
                      <a:solidFill>
                        <a:srgbClr val="89D8BD"/>
                      </a:solidFill>
                    </a:lnR>
                    <a:lnT w="12700">
                      <a:solidFill>
                        <a:srgbClr val="89D8BD"/>
                      </a:solidFill>
                    </a:lnT>
                    <a:lnB w="12700">
                      <a:solidFill>
                        <a:srgbClr val="89D8BD"/>
                      </a:solidFill>
                    </a:lnB>
                    <a:solidFill>
                      <a:srgbClr val="BCEBD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DDL</a:t>
                      </a:r>
                      <a:endParaRPr lang="en-US" altLang="ko-KR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9D8BD"/>
                      </a:solidFill>
                    </a:lnL>
                    <a:lnR w="12700">
                      <a:solidFill>
                        <a:srgbClr val="89D8BD"/>
                      </a:solidFill>
                    </a:lnR>
                    <a:lnT w="12700">
                      <a:solidFill>
                        <a:srgbClr val="89D8BD"/>
                      </a:solidFill>
                    </a:lnT>
                    <a:lnB w="12700">
                      <a:solidFill>
                        <a:srgbClr val="89D8BD"/>
                      </a:solidFill>
                    </a:lnB>
                    <a:solidFill>
                      <a:srgbClr val="BCEB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4410961"/>
                  </a:ext>
                </a:extLst>
              </a:tr>
              <a:tr h="66903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속성</a:t>
                      </a:r>
                      <a:endParaRPr lang="ko-KR" altLang="en-US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8D7BC"/>
                      </a:solidFill>
                    </a:lnL>
                    <a:lnR w="12700">
                      <a:solidFill>
                        <a:srgbClr val="88D7BC"/>
                      </a:solidFill>
                    </a:lnR>
                    <a:lnT w="12700">
                      <a:solidFill>
                        <a:srgbClr val="88D7BC"/>
                      </a:solidFill>
                    </a:lnT>
                    <a:lnB w="12700">
                      <a:solidFill>
                        <a:srgbClr val="88D7B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모델이 표현하는 </a:t>
                      </a:r>
                      <a:b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트랜잭션의 이해</a:t>
                      </a:r>
                      <a:endParaRPr lang="ko-KR" altLang="en-US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8D7BC"/>
                      </a:solidFill>
                    </a:lnL>
                    <a:lnR w="12700">
                      <a:solidFill>
                        <a:srgbClr val="89D8BD"/>
                      </a:solidFill>
                    </a:lnR>
                    <a:lnT w="12700">
                      <a:solidFill>
                        <a:srgbClr val="89D8BD"/>
                      </a:solidFill>
                    </a:lnT>
                    <a:lnB w="12700">
                      <a:solidFill>
                        <a:srgbClr val="89D8B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함수</a:t>
                      </a:r>
                      <a:endParaRPr lang="ko-KR" altLang="en-US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9D8BD"/>
                      </a:solidFill>
                    </a:lnL>
                    <a:lnR w="12700">
                      <a:solidFill>
                        <a:srgbClr val="89D8BD"/>
                      </a:solidFill>
                    </a:lnR>
                    <a:lnT w="12700">
                      <a:solidFill>
                        <a:srgbClr val="89D8BD"/>
                      </a:solidFill>
                    </a:lnT>
                    <a:lnB w="12700">
                      <a:solidFill>
                        <a:srgbClr val="89D8B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그룹 함수</a:t>
                      </a:r>
                      <a:endParaRPr lang="ko-KR" altLang="en-US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9D8BD"/>
                      </a:solidFill>
                    </a:lnL>
                    <a:lnR w="12700">
                      <a:solidFill>
                        <a:srgbClr val="89D8BD"/>
                      </a:solidFill>
                    </a:lnR>
                    <a:lnT w="12700">
                      <a:solidFill>
                        <a:srgbClr val="89D8BD"/>
                      </a:solidFill>
                    </a:lnT>
                    <a:lnB w="12700">
                      <a:solidFill>
                        <a:srgbClr val="89D8B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CDL</a:t>
                      </a:r>
                      <a:endParaRPr lang="en-US" altLang="ko-KR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9D8BD"/>
                      </a:solidFill>
                    </a:lnL>
                    <a:lnR w="12700">
                      <a:solidFill>
                        <a:srgbClr val="89D8BD"/>
                      </a:solidFill>
                    </a:lnR>
                    <a:lnT w="12700">
                      <a:solidFill>
                        <a:srgbClr val="89D8BD"/>
                      </a:solidFill>
                    </a:lnT>
                    <a:lnB w="12700">
                      <a:solidFill>
                        <a:srgbClr val="89D8BD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2086291"/>
                  </a:ext>
                </a:extLst>
              </a:tr>
              <a:tr h="34972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관계</a:t>
                      </a:r>
                      <a:endParaRPr lang="ko-KR" altLang="en-US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8D7BC"/>
                      </a:solidFill>
                    </a:lnL>
                    <a:lnR w="12700">
                      <a:solidFill>
                        <a:srgbClr val="88D7BC"/>
                      </a:solidFill>
                    </a:lnR>
                    <a:lnT w="12700">
                      <a:solidFill>
                        <a:srgbClr val="88D7BC"/>
                      </a:solidFill>
                    </a:lnT>
                    <a:lnB w="12700">
                      <a:solidFill>
                        <a:srgbClr val="88D7BC"/>
                      </a:solidFill>
                    </a:lnB>
                    <a:solidFill>
                      <a:srgbClr val="BCEBD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Null </a:t>
                      </a:r>
                      <a: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속성의 이해</a:t>
                      </a:r>
                      <a:endParaRPr lang="ko-KR" altLang="en-US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8D7BC"/>
                      </a:solidFill>
                    </a:lnL>
                    <a:lnR w="12700">
                      <a:solidFill>
                        <a:srgbClr val="89D8BD"/>
                      </a:solidFill>
                    </a:lnR>
                    <a:lnT w="12700">
                      <a:solidFill>
                        <a:srgbClr val="89D8BD"/>
                      </a:solidFill>
                    </a:lnT>
                    <a:lnB w="12700">
                      <a:solidFill>
                        <a:srgbClr val="89D8BD"/>
                      </a:solidFill>
                    </a:lnB>
                    <a:solidFill>
                      <a:srgbClr val="BCEBD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WHERE </a:t>
                      </a:r>
                      <a: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절</a:t>
                      </a:r>
                      <a:endParaRPr lang="ko-KR" altLang="en-US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9D8BD"/>
                      </a:solidFill>
                    </a:lnL>
                    <a:lnR w="12700">
                      <a:solidFill>
                        <a:srgbClr val="89D8BD"/>
                      </a:solidFill>
                    </a:lnR>
                    <a:lnT w="12700">
                      <a:solidFill>
                        <a:srgbClr val="89D8BD"/>
                      </a:solidFill>
                    </a:lnT>
                    <a:lnB w="12700">
                      <a:solidFill>
                        <a:srgbClr val="89D8BD"/>
                      </a:solidFill>
                    </a:lnB>
                    <a:solidFill>
                      <a:srgbClr val="BCEBD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윈도우 함수</a:t>
                      </a:r>
                      <a:endParaRPr lang="ko-KR" altLang="en-US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9D8BD"/>
                      </a:solidFill>
                    </a:lnL>
                    <a:lnR w="12700">
                      <a:solidFill>
                        <a:srgbClr val="89D8BD"/>
                      </a:solidFill>
                    </a:lnR>
                    <a:lnT w="12700">
                      <a:solidFill>
                        <a:srgbClr val="89D8BD"/>
                      </a:solidFill>
                    </a:lnT>
                    <a:lnB w="12700">
                      <a:solidFill>
                        <a:srgbClr val="89D8BD"/>
                      </a:solidFill>
                    </a:lnB>
                    <a:solidFill>
                      <a:srgbClr val="BCEBDB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-</a:t>
                      </a:r>
                      <a:endParaRPr lang="en-US" altLang="ko-KR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9D8BD"/>
                      </a:solidFill>
                    </a:lnL>
                    <a:lnR w="12700">
                      <a:solidFill>
                        <a:srgbClr val="89D8BD"/>
                      </a:solidFill>
                    </a:lnR>
                    <a:lnT w="12700">
                      <a:solidFill>
                        <a:srgbClr val="89D8BD"/>
                      </a:solidFill>
                    </a:lnT>
                    <a:lnB w="12700">
                      <a:solidFill>
                        <a:srgbClr val="89D8BD"/>
                      </a:solidFill>
                    </a:lnB>
                    <a:solidFill>
                      <a:srgbClr val="BCEB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6876979"/>
                  </a:ext>
                </a:extLst>
              </a:tr>
              <a:tr h="63862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식별자</a:t>
                      </a:r>
                      <a:endParaRPr lang="ko-KR" altLang="en-US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8D7BC"/>
                      </a:solidFill>
                    </a:lnL>
                    <a:lnR w="12700">
                      <a:solidFill>
                        <a:srgbClr val="88D7BC"/>
                      </a:solidFill>
                    </a:lnR>
                    <a:lnT w="12700">
                      <a:solidFill>
                        <a:srgbClr val="88D7BC"/>
                      </a:solidFill>
                    </a:lnT>
                    <a:lnB w="12700">
                      <a:solidFill>
                        <a:srgbClr val="88D7B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본질식별자 </a:t>
                      </a:r>
                      <a:b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af-ZA" sz="1400" u="none" strike="noStrike" kern="1200" err="1">
                          <a:solidFill>
                            <a:srgbClr val="000000"/>
                          </a:solidFill>
                          <a:effectLst/>
                        </a:rPr>
                        <a:t>vs</a:t>
                      </a:r>
                      <a:br>
                        <a:rPr lang="af-ZA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인조식별자</a:t>
                      </a:r>
                      <a:endParaRPr lang="ko-KR" altLang="en-US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8D7BC"/>
                      </a:solidFill>
                    </a:lnL>
                    <a:lnR w="12700">
                      <a:solidFill>
                        <a:srgbClr val="89D8BD"/>
                      </a:solidFill>
                    </a:lnR>
                    <a:lnT w="12700">
                      <a:solidFill>
                        <a:srgbClr val="89D8BD"/>
                      </a:solidFill>
                    </a:lnT>
                    <a:lnB w="12700">
                      <a:solidFill>
                        <a:srgbClr val="89D8B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GROUP BY, HAVING </a:t>
                      </a:r>
                      <a: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절</a:t>
                      </a:r>
                      <a:endParaRPr lang="ko-KR" altLang="en-US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9D8BD"/>
                      </a:solidFill>
                    </a:lnL>
                    <a:lnR w="12700">
                      <a:solidFill>
                        <a:srgbClr val="89D8BD"/>
                      </a:solidFill>
                    </a:lnR>
                    <a:lnT w="12700">
                      <a:solidFill>
                        <a:srgbClr val="89D8BD"/>
                      </a:solidFill>
                    </a:lnT>
                    <a:lnB w="12700">
                      <a:solidFill>
                        <a:srgbClr val="89D8B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Top N </a:t>
                      </a:r>
                      <a: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처리</a:t>
                      </a:r>
                      <a:endParaRPr lang="ko-KR" altLang="en-US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9D8BD"/>
                      </a:solidFill>
                    </a:lnL>
                    <a:lnR w="12700">
                      <a:solidFill>
                        <a:srgbClr val="89D8BD"/>
                      </a:solidFill>
                    </a:lnR>
                    <a:lnT w="12700">
                      <a:solidFill>
                        <a:srgbClr val="89D8BD"/>
                      </a:solidFill>
                    </a:lnT>
                    <a:lnB w="12700">
                      <a:solidFill>
                        <a:srgbClr val="89D8BD"/>
                      </a:solidFill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 horzOverflow="overflow"/>
                </a:tc>
                <a:extLst>
                  <a:ext uri="{0D108BD9-81ED-4DB2-BD59-A6C34878D82A}">
                    <a16:rowId xmlns:a16="http://schemas.microsoft.com/office/drawing/2014/main" val="4170134591"/>
                  </a:ext>
                </a:extLst>
              </a:tr>
              <a:tr h="44095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 horzOverflow="overflow"/>
                </a:tc>
                <a:tc rowSpan="3"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-</a:t>
                      </a:r>
                      <a:endParaRPr lang="en-US" altLang="ko-KR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8D7BC"/>
                      </a:solidFill>
                    </a:lnL>
                    <a:lnR w="12700">
                      <a:solidFill>
                        <a:srgbClr val="88D7BC"/>
                      </a:solidFill>
                    </a:lnR>
                    <a:lnT w="12700">
                      <a:solidFill>
                        <a:srgbClr val="88D7BC"/>
                      </a:solidFill>
                    </a:lnT>
                    <a:lnB w="12700">
                      <a:solidFill>
                        <a:srgbClr val="88D7BC"/>
                      </a:solidFill>
                    </a:lnB>
                    <a:solidFill>
                      <a:srgbClr val="BCEBDB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-</a:t>
                      </a:r>
                      <a:endParaRPr lang="en-US" altLang="ko-KR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8D7BC"/>
                      </a:solidFill>
                    </a:lnL>
                    <a:lnR w="12700">
                      <a:solidFill>
                        <a:srgbClr val="89D8BD"/>
                      </a:solidFill>
                    </a:lnR>
                    <a:lnT w="12700">
                      <a:solidFill>
                        <a:srgbClr val="89D8BD"/>
                      </a:solidFill>
                    </a:lnT>
                    <a:lnB w="12700">
                      <a:solidFill>
                        <a:srgbClr val="89D8BD"/>
                      </a:solidFill>
                    </a:lnB>
                    <a:solidFill>
                      <a:srgbClr val="BCEBD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ORDER BY </a:t>
                      </a:r>
                      <a: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절</a:t>
                      </a:r>
                      <a:endParaRPr lang="ko-KR" altLang="en-US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9D8BD"/>
                      </a:solidFill>
                    </a:lnL>
                    <a:lnR w="12700">
                      <a:solidFill>
                        <a:srgbClr val="89D8BD"/>
                      </a:solidFill>
                    </a:lnR>
                    <a:lnT w="12700">
                      <a:solidFill>
                        <a:srgbClr val="89D8BD"/>
                      </a:solidFill>
                    </a:lnT>
                    <a:lnB w="12700">
                      <a:solidFill>
                        <a:srgbClr val="89D8BD"/>
                      </a:solidFill>
                    </a:lnB>
                    <a:solidFill>
                      <a:srgbClr val="BCEBD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계층형 질의와 </a:t>
                      </a:r>
                      <a:endParaRPr lang="ko-KR" altLang="en-US" sz="1400" u="none" strike="noStrike">
                        <a:effectLst/>
                      </a:endParaRPr>
                    </a:p>
                    <a:p>
                      <a:pPr marL="0" lvl="0" algn="ctr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셀프 조인</a:t>
                      </a:r>
                      <a:endParaRPr lang="ko-KR" altLang="en-US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9D8BD"/>
                      </a:solidFill>
                    </a:lnL>
                    <a:lnR w="12700">
                      <a:solidFill>
                        <a:srgbClr val="89D8BD"/>
                      </a:solidFill>
                    </a:lnR>
                    <a:lnT w="12700">
                      <a:solidFill>
                        <a:srgbClr val="89D8BD"/>
                      </a:solidFill>
                    </a:lnT>
                    <a:lnB w="12700">
                      <a:solidFill>
                        <a:srgbClr val="89D8BD"/>
                      </a:solidFill>
                    </a:lnB>
                    <a:solidFill>
                      <a:srgbClr val="BCEBDB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 horzOverflow="overflow"/>
                </a:tc>
                <a:extLst>
                  <a:ext uri="{0D108BD9-81ED-4DB2-BD59-A6C34878D82A}">
                    <a16:rowId xmlns:a16="http://schemas.microsoft.com/office/drawing/2014/main" val="1264133320"/>
                  </a:ext>
                </a:extLst>
              </a:tr>
              <a:tr h="34972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 horzOverflow="overflow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 horzOverflow="overflow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조인</a:t>
                      </a:r>
                      <a:endParaRPr lang="ko-KR" altLang="en-US" sz="1400" u="none" strike="noStrike">
                        <a:effectLst/>
                        <a:latin typeface="ONE Mobile Title OTF"/>
                      </a:endParaRPr>
                    </a:p>
                  </a:txBody>
                  <a:tcPr anchor="ctr">
                    <a:lnL w="12700">
                      <a:solidFill>
                        <a:srgbClr val="89D8BD"/>
                      </a:solidFill>
                    </a:lnL>
                    <a:lnR w="12700">
                      <a:solidFill>
                        <a:srgbClr val="89D8BD"/>
                      </a:solidFill>
                    </a:lnR>
                    <a:lnT w="12700">
                      <a:solidFill>
                        <a:srgbClr val="89D8BD"/>
                      </a:solidFill>
                    </a:lnT>
                    <a:lnB w="12700">
                      <a:solidFill>
                        <a:srgbClr val="89D8B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PIVOT </a:t>
                      </a:r>
                      <a: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절과 </a:t>
                      </a:r>
                      <a:r>
                        <a:rPr 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UNPIVOT</a:t>
                      </a:r>
                      <a: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절</a:t>
                      </a:r>
                      <a:endParaRPr lang="ko-KR" altLang="en-US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9D8BD"/>
                      </a:solidFill>
                    </a:lnL>
                    <a:lnR w="12700">
                      <a:solidFill>
                        <a:srgbClr val="89D8BD"/>
                      </a:solidFill>
                    </a:lnR>
                    <a:lnT w="12700">
                      <a:solidFill>
                        <a:srgbClr val="89D8BD"/>
                      </a:solidFill>
                    </a:lnT>
                    <a:lnB w="12700">
                      <a:solidFill>
                        <a:srgbClr val="89D8BD"/>
                      </a:solidFill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 horzOverflow="overflow"/>
                </a:tc>
                <a:extLst>
                  <a:ext uri="{0D108BD9-81ED-4DB2-BD59-A6C34878D82A}">
                    <a16:rowId xmlns:a16="http://schemas.microsoft.com/office/drawing/2014/main" val="1369870539"/>
                  </a:ext>
                </a:extLst>
              </a:tr>
              <a:tr h="25849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 horzOverflow="overflow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 horzOverflow="overflow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표준 조인</a:t>
                      </a:r>
                      <a:endParaRPr lang="ko-KR" altLang="en-US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9D8BD"/>
                      </a:solidFill>
                    </a:lnL>
                    <a:lnR w="12700">
                      <a:solidFill>
                        <a:srgbClr val="89D8BD"/>
                      </a:solidFill>
                    </a:lnR>
                    <a:lnT w="12700">
                      <a:solidFill>
                        <a:srgbClr val="89D8BD"/>
                      </a:solidFill>
                    </a:lnT>
                    <a:lnB w="12700">
                      <a:solidFill>
                        <a:srgbClr val="89D8BD"/>
                      </a:solidFill>
                    </a:lnB>
                    <a:solidFill>
                      <a:srgbClr val="BCEBD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정규 표현식</a:t>
                      </a:r>
                      <a:endParaRPr lang="ko-KR" altLang="en-US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9D8BD"/>
                      </a:solidFill>
                    </a:lnL>
                    <a:lnR w="12700">
                      <a:solidFill>
                        <a:srgbClr val="89D8BD"/>
                      </a:solidFill>
                    </a:lnR>
                    <a:lnT w="12700">
                      <a:solidFill>
                        <a:srgbClr val="89D8BD"/>
                      </a:solidFill>
                    </a:lnT>
                    <a:lnB w="12700">
                      <a:solidFill>
                        <a:srgbClr val="89D8BD"/>
                      </a:solidFill>
                    </a:lnB>
                    <a:solidFill>
                      <a:srgbClr val="BCEBDB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 horzOverflow="overflow"/>
                </a:tc>
                <a:extLst>
                  <a:ext uri="{0D108BD9-81ED-4DB2-BD59-A6C34878D82A}">
                    <a16:rowId xmlns:a16="http://schemas.microsoft.com/office/drawing/2014/main" val="805578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93976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7333" y="381000"/>
            <a:ext cx="2573867" cy="508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7600" y="381000"/>
            <a:ext cx="2573867" cy="508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7867" y="381000"/>
            <a:ext cx="2573867" cy="5080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20133"/>
            <a:ext cx="3251200" cy="643467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753533"/>
            <a:ext cx="12192000" cy="6104467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1733" y="1075267"/>
            <a:ext cx="11557000" cy="5469467"/>
          </a:xfrm>
          <a:prstGeom prst="rect">
            <a:avLst/>
          </a:prstGeom>
          <a:effectLst>
            <a:outerShdw blurRad="669826" dist="252339" dir="2700000">
              <a:srgbClr val="000000">
                <a:alpha val="10000"/>
              </a:srgbClr>
            </a:outerShdw>
          </a:effectLst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80067" y="4436533"/>
            <a:ext cx="4741333" cy="13970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80067" y="2836333"/>
            <a:ext cx="4741333" cy="1397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98733" y="2777067"/>
            <a:ext cx="3945467" cy="2988733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718733" y="5071533"/>
            <a:ext cx="4165600" cy="516467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11" lvl="0" indent="-228611" algn="l">
              <a:lnSpc>
                <a:spcPct val="137780"/>
              </a:lnSpc>
              <a:buClr>
                <a:srgbClr val="000000"/>
              </a:buClr>
              <a:buFont typeface="Arial"/>
              <a:buChar char="●"/>
            </a:pPr>
            <a:r>
              <a:rPr lang="ko-KR" sz="1100" b="0" i="0" u="none" strike="noStrike">
                <a:solidFill>
                  <a:srgbClr val="000000"/>
                </a:solidFill>
                <a:ea typeface="Pretendard Regular"/>
              </a:rPr>
              <a:t>이곳에</a:t>
            </a:r>
            <a:r>
              <a:rPr lang="en-US" sz="11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100" b="0" i="0" u="none" strike="noStrike">
                <a:solidFill>
                  <a:srgbClr val="000000"/>
                </a:solidFill>
                <a:ea typeface="Pretendard Regular"/>
              </a:rPr>
              <a:t>프로젝트의</a:t>
            </a:r>
            <a:r>
              <a:rPr lang="en-US" sz="11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100" b="0" i="0" u="none" strike="noStrike">
                <a:solidFill>
                  <a:srgbClr val="000000"/>
                </a:solidFill>
                <a:ea typeface="Pretendard Regular"/>
              </a:rPr>
              <a:t>필요성에</a:t>
            </a:r>
            <a:r>
              <a:rPr lang="en-US" sz="11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100" b="0" i="0" u="none" strike="noStrike">
                <a:solidFill>
                  <a:srgbClr val="000000"/>
                </a:solidFill>
                <a:ea typeface="Pretendard Regular"/>
              </a:rPr>
              <a:t>대해</a:t>
            </a:r>
            <a:r>
              <a:rPr lang="en-US" sz="11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100" b="0" i="0" u="none" strike="noStrike">
                <a:solidFill>
                  <a:srgbClr val="000000"/>
                </a:solidFill>
                <a:ea typeface="Pretendard Regular"/>
              </a:rPr>
              <a:t>구체적으로</a:t>
            </a:r>
            <a:r>
              <a:rPr lang="en-US" sz="11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100" b="0" i="0" u="none" strike="noStrike">
                <a:solidFill>
                  <a:srgbClr val="000000"/>
                </a:solidFill>
                <a:ea typeface="Pretendard Regular"/>
              </a:rPr>
              <a:t>적어주세요</a:t>
            </a:r>
            <a:r>
              <a:rPr lang="en-US" sz="1100" b="0" i="0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  <a:p>
            <a:pPr marL="228611" lvl="0" indent="-228611" algn="l">
              <a:lnSpc>
                <a:spcPct val="137780"/>
              </a:lnSpc>
              <a:buClr>
                <a:srgbClr val="000000"/>
              </a:buClr>
              <a:buFont typeface="Arial"/>
              <a:buChar char="●"/>
            </a:pPr>
            <a:r>
              <a:rPr lang="ko-KR" sz="1100" b="0" i="0" u="none" strike="noStrike">
                <a:solidFill>
                  <a:srgbClr val="000000"/>
                </a:solidFill>
                <a:ea typeface="Pretendard Regular"/>
              </a:rPr>
              <a:t>이곳에</a:t>
            </a:r>
            <a:r>
              <a:rPr lang="en-US" sz="11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100" b="0" i="0" u="none" strike="noStrike">
                <a:solidFill>
                  <a:srgbClr val="000000"/>
                </a:solidFill>
                <a:ea typeface="Pretendard Regular"/>
              </a:rPr>
              <a:t>프로젝트의</a:t>
            </a:r>
            <a:r>
              <a:rPr lang="en-US" sz="11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100" b="0" i="0" u="none" strike="noStrike">
                <a:solidFill>
                  <a:srgbClr val="000000"/>
                </a:solidFill>
                <a:ea typeface="Pretendard Regular"/>
              </a:rPr>
              <a:t>필요성에</a:t>
            </a:r>
            <a:r>
              <a:rPr lang="en-US" sz="11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100" b="0" i="0" u="none" strike="noStrike">
                <a:solidFill>
                  <a:srgbClr val="000000"/>
                </a:solidFill>
                <a:ea typeface="Pretendard Regular"/>
              </a:rPr>
              <a:t>대해</a:t>
            </a:r>
            <a:r>
              <a:rPr lang="en-US" sz="11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100" b="0" i="0" u="none" strike="noStrike">
                <a:solidFill>
                  <a:srgbClr val="000000"/>
                </a:solidFill>
                <a:ea typeface="Pretendard Regular"/>
              </a:rPr>
              <a:t>구체적으로</a:t>
            </a:r>
            <a:r>
              <a:rPr lang="en-US" sz="11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100" b="0" i="0" u="none" strike="noStrike">
                <a:solidFill>
                  <a:srgbClr val="000000"/>
                </a:solidFill>
                <a:ea typeface="Pretendard Regular"/>
              </a:rPr>
              <a:t>적어주세요</a:t>
            </a:r>
            <a:r>
              <a:rPr lang="en-US" sz="1100" b="0" i="0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61067" y="4656667"/>
            <a:ext cx="2074333" cy="330200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197540"/>
              </a:lnSpc>
            </a:pPr>
            <a:r>
              <a:rPr lang="ko-KR" sz="1867" b="0" i="0" u="none" strike="noStrike" spc="67">
                <a:solidFill>
                  <a:srgbClr val="000000"/>
                </a:solidFill>
                <a:ea typeface="ONE Mobile Title OTF"/>
              </a:rPr>
              <a:t>프로젝트</a:t>
            </a:r>
            <a:r>
              <a:rPr lang="en-US" sz="1867" b="0" i="0" u="none" strike="noStrike" spc="67">
                <a:solidFill>
                  <a:srgbClr val="000000"/>
                </a:solidFill>
                <a:latin typeface="ONE Mobile Title OTF"/>
              </a:rPr>
              <a:t> </a:t>
            </a:r>
            <a:r>
              <a:rPr lang="ko-KR" sz="1867" b="0" i="0" u="none" strike="noStrike" spc="67">
                <a:solidFill>
                  <a:srgbClr val="000000"/>
                </a:solidFill>
                <a:ea typeface="ONE Mobile Title OTF"/>
              </a:rPr>
              <a:t>필요성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18733" y="3479800"/>
            <a:ext cx="3124200" cy="516467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lvl="0" indent="-228600" algn="l">
              <a:lnSpc>
                <a:spcPct val="137780"/>
              </a:lnSpc>
              <a:buClr>
                <a:srgbClr val="000000"/>
              </a:buClr>
              <a:buFont typeface="Arial"/>
              <a:buChar char="●"/>
            </a:pPr>
            <a:r>
              <a:rPr lang="ko-KR" sz="1100" b="0" i="0" u="none" strike="noStrike">
                <a:solidFill>
                  <a:srgbClr val="000000"/>
                </a:solidFill>
                <a:ea typeface="Pretendard Regular"/>
              </a:rPr>
              <a:t>이곳에</a:t>
            </a:r>
            <a:r>
              <a:rPr lang="en-US" sz="11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100" b="0" i="0" u="none" strike="noStrike">
                <a:solidFill>
                  <a:srgbClr val="000000"/>
                </a:solidFill>
                <a:ea typeface="Pretendard Regular"/>
              </a:rPr>
              <a:t>프로젝트의</a:t>
            </a:r>
            <a:r>
              <a:rPr lang="en-US" sz="11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100" b="0" i="0" u="none" strike="noStrike">
                <a:solidFill>
                  <a:srgbClr val="000000"/>
                </a:solidFill>
                <a:ea typeface="Pretendard Regular"/>
              </a:rPr>
              <a:t>배경에</a:t>
            </a:r>
            <a:r>
              <a:rPr lang="en-US" sz="11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100" b="0" i="0" u="none" strike="noStrike">
                <a:solidFill>
                  <a:srgbClr val="000000"/>
                </a:solidFill>
                <a:ea typeface="Pretendard Regular"/>
              </a:rPr>
              <a:t>대해</a:t>
            </a:r>
            <a:r>
              <a:rPr lang="en-US" sz="11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100" b="0" i="0" u="none" strike="noStrike">
                <a:solidFill>
                  <a:srgbClr val="000000"/>
                </a:solidFill>
                <a:ea typeface="Pretendard Regular"/>
              </a:rPr>
              <a:t>적어주세요</a:t>
            </a:r>
            <a:r>
              <a:rPr lang="en-US" sz="1100" b="0" i="0" u="none" strike="noStrike">
                <a:solidFill>
                  <a:srgbClr val="000000"/>
                </a:solidFill>
                <a:latin typeface="Pretendard Regular"/>
              </a:rPr>
              <a:t>.</a:t>
            </a:r>
            <a:endParaRPr lang="ko-KR" altLang="en-US" sz="1100"/>
          </a:p>
          <a:p>
            <a:pPr marL="228600" lvl="0" indent="-228600" algn="l">
              <a:lnSpc>
                <a:spcPct val="137780"/>
              </a:lnSpc>
              <a:buClr>
                <a:srgbClr val="000000"/>
              </a:buClr>
              <a:buFont typeface="Arial"/>
              <a:buChar char="●"/>
            </a:pPr>
            <a:r>
              <a:rPr lang="ko-KR" sz="1100" b="0" i="0" u="none" strike="noStrike">
                <a:solidFill>
                  <a:srgbClr val="000000"/>
                </a:solidFill>
                <a:ea typeface="Pretendard Regular"/>
              </a:rPr>
              <a:t>이곳에</a:t>
            </a:r>
            <a:r>
              <a:rPr lang="en-US" sz="11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100" b="0" i="0" u="none" strike="noStrike">
                <a:solidFill>
                  <a:srgbClr val="000000"/>
                </a:solidFill>
                <a:ea typeface="Pretendard Regular"/>
              </a:rPr>
              <a:t>프로젝트의</a:t>
            </a:r>
            <a:r>
              <a:rPr lang="en-US" sz="11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100" b="0" i="0" u="none" strike="noStrike">
                <a:solidFill>
                  <a:srgbClr val="000000"/>
                </a:solidFill>
                <a:ea typeface="Pretendard Regular"/>
              </a:rPr>
              <a:t>배경에</a:t>
            </a:r>
            <a:r>
              <a:rPr lang="en-US" sz="11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100" b="0" i="0" u="none" strike="noStrike">
                <a:solidFill>
                  <a:srgbClr val="000000"/>
                </a:solidFill>
                <a:ea typeface="Pretendard Regular"/>
              </a:rPr>
              <a:t>대해</a:t>
            </a:r>
            <a:r>
              <a:rPr lang="en-US" sz="11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100" b="0" i="0" u="none" strike="noStrike">
                <a:solidFill>
                  <a:srgbClr val="000000"/>
                </a:solidFill>
                <a:ea typeface="Pretendard Regular"/>
              </a:rPr>
              <a:t>적어주세요</a:t>
            </a:r>
            <a:r>
              <a:rPr lang="en-US" sz="1100" b="0" i="0" u="none" strike="noStrike">
                <a:solidFill>
                  <a:srgbClr val="000000"/>
                </a:solidFill>
                <a:latin typeface="Pretendard Regular"/>
              </a:rPr>
              <a:t>.</a:t>
            </a:r>
            <a:endParaRPr lang="en-US" sz="1050" b="0" i="0" u="none" strike="noStrike">
              <a:solidFill>
                <a:srgbClr val="000000"/>
              </a:solidFill>
              <a:latin typeface="Pretendard Regular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761067" y="3064933"/>
            <a:ext cx="2074333" cy="330200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197540"/>
              </a:lnSpc>
            </a:pPr>
            <a:r>
              <a:rPr lang="ko-KR" sz="1867" b="0" i="0" u="none" strike="noStrike" spc="67">
                <a:solidFill>
                  <a:srgbClr val="000000"/>
                </a:solidFill>
                <a:ea typeface="ONE Mobile Title OTF"/>
              </a:rPr>
              <a:t>프로젝트</a:t>
            </a:r>
            <a:r>
              <a:rPr lang="en-US" sz="1867" b="0" i="0" u="none" strike="noStrike" spc="67">
                <a:solidFill>
                  <a:srgbClr val="000000"/>
                </a:solidFill>
                <a:latin typeface="ONE Mobile Title OTF"/>
              </a:rPr>
              <a:t> </a:t>
            </a:r>
            <a:r>
              <a:rPr lang="ko-KR" sz="1867" b="0" i="0" u="none" strike="noStrike" spc="67">
                <a:solidFill>
                  <a:srgbClr val="000000"/>
                </a:solidFill>
                <a:ea typeface="ONE Mobile Title OTF"/>
              </a:rPr>
              <a:t>배경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989667" y="1430867"/>
            <a:ext cx="8212667" cy="855133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16199"/>
              </a:lnSpc>
            </a:pPr>
            <a:r>
              <a:rPr lang="ko-KR" sz="4800" b="0" i="0" u="none" strike="noStrike">
                <a:solidFill>
                  <a:srgbClr val="9ECAEF"/>
                </a:solidFill>
                <a:ea typeface="ONE Mobile Title OTF"/>
              </a:rPr>
              <a:t>프로젝트</a:t>
            </a:r>
            <a:r>
              <a:rPr lang="en-US" sz="4800" b="0" i="0" u="none" strike="noStrike">
                <a:solidFill>
                  <a:srgbClr val="9ECAEF"/>
                </a:solidFill>
                <a:latin typeface="ONE Mobile Title OTF"/>
              </a:rPr>
              <a:t> </a:t>
            </a:r>
            <a:r>
              <a:rPr lang="ko-KR" sz="4800" b="0" i="0" u="none" strike="noStrike">
                <a:solidFill>
                  <a:srgbClr val="9ECAEF"/>
                </a:solidFill>
                <a:ea typeface="ONE Mobile Title OTF"/>
              </a:rPr>
              <a:t>배경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91067" y="423333"/>
            <a:ext cx="1998133" cy="279400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04580"/>
              </a:lnSpc>
            </a:pPr>
            <a:r>
              <a:rPr lang="en-US" sz="1600" b="0" i="0" u="none" strike="noStrike" spc="400">
                <a:solidFill>
                  <a:srgbClr val="FFFFFF"/>
                </a:solidFill>
                <a:latin typeface="Pretendard Bold"/>
              </a:rPr>
              <a:t>BACKGROUND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7333" y="381000"/>
            <a:ext cx="2573867" cy="508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7600" y="381000"/>
            <a:ext cx="2573867" cy="508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7867" y="381000"/>
            <a:ext cx="2573867" cy="5080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20133"/>
            <a:ext cx="3251200" cy="643467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753533"/>
            <a:ext cx="12192000" cy="6104467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1733" y="1100667"/>
            <a:ext cx="11557000" cy="5469467"/>
          </a:xfrm>
          <a:prstGeom prst="rect">
            <a:avLst/>
          </a:prstGeom>
          <a:effectLst>
            <a:outerShdw blurRad="669826" dist="252339" dir="2700000">
              <a:srgbClr val="000000">
                <a:alpha val="10000"/>
              </a:srgbClr>
            </a:outerShdw>
          </a:effectLst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59334" y="2971800"/>
            <a:ext cx="1998133" cy="1557867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27533" y="3649133"/>
            <a:ext cx="211667" cy="211667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17734" y="2971800"/>
            <a:ext cx="1998133" cy="1557867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85933" y="3649133"/>
            <a:ext cx="211667" cy="211667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76134" y="2971800"/>
            <a:ext cx="1998133" cy="1557867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44333" y="3649133"/>
            <a:ext cx="211667" cy="211667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34534" y="2980267"/>
            <a:ext cx="1998133" cy="1557867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9254067" y="4749800"/>
            <a:ext cx="1617133" cy="914400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28650"/>
              </a:lnSpc>
            </a:pP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해당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단계의</a:t>
            </a:r>
          </a:p>
          <a:p>
            <a:pPr lvl="0" algn="ctr">
              <a:lnSpc>
                <a:spcPct val="128650"/>
              </a:lnSpc>
            </a:pP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핵심이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 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되는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 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내용을</a:t>
            </a:r>
          </a:p>
          <a:p>
            <a:pPr lvl="0" algn="ctr">
              <a:lnSpc>
                <a:spcPct val="128650"/>
              </a:lnSpc>
            </a:pP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적어주세요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313333" y="3810000"/>
            <a:ext cx="1498600" cy="423333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08729"/>
              </a:lnSpc>
            </a:pPr>
            <a:r>
              <a:rPr lang="en-US" sz="2400" b="0" i="0" u="none" strike="noStrike" spc="467">
                <a:solidFill>
                  <a:srgbClr val="FFFFFF"/>
                </a:solidFill>
                <a:latin typeface="ONE Mobile Title OTF"/>
              </a:rPr>
              <a:t>TITLE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321800" y="3471333"/>
            <a:ext cx="1473200" cy="237067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08729"/>
              </a:lnSpc>
            </a:pPr>
            <a:r>
              <a:rPr lang="en-US" sz="1333" b="0" i="0" u="none" strike="noStrike" spc="267">
                <a:solidFill>
                  <a:srgbClr val="FFFFFF"/>
                </a:solidFill>
                <a:latin typeface="Pretendard Medium"/>
              </a:rPr>
              <a:t>STEP 04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604000" y="4749800"/>
            <a:ext cx="1617133" cy="914400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28650"/>
              </a:lnSpc>
            </a:pP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해당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단계의</a:t>
            </a:r>
          </a:p>
          <a:p>
            <a:pPr lvl="0" algn="ctr">
              <a:lnSpc>
                <a:spcPct val="128650"/>
              </a:lnSpc>
            </a:pP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핵심이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 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되는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 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내용을</a:t>
            </a:r>
          </a:p>
          <a:p>
            <a:pPr lvl="0" algn="ctr">
              <a:lnSpc>
                <a:spcPct val="128650"/>
              </a:lnSpc>
            </a:pP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적어주세요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671733" y="3810000"/>
            <a:ext cx="1498600" cy="423333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08729"/>
              </a:lnSpc>
            </a:pPr>
            <a:r>
              <a:rPr lang="en-US" sz="2400" b="0" i="0" u="none" strike="noStrike" spc="467">
                <a:solidFill>
                  <a:srgbClr val="FFFFFF"/>
                </a:solidFill>
                <a:latin typeface="ONE Mobile Title OTF"/>
              </a:rPr>
              <a:t>TITLE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680200" y="3471333"/>
            <a:ext cx="1473200" cy="237067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08729"/>
              </a:lnSpc>
            </a:pPr>
            <a:r>
              <a:rPr lang="en-US" sz="1333" b="0" i="0" u="none" strike="noStrike" spc="267">
                <a:solidFill>
                  <a:srgbClr val="FFFFFF"/>
                </a:solidFill>
                <a:latin typeface="Pretendard Medium"/>
              </a:rPr>
              <a:t>STEP 03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962400" y="4749800"/>
            <a:ext cx="1617133" cy="914400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28650"/>
              </a:lnSpc>
            </a:pP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해당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단계의</a:t>
            </a:r>
          </a:p>
          <a:p>
            <a:pPr lvl="0" algn="ctr">
              <a:lnSpc>
                <a:spcPct val="128650"/>
              </a:lnSpc>
            </a:pP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핵심이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 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되는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 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내용을</a:t>
            </a:r>
          </a:p>
          <a:p>
            <a:pPr lvl="0" algn="ctr">
              <a:lnSpc>
                <a:spcPct val="128650"/>
              </a:lnSpc>
            </a:pP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적어주세요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030133" y="3810000"/>
            <a:ext cx="1498600" cy="423333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08729"/>
              </a:lnSpc>
            </a:pPr>
            <a:r>
              <a:rPr lang="en-US" sz="2400" b="0" i="0" u="none" strike="noStrike" spc="467">
                <a:solidFill>
                  <a:srgbClr val="FFFFFF"/>
                </a:solidFill>
                <a:latin typeface="ONE Mobile Title OTF"/>
              </a:rPr>
              <a:t>TITLE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038600" y="3471333"/>
            <a:ext cx="1473200" cy="237067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08729"/>
              </a:lnSpc>
            </a:pPr>
            <a:r>
              <a:rPr lang="en-US" sz="1333" b="0" i="0" u="none" strike="noStrike" spc="267">
                <a:solidFill>
                  <a:srgbClr val="FFFFFF"/>
                </a:solidFill>
                <a:latin typeface="Pretendard Medium"/>
              </a:rPr>
              <a:t>STEP 02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20800" y="4758267"/>
            <a:ext cx="1617133" cy="914400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28650"/>
              </a:lnSpc>
            </a:pP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해당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단계의</a:t>
            </a:r>
          </a:p>
          <a:p>
            <a:pPr lvl="0" algn="ctr">
              <a:lnSpc>
                <a:spcPct val="128650"/>
              </a:lnSpc>
            </a:pP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핵심이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 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되는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 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내용을</a:t>
            </a:r>
          </a:p>
          <a:p>
            <a:pPr lvl="0" algn="ctr">
              <a:lnSpc>
                <a:spcPct val="128650"/>
              </a:lnSpc>
            </a:pP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적어주세요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88533" y="3818467"/>
            <a:ext cx="1498600" cy="423333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08729"/>
              </a:lnSpc>
            </a:pPr>
            <a:r>
              <a:rPr lang="en-US" sz="2400" b="0" i="0" u="none" strike="noStrike" spc="467">
                <a:solidFill>
                  <a:srgbClr val="FFFFFF"/>
                </a:solidFill>
                <a:latin typeface="ONE Mobile Title OTF"/>
              </a:rPr>
              <a:t>TITLE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97000" y="3471333"/>
            <a:ext cx="1473200" cy="237067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08729"/>
              </a:lnSpc>
            </a:pPr>
            <a:r>
              <a:rPr lang="en-US" sz="1333" b="0" i="0" u="none" strike="noStrike" spc="267">
                <a:solidFill>
                  <a:srgbClr val="FFFFFF"/>
                </a:solidFill>
                <a:latin typeface="Pretendard Medium"/>
              </a:rPr>
              <a:t>STEP 01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989667" y="1430867"/>
            <a:ext cx="8212667" cy="855133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16199"/>
              </a:lnSpc>
            </a:pPr>
            <a:r>
              <a:rPr lang="ko-KR" sz="4800" b="0" i="0" u="none" strike="noStrike">
                <a:solidFill>
                  <a:srgbClr val="F2BEBB"/>
                </a:solidFill>
                <a:ea typeface="ONE Mobile Title OTF"/>
              </a:rPr>
              <a:t>프로젝트</a:t>
            </a:r>
            <a:r>
              <a:rPr lang="en-US" sz="4800" b="0" i="0" u="none" strike="noStrike">
                <a:solidFill>
                  <a:srgbClr val="F2BEBB"/>
                </a:solidFill>
                <a:latin typeface="ONE Mobile Title OTF"/>
              </a:rPr>
              <a:t> </a:t>
            </a:r>
            <a:r>
              <a:rPr lang="ko-KR" sz="4800" b="0" i="0" u="none" strike="noStrike">
                <a:solidFill>
                  <a:srgbClr val="F2BEBB"/>
                </a:solidFill>
                <a:ea typeface="ONE Mobile Title OTF"/>
              </a:rPr>
              <a:t>단계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91067" y="423333"/>
            <a:ext cx="1998133" cy="279400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04580"/>
              </a:lnSpc>
            </a:pPr>
            <a:r>
              <a:rPr lang="en-US" sz="1600" b="0" i="0" u="none" strike="noStrike" spc="400">
                <a:solidFill>
                  <a:srgbClr val="FFFFFF"/>
                </a:solidFill>
                <a:latin typeface="Pretendard Bold"/>
              </a:rPr>
              <a:t>PROCESS</a:t>
            </a:r>
          </a:p>
        </p:txBody>
      </p:sp>
    </p:spTree>
    <p:extLst>
      <p:ext uri="{BB962C8B-B14F-4D97-AF65-F5344CB8AC3E}">
        <p14:creationId xmlns:p14="http://schemas.microsoft.com/office/powerpoint/2010/main" val="24539665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7333" y="381000"/>
            <a:ext cx="2573867" cy="508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7600" y="381000"/>
            <a:ext cx="2573867" cy="508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7867" y="381000"/>
            <a:ext cx="2573867" cy="5080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20133"/>
            <a:ext cx="3251200" cy="643467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753533"/>
            <a:ext cx="12192000" cy="6104467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1733" y="1075267"/>
            <a:ext cx="11557000" cy="5469467"/>
          </a:xfrm>
          <a:prstGeom prst="rect">
            <a:avLst/>
          </a:prstGeom>
          <a:effectLst>
            <a:outerShdw blurRad="669826" dist="252339" dir="2700000">
              <a:srgbClr val="000000">
                <a:alpha val="10000"/>
              </a:srgbClr>
            </a:outerShdw>
          </a:effectLst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25600" y="5020733"/>
            <a:ext cx="8923867" cy="787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25600" y="5020733"/>
            <a:ext cx="3302000" cy="787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25600" y="3937000"/>
            <a:ext cx="8923867" cy="787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25600" y="3937000"/>
            <a:ext cx="3302000" cy="7874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34067" y="2844800"/>
            <a:ext cx="8923867" cy="7874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34067" y="2844800"/>
            <a:ext cx="3293533" cy="7874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5088467" y="5223933"/>
            <a:ext cx="4961467" cy="355600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28650"/>
              </a:lnSpc>
            </a:pP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이곳에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기대효과를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적어주세요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116667" y="5190067"/>
            <a:ext cx="2319867" cy="423333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24499"/>
              </a:lnSpc>
            </a:pPr>
            <a:r>
              <a:rPr lang="ko-KR" sz="2400" b="0" i="0" u="none" strike="noStrike" spc="67">
                <a:solidFill>
                  <a:srgbClr val="FFFFFF"/>
                </a:solidFill>
                <a:ea typeface="ONE Mobile Title OTF"/>
              </a:rPr>
              <a:t>핵심</a:t>
            </a:r>
            <a:r>
              <a:rPr lang="en-US" sz="2400" b="0" i="0" u="none" strike="noStrike" spc="67">
                <a:solidFill>
                  <a:srgbClr val="FFFFFF"/>
                </a:solidFill>
                <a:latin typeface="ONE Mobile Title OTF"/>
              </a:rPr>
              <a:t> </a:t>
            </a:r>
            <a:r>
              <a:rPr lang="ko-KR" sz="2400" b="0" i="0" u="none" strike="noStrike" spc="67">
                <a:solidFill>
                  <a:srgbClr val="FFFFFF"/>
                </a:solidFill>
                <a:ea typeface="ONE Mobile Title OTF"/>
              </a:rPr>
              <a:t>키워드</a:t>
            </a:r>
            <a:r>
              <a:rPr lang="en-US" sz="2400" b="0" i="0" u="none" strike="noStrike" spc="67">
                <a:solidFill>
                  <a:srgbClr val="FFFFFF"/>
                </a:solidFill>
                <a:latin typeface="ONE Mobile Title OTF"/>
              </a:rPr>
              <a:t> 3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088467" y="4140200"/>
            <a:ext cx="4961467" cy="355600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28650"/>
              </a:lnSpc>
            </a:pP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이곳에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기대효과를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적어주세요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116667" y="4106334"/>
            <a:ext cx="2319867" cy="423333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24499"/>
              </a:lnSpc>
            </a:pPr>
            <a:r>
              <a:rPr lang="ko-KR" sz="2400" b="0" i="0" u="none" strike="noStrike" spc="67">
                <a:solidFill>
                  <a:srgbClr val="FFFFFF"/>
                </a:solidFill>
                <a:ea typeface="ONE Mobile Title OTF"/>
              </a:rPr>
              <a:t>핵심</a:t>
            </a:r>
            <a:r>
              <a:rPr lang="en-US" sz="2400" b="0" i="0" u="none" strike="noStrike" spc="67">
                <a:solidFill>
                  <a:srgbClr val="FFFFFF"/>
                </a:solidFill>
                <a:latin typeface="ONE Mobile Title OTF"/>
              </a:rPr>
              <a:t> </a:t>
            </a:r>
            <a:r>
              <a:rPr lang="ko-KR" sz="2400" b="0" i="0" u="none" strike="noStrike" spc="67">
                <a:solidFill>
                  <a:srgbClr val="FFFFFF"/>
                </a:solidFill>
                <a:ea typeface="ONE Mobile Title OTF"/>
              </a:rPr>
              <a:t>키워드</a:t>
            </a:r>
            <a:r>
              <a:rPr lang="en-US" sz="2400" b="0" i="0" u="none" strike="noStrike" spc="67">
                <a:solidFill>
                  <a:srgbClr val="FFFFFF"/>
                </a:solidFill>
                <a:latin typeface="ONE Mobile Title OTF"/>
              </a:rPr>
              <a:t> 2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088467" y="3056467"/>
            <a:ext cx="4961467" cy="355600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28650"/>
              </a:lnSpc>
            </a:pP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이곳에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기대효과를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적어주세요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125133" y="3022600"/>
            <a:ext cx="2311400" cy="423333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24499"/>
              </a:lnSpc>
            </a:pPr>
            <a:r>
              <a:rPr lang="ko-KR" sz="2400" b="0" i="0" u="none" strike="noStrike" spc="67">
                <a:solidFill>
                  <a:srgbClr val="FFFFFF"/>
                </a:solidFill>
                <a:ea typeface="ONE Mobile Title OTF"/>
              </a:rPr>
              <a:t>핵심</a:t>
            </a:r>
            <a:r>
              <a:rPr lang="en-US" sz="2400" b="0" i="0" u="none" strike="noStrike" spc="67">
                <a:solidFill>
                  <a:srgbClr val="FFFFFF"/>
                </a:solidFill>
                <a:latin typeface="ONE Mobile Title OTF"/>
              </a:rPr>
              <a:t> </a:t>
            </a:r>
            <a:r>
              <a:rPr lang="ko-KR" sz="2400" b="0" i="0" u="none" strike="noStrike" spc="67">
                <a:solidFill>
                  <a:srgbClr val="FFFFFF"/>
                </a:solidFill>
                <a:ea typeface="ONE Mobile Title OTF"/>
              </a:rPr>
              <a:t>키워드</a:t>
            </a:r>
            <a:r>
              <a:rPr lang="en-US" sz="2400" b="0" i="0" u="none" strike="noStrike" spc="67">
                <a:solidFill>
                  <a:srgbClr val="FFFFFF"/>
                </a:solidFill>
                <a:latin typeface="ONE Mobile Title OTF"/>
              </a:rPr>
              <a:t> 1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989667" y="1430867"/>
            <a:ext cx="8212667" cy="855133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16199"/>
              </a:lnSpc>
            </a:pPr>
            <a:r>
              <a:rPr lang="ko-KR" sz="4800" b="0" i="0" u="none" strike="noStrike">
                <a:solidFill>
                  <a:srgbClr val="CFBFE6"/>
                </a:solidFill>
                <a:ea typeface="ONE Mobile Title OTF"/>
              </a:rPr>
              <a:t>기대효과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91067" y="423333"/>
            <a:ext cx="1998133" cy="279400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04580"/>
              </a:lnSpc>
            </a:pPr>
            <a:r>
              <a:rPr lang="en-US" sz="1600" b="0" i="0" u="none" strike="noStrike" spc="400">
                <a:solidFill>
                  <a:srgbClr val="FFFFFF"/>
                </a:solidFill>
                <a:latin typeface="Pretendard Bold"/>
              </a:rPr>
              <a:t>EFFECT</a:t>
            </a:r>
          </a:p>
        </p:txBody>
      </p:sp>
    </p:spTree>
    <p:extLst>
      <p:ext uri="{BB962C8B-B14F-4D97-AF65-F5344CB8AC3E}">
        <p14:creationId xmlns:p14="http://schemas.microsoft.com/office/powerpoint/2010/main" val="31566326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D3713C8-F8D4-7147-8D27-AD024CC4A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AD85DA8B-3438-8D21-E29F-B819AD99FB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7333" y="381000"/>
            <a:ext cx="2573867" cy="5080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2FBDC3E2-7453-1DF1-8B68-841107B059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7600" y="381000"/>
            <a:ext cx="2573867" cy="5080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F74730AF-3DB0-6DCF-58D3-4E13EC8CD8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27867" y="381000"/>
            <a:ext cx="2573867" cy="5080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E0CB19E9-60E5-63B3-00E7-4BF9C923F7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220133"/>
            <a:ext cx="3251200" cy="643467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CA5B10E4-3341-A06A-FA29-62224C262AD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753533"/>
            <a:ext cx="12192000" cy="6104467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972C2869-9108-28E2-06A6-405E473617A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1733" y="1075267"/>
            <a:ext cx="11557000" cy="5469467"/>
          </a:xfrm>
          <a:prstGeom prst="rect">
            <a:avLst/>
          </a:prstGeom>
          <a:effectLst>
            <a:outerShdw blurRad="669826" dist="252339" dir="2700000">
              <a:srgbClr val="000000">
                <a:alpha val="10000"/>
              </a:srgbClr>
            </a:outerShdw>
          </a:effectLst>
        </p:spPr>
      </p:pic>
      <p:sp>
        <p:nvSpPr>
          <p:cNvPr id="21" name="TextBox 21">
            <a:extLst>
              <a:ext uri="{FF2B5EF4-FFF2-40B4-BE49-F238E27FC236}">
                <a16:creationId xmlns:a16="http://schemas.microsoft.com/office/drawing/2014/main" id="{30DE1252-5FBD-3386-D076-B90B091C56E2}"/>
              </a:ext>
            </a:extLst>
          </p:cNvPr>
          <p:cNvSpPr txBox="1"/>
          <p:nvPr/>
        </p:nvSpPr>
        <p:spPr>
          <a:xfrm>
            <a:off x="491067" y="423333"/>
            <a:ext cx="1998133" cy="279400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04580"/>
              </a:lnSpc>
            </a:pPr>
            <a:r>
              <a:rPr lang="ko-KR" altLang="en-US" sz="1600" spc="400">
                <a:solidFill>
                  <a:srgbClr val="FFFFFF"/>
                </a:solidFill>
                <a:latin typeface="Pretendard Bold"/>
                <a:ea typeface="맑은 고딕"/>
              </a:rPr>
              <a:t>시험주요내용</a:t>
            </a:r>
            <a:endParaRPr lang="en-US" sz="1600" b="0" i="0" u="none" strike="noStrike" spc="400">
              <a:solidFill>
                <a:srgbClr val="FFFFFF"/>
              </a:solidFill>
              <a:latin typeface="Pretendard Bold"/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217B9668-3026-5E45-BB50-7B03481E95BD}"/>
              </a:ext>
            </a:extLst>
          </p:cNvPr>
          <p:cNvGraphicFramePr>
            <a:graphicFrameLocks noGrp="1"/>
          </p:cNvGraphicFramePr>
          <p:nvPr/>
        </p:nvGraphicFramePr>
        <p:xfrm>
          <a:off x="3715407" y="1556406"/>
          <a:ext cx="8109923" cy="4950675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1042422">
                  <a:extLst>
                    <a:ext uri="{9D8B030D-6E8A-4147-A177-3AD203B41FA5}">
                      <a16:colId xmlns:a16="http://schemas.microsoft.com/office/drawing/2014/main" val="60860948"/>
                    </a:ext>
                  </a:extLst>
                </a:gridCol>
                <a:gridCol w="1571535">
                  <a:extLst>
                    <a:ext uri="{9D8B030D-6E8A-4147-A177-3AD203B41FA5}">
                      <a16:colId xmlns:a16="http://schemas.microsoft.com/office/drawing/2014/main" val="3713885553"/>
                    </a:ext>
                  </a:extLst>
                </a:gridCol>
                <a:gridCol w="1650506">
                  <a:extLst>
                    <a:ext uri="{9D8B030D-6E8A-4147-A177-3AD203B41FA5}">
                      <a16:colId xmlns:a16="http://schemas.microsoft.com/office/drawing/2014/main" val="179063355"/>
                    </a:ext>
                  </a:extLst>
                </a:gridCol>
                <a:gridCol w="1349324">
                  <a:extLst>
                    <a:ext uri="{9D8B030D-6E8A-4147-A177-3AD203B41FA5}">
                      <a16:colId xmlns:a16="http://schemas.microsoft.com/office/drawing/2014/main" val="209443028"/>
                    </a:ext>
                  </a:extLst>
                </a:gridCol>
                <a:gridCol w="1871628">
                  <a:extLst>
                    <a:ext uri="{9D8B030D-6E8A-4147-A177-3AD203B41FA5}">
                      <a16:colId xmlns:a16="http://schemas.microsoft.com/office/drawing/2014/main" val="315290010"/>
                    </a:ext>
                  </a:extLst>
                </a:gridCol>
                <a:gridCol w="624508">
                  <a:extLst>
                    <a:ext uri="{9D8B030D-6E8A-4147-A177-3AD203B41FA5}">
                      <a16:colId xmlns:a16="http://schemas.microsoft.com/office/drawing/2014/main" val="1740211836"/>
                    </a:ext>
                  </a:extLst>
                </a:gridCol>
              </a:tblGrid>
              <a:tr h="297793"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400" u="none" strike="noStrike" kern="1200">
                          <a:solidFill>
                            <a:srgbClr val="FFFFFF"/>
                          </a:solidFill>
                          <a:effectLst/>
                        </a:rPr>
                        <a:t>과목명</a:t>
                      </a:r>
                      <a:endParaRPr lang="ko-KR" altLang="en-US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9D8BD"/>
                      </a:solidFill>
                    </a:lnL>
                    <a:lnR w="12700">
                      <a:solidFill>
                        <a:srgbClr val="89D8BD"/>
                      </a:solidFill>
                    </a:lnR>
                    <a:lnT w="12700">
                      <a:solidFill>
                        <a:srgbClr val="89D8BD"/>
                      </a:solidFill>
                    </a:lnT>
                    <a:lnB w="12700">
                      <a:solidFill>
                        <a:srgbClr val="89D8BD"/>
                      </a:solidFill>
                    </a:lnB>
                    <a:solidFill>
                      <a:srgbClr val="88D7B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400" u="none" strike="noStrike" kern="1200">
                          <a:solidFill>
                            <a:srgbClr val="FFFFFF"/>
                          </a:solidFill>
                          <a:effectLst/>
                        </a:rPr>
                        <a:t>데이터 모델링의 이해</a:t>
                      </a:r>
                      <a:endParaRPr lang="ko-KR" altLang="en-US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9D8BD"/>
                      </a:solidFill>
                    </a:lnL>
                    <a:lnR w="12700">
                      <a:solidFill>
                        <a:srgbClr val="89D8BD"/>
                      </a:solidFill>
                    </a:lnR>
                    <a:lnT w="12700">
                      <a:solidFill>
                        <a:srgbClr val="89D8BD"/>
                      </a:solidFill>
                    </a:lnT>
                    <a:lnB w="12700">
                      <a:solidFill>
                        <a:srgbClr val="89D8BD"/>
                      </a:solidFill>
                    </a:lnB>
                    <a:solidFill>
                      <a:srgbClr val="88D7B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 horzOverflow="overflow"/>
                </a:tc>
                <a:tc gridSpan="3"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en-US" sz="1400" u="none" strike="noStrike" kern="1200">
                          <a:solidFill>
                            <a:srgbClr val="FFFFFF"/>
                          </a:solidFill>
                          <a:effectLst/>
                        </a:rPr>
                        <a:t>SQL </a:t>
                      </a:r>
                      <a:r>
                        <a:rPr lang="ko-KR" altLang="en-US" sz="1400" u="none" strike="noStrike" kern="1200">
                          <a:solidFill>
                            <a:srgbClr val="FFFFFF"/>
                          </a:solidFill>
                          <a:effectLst/>
                        </a:rPr>
                        <a:t>기본 및 활용</a:t>
                      </a:r>
                      <a:endParaRPr lang="ko-KR" altLang="en-US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9D8BD"/>
                      </a:solidFill>
                    </a:lnL>
                    <a:lnR w="12700">
                      <a:solidFill>
                        <a:srgbClr val="89D8BD"/>
                      </a:solidFill>
                    </a:lnR>
                    <a:lnT w="12700">
                      <a:solidFill>
                        <a:srgbClr val="89D8BD"/>
                      </a:solidFill>
                    </a:lnT>
                    <a:lnB w="12700">
                      <a:solidFill>
                        <a:srgbClr val="89D8BD"/>
                      </a:solidFill>
                    </a:lnB>
                    <a:solidFill>
                      <a:srgbClr val="88D7B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 horzOverflow="overflow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 horzOverflow="overflow"/>
                </a:tc>
                <a:extLst>
                  <a:ext uri="{0D108BD9-81ED-4DB2-BD59-A6C34878D82A}">
                    <a16:rowId xmlns:a16="http://schemas.microsoft.com/office/drawing/2014/main" val="1669447462"/>
                  </a:ext>
                </a:extLst>
              </a:tr>
              <a:tr h="440953"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400" b="1" u="none" strike="noStrike" kern="1200">
                          <a:solidFill>
                            <a:schemeClr val="bg1"/>
                          </a:solidFill>
                          <a:effectLst/>
                        </a:rPr>
                        <a:t>주요항목</a:t>
                      </a:r>
                      <a:endParaRPr lang="ko-KR" altLang="en-US" sz="1400" b="1" u="none" strike="noStrike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9D8BD"/>
                      </a:solidFill>
                    </a:lnL>
                    <a:lnR w="12700">
                      <a:solidFill>
                        <a:srgbClr val="89D8BD"/>
                      </a:solidFill>
                    </a:lnR>
                    <a:lnT w="12700">
                      <a:solidFill>
                        <a:srgbClr val="89D8BD"/>
                      </a:solidFill>
                    </a:lnT>
                    <a:lnB w="12700">
                      <a:solidFill>
                        <a:srgbClr val="BCEBDB"/>
                      </a:solidFill>
                    </a:lnB>
                    <a:solidFill>
                      <a:srgbClr val="88D7B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데이터 모델링의 이해</a:t>
                      </a:r>
                      <a:endParaRPr lang="ko-KR" altLang="en-US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9D8BD"/>
                      </a:solidFill>
                    </a:lnL>
                    <a:lnR w="12700">
                      <a:solidFill>
                        <a:srgbClr val="89D8BD"/>
                      </a:solidFill>
                    </a:lnR>
                    <a:lnT w="12700">
                      <a:solidFill>
                        <a:srgbClr val="89D8BD"/>
                      </a:solidFill>
                    </a:lnT>
                    <a:lnB w="12700">
                      <a:solidFill>
                        <a:srgbClr val="88D7BC"/>
                      </a:solidFill>
                    </a:lnB>
                    <a:solidFill>
                      <a:srgbClr val="BCEBD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데이터 모델과 </a:t>
                      </a:r>
                      <a:r>
                        <a:rPr lang="af-ZA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SQL</a:t>
                      </a:r>
                      <a:endParaRPr lang="af-ZA" altLang="ko-KR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9D8BD"/>
                      </a:solidFill>
                    </a:lnL>
                    <a:lnR w="12700">
                      <a:solidFill>
                        <a:srgbClr val="89D8BD"/>
                      </a:solidFill>
                    </a:lnR>
                    <a:lnT w="12700">
                      <a:solidFill>
                        <a:srgbClr val="89D8BD"/>
                      </a:solidFill>
                    </a:lnT>
                    <a:lnB w="12700">
                      <a:solidFill>
                        <a:srgbClr val="89D8BD"/>
                      </a:solidFill>
                    </a:lnB>
                    <a:solidFill>
                      <a:srgbClr val="BCEBD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SQL </a:t>
                      </a:r>
                      <a: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기본</a:t>
                      </a:r>
                      <a:endParaRPr lang="ko-KR" altLang="en-US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9D8BD"/>
                      </a:solidFill>
                    </a:lnL>
                    <a:lnR w="12700">
                      <a:solidFill>
                        <a:srgbClr val="89D8BD"/>
                      </a:solidFill>
                    </a:lnR>
                    <a:lnT w="12700">
                      <a:solidFill>
                        <a:srgbClr val="89D8BD"/>
                      </a:solidFill>
                    </a:lnT>
                    <a:lnB w="12700">
                      <a:solidFill>
                        <a:srgbClr val="89D8BD"/>
                      </a:solidFill>
                    </a:lnB>
                    <a:solidFill>
                      <a:srgbClr val="BCEBD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SQL </a:t>
                      </a:r>
                      <a: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활용</a:t>
                      </a:r>
                      <a:endParaRPr lang="ko-KR" altLang="en-US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9D8BD"/>
                      </a:solidFill>
                    </a:lnL>
                    <a:lnR w="12700">
                      <a:solidFill>
                        <a:srgbClr val="89D8BD"/>
                      </a:solidFill>
                    </a:lnR>
                    <a:lnT w="12700">
                      <a:solidFill>
                        <a:srgbClr val="89D8BD"/>
                      </a:solidFill>
                    </a:lnT>
                    <a:lnB w="12700">
                      <a:solidFill>
                        <a:srgbClr val="89D8BD"/>
                      </a:solidFill>
                    </a:lnB>
                    <a:solidFill>
                      <a:srgbClr val="BCEBD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DML</a:t>
                      </a:r>
                      <a:endParaRPr lang="en-US" altLang="ko-KR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9D8BD"/>
                      </a:solidFill>
                    </a:lnL>
                    <a:lnR w="12700">
                      <a:solidFill>
                        <a:srgbClr val="89D8BD"/>
                      </a:solidFill>
                    </a:lnR>
                    <a:lnT w="12700">
                      <a:solidFill>
                        <a:srgbClr val="89D8BD"/>
                      </a:solidFill>
                    </a:lnT>
                    <a:lnB w="12700">
                      <a:solidFill>
                        <a:srgbClr val="89D8BD"/>
                      </a:solidFill>
                    </a:lnB>
                    <a:solidFill>
                      <a:srgbClr val="BCEB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4068383"/>
                  </a:ext>
                </a:extLst>
              </a:tr>
              <a:tr h="501775">
                <a:tc rowSpan="8"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400" b="1" u="none" strike="noStrike" kern="1200">
                          <a:solidFill>
                            <a:schemeClr val="bg1"/>
                          </a:solidFill>
                          <a:effectLst/>
                        </a:rPr>
                        <a:t>세부항목</a:t>
                      </a:r>
                      <a:endParaRPr lang="ko-KR" altLang="en-US" sz="1400" b="1" u="none" strike="noStrike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BCEBDB"/>
                      </a:solidFill>
                    </a:lnL>
                    <a:lnR w="12700">
                      <a:solidFill>
                        <a:srgbClr val="88D7BC"/>
                      </a:solidFill>
                    </a:lnR>
                    <a:lnT w="12700">
                      <a:solidFill>
                        <a:srgbClr val="BCEBDB"/>
                      </a:solidFill>
                    </a:lnT>
                    <a:lnB w="12700">
                      <a:solidFill>
                        <a:srgbClr val="BCEBDB"/>
                      </a:solidFill>
                    </a:lnB>
                    <a:solidFill>
                      <a:srgbClr val="88D7B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데이터모델의 </a:t>
                      </a:r>
                      <a:b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이해</a:t>
                      </a:r>
                      <a:endParaRPr lang="ko-KR" altLang="en-US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8D7BC"/>
                      </a:solidFill>
                    </a:lnL>
                    <a:lnR w="12700">
                      <a:solidFill>
                        <a:srgbClr val="88D7BC"/>
                      </a:solidFill>
                    </a:lnR>
                    <a:lnT w="12700">
                      <a:solidFill>
                        <a:srgbClr val="88D7BC"/>
                      </a:solidFill>
                    </a:lnT>
                    <a:lnB w="12700">
                      <a:solidFill>
                        <a:srgbClr val="88D7B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정규화</a:t>
                      </a:r>
                      <a:endParaRPr lang="ko-KR" altLang="en-US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8D7BC"/>
                      </a:solidFill>
                    </a:lnL>
                    <a:lnR w="12700">
                      <a:solidFill>
                        <a:srgbClr val="89D8BD"/>
                      </a:solidFill>
                    </a:lnR>
                    <a:lnT w="12700">
                      <a:solidFill>
                        <a:srgbClr val="89D8BD"/>
                      </a:solidFill>
                    </a:lnT>
                    <a:lnB w="12700">
                      <a:solidFill>
                        <a:srgbClr val="89D8B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관계형 데이터베이스 개요</a:t>
                      </a:r>
                      <a:endParaRPr lang="ko-KR" altLang="en-US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9D8BD"/>
                      </a:solidFill>
                    </a:lnL>
                    <a:lnR w="12700">
                      <a:solidFill>
                        <a:srgbClr val="89D8BD"/>
                      </a:solidFill>
                    </a:lnR>
                    <a:lnT w="12700">
                      <a:solidFill>
                        <a:srgbClr val="89D8BD"/>
                      </a:solidFill>
                    </a:lnT>
                    <a:lnB w="12700">
                      <a:solidFill>
                        <a:srgbClr val="89D8B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서브 쿼리</a:t>
                      </a:r>
                      <a:endParaRPr lang="ko-KR" altLang="en-US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9D8BD"/>
                      </a:solidFill>
                    </a:lnL>
                    <a:lnR w="12700">
                      <a:solidFill>
                        <a:srgbClr val="89D8BD"/>
                      </a:solidFill>
                    </a:lnR>
                    <a:lnT w="12700">
                      <a:solidFill>
                        <a:srgbClr val="89D8BD"/>
                      </a:solidFill>
                    </a:lnT>
                    <a:lnB w="12700">
                      <a:solidFill>
                        <a:srgbClr val="89D8B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TCL</a:t>
                      </a:r>
                      <a:endParaRPr lang="en-US" altLang="ko-KR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9D8BD"/>
                      </a:solidFill>
                    </a:lnL>
                    <a:lnR w="12700">
                      <a:solidFill>
                        <a:srgbClr val="89D8BD"/>
                      </a:solidFill>
                    </a:lnR>
                    <a:lnT w="12700">
                      <a:solidFill>
                        <a:srgbClr val="89D8BD"/>
                      </a:solidFill>
                    </a:lnT>
                    <a:lnB w="12700">
                      <a:solidFill>
                        <a:srgbClr val="89D8BD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5863733"/>
                  </a:ext>
                </a:extLst>
              </a:tr>
              <a:tr h="44095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400" u="none" strike="noStrike" kern="1200" err="1">
                          <a:solidFill>
                            <a:srgbClr val="000000"/>
                          </a:solidFill>
                          <a:effectLst/>
                        </a:rPr>
                        <a:t>엔터티</a:t>
                      </a:r>
                      <a:endParaRPr lang="ko-KR" altLang="en-US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8D7BC"/>
                      </a:solidFill>
                    </a:lnL>
                    <a:lnR w="12700">
                      <a:solidFill>
                        <a:srgbClr val="88D7BC"/>
                      </a:solidFill>
                    </a:lnR>
                    <a:lnT w="12700">
                      <a:solidFill>
                        <a:srgbClr val="88D7BC"/>
                      </a:solidFill>
                    </a:lnT>
                    <a:lnB w="12700">
                      <a:solidFill>
                        <a:srgbClr val="88D7BC"/>
                      </a:solidFill>
                    </a:lnB>
                    <a:solidFill>
                      <a:srgbClr val="BCEBD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관계와 조인의 </a:t>
                      </a:r>
                      <a:endParaRPr lang="ko-KR" altLang="en-US" sz="1400" u="none" strike="noStrike">
                        <a:effectLst/>
                      </a:endParaRPr>
                    </a:p>
                    <a:p>
                      <a:pPr marL="0" lvl="0" algn="ctr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이해</a:t>
                      </a:r>
                      <a:endParaRPr lang="ko-KR" altLang="en-US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8D7BC"/>
                      </a:solidFill>
                    </a:lnL>
                    <a:lnR w="12700">
                      <a:solidFill>
                        <a:srgbClr val="89D8BD"/>
                      </a:solidFill>
                    </a:lnR>
                    <a:lnT w="12700">
                      <a:solidFill>
                        <a:srgbClr val="89D8BD"/>
                      </a:solidFill>
                    </a:lnT>
                    <a:lnB w="12700">
                      <a:solidFill>
                        <a:srgbClr val="89D8BD"/>
                      </a:solidFill>
                    </a:lnB>
                    <a:solidFill>
                      <a:srgbClr val="BCEBD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SELECT </a:t>
                      </a:r>
                      <a: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문</a:t>
                      </a:r>
                      <a:endParaRPr lang="ko-KR" altLang="en-US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9D8BD"/>
                      </a:solidFill>
                    </a:lnL>
                    <a:lnR w="12700">
                      <a:solidFill>
                        <a:srgbClr val="89D8BD"/>
                      </a:solidFill>
                    </a:lnR>
                    <a:lnT w="12700">
                      <a:solidFill>
                        <a:srgbClr val="89D8BD"/>
                      </a:solidFill>
                    </a:lnT>
                    <a:lnB w="12700">
                      <a:solidFill>
                        <a:srgbClr val="89D8BD"/>
                      </a:solidFill>
                    </a:lnB>
                    <a:solidFill>
                      <a:srgbClr val="BCEBD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집합 연산자</a:t>
                      </a:r>
                      <a:endParaRPr lang="ko-KR" altLang="en-US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9D8BD"/>
                      </a:solidFill>
                    </a:lnL>
                    <a:lnR w="12700">
                      <a:solidFill>
                        <a:srgbClr val="89D8BD"/>
                      </a:solidFill>
                    </a:lnR>
                    <a:lnT w="12700">
                      <a:solidFill>
                        <a:srgbClr val="89D8BD"/>
                      </a:solidFill>
                    </a:lnT>
                    <a:lnB w="12700">
                      <a:solidFill>
                        <a:srgbClr val="89D8BD"/>
                      </a:solidFill>
                    </a:lnB>
                    <a:solidFill>
                      <a:srgbClr val="BCEBD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DDL</a:t>
                      </a:r>
                      <a:endParaRPr lang="en-US" altLang="ko-KR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9D8BD"/>
                      </a:solidFill>
                    </a:lnL>
                    <a:lnR w="12700">
                      <a:solidFill>
                        <a:srgbClr val="89D8BD"/>
                      </a:solidFill>
                    </a:lnR>
                    <a:lnT w="12700">
                      <a:solidFill>
                        <a:srgbClr val="89D8BD"/>
                      </a:solidFill>
                    </a:lnT>
                    <a:lnB w="12700">
                      <a:solidFill>
                        <a:srgbClr val="89D8BD"/>
                      </a:solidFill>
                    </a:lnB>
                    <a:solidFill>
                      <a:srgbClr val="BCEB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4410961"/>
                  </a:ext>
                </a:extLst>
              </a:tr>
              <a:tr h="66903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속성</a:t>
                      </a:r>
                      <a:endParaRPr lang="ko-KR" altLang="en-US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8D7BC"/>
                      </a:solidFill>
                    </a:lnL>
                    <a:lnR w="12700">
                      <a:solidFill>
                        <a:srgbClr val="88D7BC"/>
                      </a:solidFill>
                    </a:lnR>
                    <a:lnT w="12700">
                      <a:solidFill>
                        <a:srgbClr val="88D7BC"/>
                      </a:solidFill>
                    </a:lnT>
                    <a:lnB w="12700">
                      <a:solidFill>
                        <a:srgbClr val="88D7B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모델이 표현하는 </a:t>
                      </a:r>
                      <a:b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트랜잭션의 이해</a:t>
                      </a:r>
                      <a:endParaRPr lang="ko-KR" altLang="en-US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8D7BC"/>
                      </a:solidFill>
                    </a:lnL>
                    <a:lnR w="12700">
                      <a:solidFill>
                        <a:srgbClr val="89D8BD"/>
                      </a:solidFill>
                    </a:lnR>
                    <a:lnT w="12700">
                      <a:solidFill>
                        <a:srgbClr val="89D8BD"/>
                      </a:solidFill>
                    </a:lnT>
                    <a:lnB w="12700">
                      <a:solidFill>
                        <a:srgbClr val="89D8B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함수</a:t>
                      </a:r>
                      <a:endParaRPr lang="ko-KR" altLang="en-US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9D8BD"/>
                      </a:solidFill>
                    </a:lnL>
                    <a:lnR w="12700">
                      <a:solidFill>
                        <a:srgbClr val="89D8BD"/>
                      </a:solidFill>
                    </a:lnR>
                    <a:lnT w="12700">
                      <a:solidFill>
                        <a:srgbClr val="89D8BD"/>
                      </a:solidFill>
                    </a:lnT>
                    <a:lnB w="12700">
                      <a:solidFill>
                        <a:srgbClr val="89D8B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그룹 함수</a:t>
                      </a:r>
                      <a:endParaRPr lang="ko-KR" altLang="en-US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9D8BD"/>
                      </a:solidFill>
                    </a:lnL>
                    <a:lnR w="12700">
                      <a:solidFill>
                        <a:srgbClr val="89D8BD"/>
                      </a:solidFill>
                    </a:lnR>
                    <a:lnT w="12700">
                      <a:solidFill>
                        <a:srgbClr val="89D8BD"/>
                      </a:solidFill>
                    </a:lnT>
                    <a:lnB w="12700">
                      <a:solidFill>
                        <a:srgbClr val="89D8B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CDL</a:t>
                      </a:r>
                      <a:endParaRPr lang="en-US" altLang="ko-KR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9D8BD"/>
                      </a:solidFill>
                    </a:lnL>
                    <a:lnR w="12700">
                      <a:solidFill>
                        <a:srgbClr val="89D8BD"/>
                      </a:solidFill>
                    </a:lnR>
                    <a:lnT w="12700">
                      <a:solidFill>
                        <a:srgbClr val="89D8BD"/>
                      </a:solidFill>
                    </a:lnT>
                    <a:lnB w="12700">
                      <a:solidFill>
                        <a:srgbClr val="89D8BD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2086291"/>
                  </a:ext>
                </a:extLst>
              </a:tr>
              <a:tr h="34972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관계</a:t>
                      </a:r>
                      <a:endParaRPr lang="ko-KR" altLang="en-US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8D7BC"/>
                      </a:solidFill>
                    </a:lnL>
                    <a:lnR w="12700">
                      <a:solidFill>
                        <a:srgbClr val="88D7BC"/>
                      </a:solidFill>
                    </a:lnR>
                    <a:lnT w="12700">
                      <a:solidFill>
                        <a:srgbClr val="88D7BC"/>
                      </a:solidFill>
                    </a:lnT>
                    <a:lnB w="12700">
                      <a:solidFill>
                        <a:srgbClr val="88D7BC"/>
                      </a:solidFill>
                    </a:lnB>
                    <a:solidFill>
                      <a:srgbClr val="BCEBD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Null </a:t>
                      </a:r>
                      <a: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속성의 이해</a:t>
                      </a:r>
                      <a:endParaRPr lang="ko-KR" altLang="en-US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8D7BC"/>
                      </a:solidFill>
                    </a:lnL>
                    <a:lnR w="12700">
                      <a:solidFill>
                        <a:srgbClr val="89D8BD"/>
                      </a:solidFill>
                    </a:lnR>
                    <a:lnT w="12700">
                      <a:solidFill>
                        <a:srgbClr val="89D8BD"/>
                      </a:solidFill>
                    </a:lnT>
                    <a:lnB w="12700">
                      <a:solidFill>
                        <a:srgbClr val="89D8BD"/>
                      </a:solidFill>
                    </a:lnB>
                    <a:solidFill>
                      <a:srgbClr val="BCEBD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WHERE </a:t>
                      </a:r>
                      <a: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절</a:t>
                      </a:r>
                      <a:endParaRPr lang="ko-KR" altLang="en-US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9D8BD"/>
                      </a:solidFill>
                    </a:lnL>
                    <a:lnR w="12700">
                      <a:solidFill>
                        <a:srgbClr val="89D8BD"/>
                      </a:solidFill>
                    </a:lnR>
                    <a:lnT w="12700">
                      <a:solidFill>
                        <a:srgbClr val="89D8BD"/>
                      </a:solidFill>
                    </a:lnT>
                    <a:lnB w="12700">
                      <a:solidFill>
                        <a:srgbClr val="89D8BD"/>
                      </a:solidFill>
                    </a:lnB>
                    <a:solidFill>
                      <a:srgbClr val="BCEBD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윈도우 함수</a:t>
                      </a:r>
                      <a:endParaRPr lang="ko-KR" altLang="en-US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9D8BD"/>
                      </a:solidFill>
                    </a:lnL>
                    <a:lnR w="12700">
                      <a:solidFill>
                        <a:srgbClr val="89D8BD"/>
                      </a:solidFill>
                    </a:lnR>
                    <a:lnT w="12700">
                      <a:solidFill>
                        <a:srgbClr val="89D8BD"/>
                      </a:solidFill>
                    </a:lnT>
                    <a:lnB w="12700">
                      <a:solidFill>
                        <a:srgbClr val="89D8BD"/>
                      </a:solidFill>
                    </a:lnB>
                    <a:solidFill>
                      <a:srgbClr val="BCEBDB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-</a:t>
                      </a:r>
                      <a:endParaRPr lang="en-US" altLang="ko-KR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9D8BD"/>
                      </a:solidFill>
                    </a:lnL>
                    <a:lnR w="12700">
                      <a:solidFill>
                        <a:srgbClr val="89D8BD"/>
                      </a:solidFill>
                    </a:lnR>
                    <a:lnT w="12700">
                      <a:solidFill>
                        <a:srgbClr val="89D8BD"/>
                      </a:solidFill>
                    </a:lnT>
                    <a:lnB w="12700">
                      <a:solidFill>
                        <a:srgbClr val="89D8BD"/>
                      </a:solidFill>
                    </a:lnB>
                    <a:solidFill>
                      <a:srgbClr val="BCEB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6876979"/>
                  </a:ext>
                </a:extLst>
              </a:tr>
              <a:tr h="63862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식별자</a:t>
                      </a:r>
                      <a:endParaRPr lang="ko-KR" altLang="en-US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8D7BC"/>
                      </a:solidFill>
                    </a:lnL>
                    <a:lnR w="12700">
                      <a:solidFill>
                        <a:srgbClr val="88D7BC"/>
                      </a:solidFill>
                    </a:lnR>
                    <a:lnT w="12700">
                      <a:solidFill>
                        <a:srgbClr val="88D7BC"/>
                      </a:solidFill>
                    </a:lnT>
                    <a:lnB w="12700">
                      <a:solidFill>
                        <a:srgbClr val="88D7B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본질식별자 </a:t>
                      </a:r>
                      <a:b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af-ZA" sz="1400" u="none" strike="noStrike" kern="1200" err="1">
                          <a:solidFill>
                            <a:srgbClr val="000000"/>
                          </a:solidFill>
                          <a:effectLst/>
                        </a:rPr>
                        <a:t>vs</a:t>
                      </a:r>
                      <a:br>
                        <a:rPr lang="af-ZA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인조식별자</a:t>
                      </a:r>
                      <a:endParaRPr lang="ko-KR" altLang="en-US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8D7BC"/>
                      </a:solidFill>
                    </a:lnL>
                    <a:lnR w="12700">
                      <a:solidFill>
                        <a:srgbClr val="89D8BD"/>
                      </a:solidFill>
                    </a:lnR>
                    <a:lnT w="12700">
                      <a:solidFill>
                        <a:srgbClr val="89D8BD"/>
                      </a:solidFill>
                    </a:lnT>
                    <a:lnB w="12700">
                      <a:solidFill>
                        <a:srgbClr val="89D8B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GROUP BY, HAVING </a:t>
                      </a:r>
                      <a: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절</a:t>
                      </a:r>
                      <a:endParaRPr lang="ko-KR" altLang="en-US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9D8BD"/>
                      </a:solidFill>
                    </a:lnL>
                    <a:lnR w="12700">
                      <a:solidFill>
                        <a:srgbClr val="89D8BD"/>
                      </a:solidFill>
                    </a:lnR>
                    <a:lnT w="12700">
                      <a:solidFill>
                        <a:srgbClr val="89D8BD"/>
                      </a:solidFill>
                    </a:lnT>
                    <a:lnB w="12700">
                      <a:solidFill>
                        <a:srgbClr val="89D8B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Top N </a:t>
                      </a:r>
                      <a: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처리</a:t>
                      </a:r>
                      <a:endParaRPr lang="ko-KR" altLang="en-US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9D8BD"/>
                      </a:solidFill>
                    </a:lnL>
                    <a:lnR w="12700">
                      <a:solidFill>
                        <a:srgbClr val="89D8BD"/>
                      </a:solidFill>
                    </a:lnR>
                    <a:lnT w="12700">
                      <a:solidFill>
                        <a:srgbClr val="89D8BD"/>
                      </a:solidFill>
                    </a:lnT>
                    <a:lnB w="12700">
                      <a:solidFill>
                        <a:srgbClr val="89D8BD"/>
                      </a:solidFill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 horzOverflow="overflow"/>
                </a:tc>
                <a:extLst>
                  <a:ext uri="{0D108BD9-81ED-4DB2-BD59-A6C34878D82A}">
                    <a16:rowId xmlns:a16="http://schemas.microsoft.com/office/drawing/2014/main" val="4170134591"/>
                  </a:ext>
                </a:extLst>
              </a:tr>
              <a:tr h="44095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 horzOverflow="overflow"/>
                </a:tc>
                <a:tc rowSpan="3"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-</a:t>
                      </a:r>
                      <a:endParaRPr lang="en-US" altLang="ko-KR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8D7BC"/>
                      </a:solidFill>
                    </a:lnL>
                    <a:lnR w="12700">
                      <a:solidFill>
                        <a:srgbClr val="88D7BC"/>
                      </a:solidFill>
                    </a:lnR>
                    <a:lnT w="12700">
                      <a:solidFill>
                        <a:srgbClr val="88D7BC"/>
                      </a:solidFill>
                    </a:lnT>
                    <a:lnB w="12700">
                      <a:solidFill>
                        <a:srgbClr val="88D7BC"/>
                      </a:solidFill>
                    </a:lnB>
                    <a:solidFill>
                      <a:srgbClr val="BCEBDB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-</a:t>
                      </a:r>
                      <a:endParaRPr lang="en-US" altLang="ko-KR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8D7BC"/>
                      </a:solidFill>
                    </a:lnL>
                    <a:lnR w="12700">
                      <a:solidFill>
                        <a:srgbClr val="89D8BD"/>
                      </a:solidFill>
                    </a:lnR>
                    <a:lnT w="12700">
                      <a:solidFill>
                        <a:srgbClr val="89D8BD"/>
                      </a:solidFill>
                    </a:lnT>
                    <a:lnB w="12700">
                      <a:solidFill>
                        <a:srgbClr val="89D8BD"/>
                      </a:solidFill>
                    </a:lnB>
                    <a:solidFill>
                      <a:srgbClr val="BCEBD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ORDER BY </a:t>
                      </a:r>
                      <a: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절</a:t>
                      </a:r>
                      <a:endParaRPr lang="ko-KR" altLang="en-US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9D8BD"/>
                      </a:solidFill>
                    </a:lnL>
                    <a:lnR w="12700">
                      <a:solidFill>
                        <a:srgbClr val="89D8BD"/>
                      </a:solidFill>
                    </a:lnR>
                    <a:lnT w="12700">
                      <a:solidFill>
                        <a:srgbClr val="89D8BD"/>
                      </a:solidFill>
                    </a:lnT>
                    <a:lnB w="12700">
                      <a:solidFill>
                        <a:srgbClr val="89D8BD"/>
                      </a:solidFill>
                    </a:lnB>
                    <a:solidFill>
                      <a:srgbClr val="BCEBD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계층형 질의와 </a:t>
                      </a:r>
                      <a:endParaRPr lang="ko-KR" altLang="en-US" sz="1400" u="none" strike="noStrike">
                        <a:effectLst/>
                      </a:endParaRPr>
                    </a:p>
                    <a:p>
                      <a:pPr marL="0" lvl="0" algn="ctr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셀프 조인</a:t>
                      </a:r>
                      <a:endParaRPr lang="ko-KR" altLang="en-US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9D8BD"/>
                      </a:solidFill>
                    </a:lnL>
                    <a:lnR w="12700">
                      <a:solidFill>
                        <a:srgbClr val="89D8BD"/>
                      </a:solidFill>
                    </a:lnR>
                    <a:lnT w="12700">
                      <a:solidFill>
                        <a:srgbClr val="89D8BD"/>
                      </a:solidFill>
                    </a:lnT>
                    <a:lnB w="12700">
                      <a:solidFill>
                        <a:srgbClr val="89D8BD"/>
                      </a:solidFill>
                    </a:lnB>
                    <a:solidFill>
                      <a:srgbClr val="BCEBDB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 horzOverflow="overflow"/>
                </a:tc>
                <a:extLst>
                  <a:ext uri="{0D108BD9-81ED-4DB2-BD59-A6C34878D82A}">
                    <a16:rowId xmlns:a16="http://schemas.microsoft.com/office/drawing/2014/main" val="1264133320"/>
                  </a:ext>
                </a:extLst>
              </a:tr>
              <a:tr h="34972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 horzOverflow="overflow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 horzOverflow="overflow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조인</a:t>
                      </a:r>
                      <a:endParaRPr lang="ko-KR" altLang="en-US" sz="1400" u="none" strike="noStrike">
                        <a:effectLst/>
                        <a:latin typeface="ONE Mobile Title OTF"/>
                      </a:endParaRPr>
                    </a:p>
                  </a:txBody>
                  <a:tcPr anchor="ctr">
                    <a:lnL w="12700">
                      <a:solidFill>
                        <a:srgbClr val="89D8BD"/>
                      </a:solidFill>
                    </a:lnL>
                    <a:lnR w="12700">
                      <a:solidFill>
                        <a:srgbClr val="89D8BD"/>
                      </a:solidFill>
                    </a:lnR>
                    <a:lnT w="12700">
                      <a:solidFill>
                        <a:srgbClr val="89D8BD"/>
                      </a:solidFill>
                    </a:lnT>
                    <a:lnB w="12700">
                      <a:solidFill>
                        <a:srgbClr val="89D8B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PIVOT </a:t>
                      </a:r>
                      <a: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절과 </a:t>
                      </a:r>
                      <a:r>
                        <a:rPr 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UNPIVOT</a:t>
                      </a:r>
                      <a: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절</a:t>
                      </a:r>
                      <a:endParaRPr lang="ko-KR" altLang="en-US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9D8BD"/>
                      </a:solidFill>
                    </a:lnL>
                    <a:lnR w="12700">
                      <a:solidFill>
                        <a:srgbClr val="89D8BD"/>
                      </a:solidFill>
                    </a:lnR>
                    <a:lnT w="12700">
                      <a:solidFill>
                        <a:srgbClr val="89D8BD"/>
                      </a:solidFill>
                    </a:lnT>
                    <a:lnB w="12700">
                      <a:solidFill>
                        <a:srgbClr val="89D8BD"/>
                      </a:solidFill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 horzOverflow="overflow"/>
                </a:tc>
                <a:extLst>
                  <a:ext uri="{0D108BD9-81ED-4DB2-BD59-A6C34878D82A}">
                    <a16:rowId xmlns:a16="http://schemas.microsoft.com/office/drawing/2014/main" val="1369870539"/>
                  </a:ext>
                </a:extLst>
              </a:tr>
              <a:tr h="25849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 horzOverflow="overflow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 horzOverflow="overflow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표준 조인</a:t>
                      </a:r>
                      <a:endParaRPr lang="ko-KR" altLang="en-US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9D8BD"/>
                      </a:solidFill>
                    </a:lnL>
                    <a:lnR w="12700">
                      <a:solidFill>
                        <a:srgbClr val="89D8BD"/>
                      </a:solidFill>
                    </a:lnR>
                    <a:lnT w="12700">
                      <a:solidFill>
                        <a:srgbClr val="89D8BD"/>
                      </a:solidFill>
                    </a:lnT>
                    <a:lnB w="12700">
                      <a:solidFill>
                        <a:srgbClr val="89D8BD"/>
                      </a:solidFill>
                    </a:lnB>
                    <a:solidFill>
                      <a:srgbClr val="BCEBD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정규 표현식</a:t>
                      </a:r>
                      <a:endParaRPr lang="ko-KR" altLang="en-US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9D8BD"/>
                      </a:solidFill>
                    </a:lnL>
                    <a:lnR w="12700">
                      <a:solidFill>
                        <a:srgbClr val="89D8BD"/>
                      </a:solidFill>
                    </a:lnR>
                    <a:lnT w="12700">
                      <a:solidFill>
                        <a:srgbClr val="89D8BD"/>
                      </a:solidFill>
                    </a:lnT>
                    <a:lnB w="12700">
                      <a:solidFill>
                        <a:srgbClr val="89D8BD"/>
                      </a:solidFill>
                    </a:lnB>
                    <a:solidFill>
                      <a:srgbClr val="BCEBDB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 horzOverflow="overflow"/>
                </a:tc>
                <a:extLst>
                  <a:ext uri="{0D108BD9-81ED-4DB2-BD59-A6C34878D82A}">
                    <a16:rowId xmlns:a16="http://schemas.microsoft.com/office/drawing/2014/main" val="80557851"/>
                  </a:ext>
                </a:extLst>
              </a:tr>
            </a:tbl>
          </a:graphicData>
        </a:graphic>
      </p:graphicFrame>
      <p:pic>
        <p:nvPicPr>
          <p:cNvPr id="27" name="Picture 10" descr="스크린샷이(가) 표시된 사진&#10;&#10;자동 생성된 설명">
            <a:extLst>
              <a:ext uri="{FF2B5EF4-FFF2-40B4-BE49-F238E27FC236}">
                <a16:creationId xmlns:a16="http://schemas.microsoft.com/office/drawing/2014/main" id="{813821A3-C9D0-80A2-935A-5412FC196B3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4717" y="2254177"/>
            <a:ext cx="2006600" cy="397933"/>
          </a:xfrm>
          <a:prstGeom prst="rect">
            <a:avLst/>
          </a:prstGeom>
        </p:spPr>
      </p:pic>
      <p:pic>
        <p:nvPicPr>
          <p:cNvPr id="29" name="Picture 11" descr="직사각형, 스크린샷, 사각형, 프레임이(가) 표시된 사진&#10;&#10;자동 생성된 설명">
            <a:extLst>
              <a:ext uri="{FF2B5EF4-FFF2-40B4-BE49-F238E27FC236}">
                <a16:creationId xmlns:a16="http://schemas.microsoft.com/office/drawing/2014/main" id="{CE109B49-BA90-C14C-8EAA-E45257E4D52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4717" y="2516644"/>
            <a:ext cx="3141133" cy="2988733"/>
          </a:xfrm>
          <a:prstGeom prst="rect">
            <a:avLst/>
          </a:prstGeom>
        </p:spPr>
      </p:pic>
      <p:sp>
        <p:nvSpPr>
          <p:cNvPr id="31" name="TextBox 16">
            <a:extLst>
              <a:ext uri="{FF2B5EF4-FFF2-40B4-BE49-F238E27FC236}">
                <a16:creationId xmlns:a16="http://schemas.microsoft.com/office/drawing/2014/main" id="{BC318593-AB7C-4CA3-C56C-4400AB1FD449}"/>
              </a:ext>
            </a:extLst>
          </p:cNvPr>
          <p:cNvSpPr txBox="1"/>
          <p:nvPr/>
        </p:nvSpPr>
        <p:spPr>
          <a:xfrm>
            <a:off x="856885" y="3431335"/>
            <a:ext cx="2603354" cy="1752309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ko-KR" altLang="en-US" sz="1400">
                <a:solidFill>
                  <a:srgbClr val="000000"/>
                </a:solidFill>
                <a:latin typeface="맑은 고딕"/>
                <a:ea typeface="맑은 고딕"/>
              </a:rPr>
              <a:t>SQL 개발자 가격시험의 </a:t>
            </a:r>
            <a:br>
              <a:rPr lang="ko-KR" altLang="en-US" sz="1400">
                <a:solidFill>
                  <a:srgbClr val="000000"/>
                </a:solidFill>
                <a:latin typeface="맑은 고딕"/>
                <a:ea typeface="맑은 고딕"/>
              </a:rPr>
            </a:br>
            <a:r>
              <a:rPr lang="ko-KR" altLang="en-US" sz="1400">
                <a:solidFill>
                  <a:srgbClr val="000000"/>
                </a:solidFill>
                <a:latin typeface="맑은 고딕"/>
                <a:ea typeface="맑은 고딕"/>
              </a:rPr>
              <a:t>과목은 총 2과목으로 구성</a:t>
            </a:r>
            <a:endParaRPr lang="ko-KR"/>
          </a:p>
          <a:p>
            <a:pPr marL="228600" indent="-228600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endParaRPr lang="ko-KR" altLang="en-US" sz="140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marL="228600" indent="-228600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ko-KR" altLang="en-US" sz="1400">
                <a:solidFill>
                  <a:srgbClr val="000000"/>
                </a:solidFill>
                <a:latin typeface="맑은 고딕"/>
                <a:ea typeface="맑은 고딕"/>
              </a:rPr>
              <a:t>데이터 모델링의 이해 과목을 바탕으로 SQL 기본 및 활용을 수행하는 능력을 검정한다.</a:t>
            </a:r>
            <a:endParaRPr lang="ko-KR">
              <a:ea typeface="맑은 고딕"/>
            </a:endParaRPr>
          </a:p>
        </p:txBody>
      </p:sp>
      <p:sp>
        <p:nvSpPr>
          <p:cNvPr id="33" name="TextBox 17">
            <a:extLst>
              <a:ext uri="{FF2B5EF4-FFF2-40B4-BE49-F238E27FC236}">
                <a16:creationId xmlns:a16="http://schemas.microsoft.com/office/drawing/2014/main" id="{E24BC51F-DD15-3679-14B4-AD05F1C308D3}"/>
              </a:ext>
            </a:extLst>
          </p:cNvPr>
          <p:cNvSpPr txBox="1"/>
          <p:nvPr/>
        </p:nvSpPr>
        <p:spPr>
          <a:xfrm>
            <a:off x="855717" y="2821443"/>
            <a:ext cx="2302933" cy="364067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97540"/>
              </a:lnSpc>
            </a:pPr>
            <a:r>
              <a:rPr lang="ko-KR" altLang="en-US" sz="2050" spc="67">
                <a:solidFill>
                  <a:srgbClr val="000000"/>
                </a:solidFill>
                <a:ea typeface="ONE Mobile Title OTF"/>
              </a:rPr>
              <a:t>과목 및 내용</a:t>
            </a:r>
            <a:endParaRPr lang="ko-KR" altLang="en-US" sz="2050" b="0" i="0" u="none" strike="noStrike" spc="67">
              <a:solidFill>
                <a:srgbClr val="000000"/>
              </a:solidFill>
              <a:ea typeface="ONE Mobile Title OTF"/>
            </a:endParaRPr>
          </a:p>
        </p:txBody>
      </p:sp>
      <p:pic>
        <p:nvPicPr>
          <p:cNvPr id="43" name="Picture 9">
            <a:extLst>
              <a:ext uri="{FF2B5EF4-FFF2-40B4-BE49-F238E27FC236}">
                <a16:creationId xmlns:a16="http://schemas.microsoft.com/office/drawing/2014/main" id="{F25E17E0-4330-B68A-456A-510A1B90995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-879657" y="-2462633"/>
            <a:ext cx="5590919" cy="1615965"/>
          </a:xfrm>
          <a:prstGeom prst="rect">
            <a:avLst/>
          </a:prstGeom>
        </p:spPr>
      </p:pic>
      <p:sp>
        <p:nvSpPr>
          <p:cNvPr id="48" name="TextBox 16">
            <a:extLst>
              <a:ext uri="{FF2B5EF4-FFF2-40B4-BE49-F238E27FC236}">
                <a16:creationId xmlns:a16="http://schemas.microsoft.com/office/drawing/2014/main" id="{57891FBD-6B63-767B-DA9B-16FE8EC7FDE9}"/>
              </a:ext>
            </a:extLst>
          </p:cNvPr>
          <p:cNvSpPr txBox="1"/>
          <p:nvPr/>
        </p:nvSpPr>
        <p:spPr>
          <a:xfrm>
            <a:off x="-597047" y="-2095355"/>
            <a:ext cx="2603354" cy="1025344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ko-KR" altLang="en-US" sz="1400">
                <a:solidFill>
                  <a:srgbClr val="000000"/>
                </a:solidFill>
                <a:latin typeface="맑은 고딕"/>
                <a:ea typeface="맑은 고딕"/>
              </a:rPr>
              <a:t>SQL 개발자 가격시험의 </a:t>
            </a:r>
            <a:br>
              <a:rPr lang="ko-KR" altLang="en-US" sz="1400">
                <a:solidFill>
                  <a:srgbClr val="000000"/>
                </a:solidFill>
                <a:latin typeface="맑은 고딕"/>
                <a:ea typeface="맑은 고딕"/>
              </a:rPr>
            </a:br>
            <a:r>
              <a:rPr lang="ko-KR" altLang="en-US" sz="1400">
                <a:solidFill>
                  <a:srgbClr val="000000"/>
                </a:solidFill>
                <a:latin typeface="맑은 고딕"/>
                <a:ea typeface="맑은 고딕"/>
              </a:rPr>
              <a:t>과목은 총 2과목으로 구성</a:t>
            </a:r>
            <a:endParaRPr lang="ko-KR"/>
          </a:p>
        </p:txBody>
      </p:sp>
      <p:sp>
        <p:nvSpPr>
          <p:cNvPr id="49" name="TextBox 17">
            <a:extLst>
              <a:ext uri="{FF2B5EF4-FFF2-40B4-BE49-F238E27FC236}">
                <a16:creationId xmlns:a16="http://schemas.microsoft.com/office/drawing/2014/main" id="{28040F73-1DC9-8F18-182F-52D4CCBCB1C2}"/>
              </a:ext>
            </a:extLst>
          </p:cNvPr>
          <p:cNvSpPr txBox="1"/>
          <p:nvPr/>
        </p:nvSpPr>
        <p:spPr>
          <a:xfrm>
            <a:off x="-598215" y="-2363661"/>
            <a:ext cx="2302933" cy="364067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97540"/>
              </a:lnSpc>
            </a:pPr>
            <a:r>
              <a:rPr lang="ko-KR" altLang="en-US" sz="2050" spc="67">
                <a:solidFill>
                  <a:srgbClr val="000000"/>
                </a:solidFill>
                <a:ea typeface="ONE Mobile Title OTF"/>
              </a:rPr>
              <a:t>과목 및 내용</a:t>
            </a:r>
            <a:endParaRPr lang="ko-KR" altLang="en-US" sz="2050" b="0" i="0" u="none" strike="noStrike" spc="67">
              <a:solidFill>
                <a:srgbClr val="000000"/>
              </a:solidFill>
              <a:ea typeface="ONE Mobile Title OTF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D09D398-7D76-8E0B-33AD-C8976B44A63C}"/>
              </a:ext>
            </a:extLst>
          </p:cNvPr>
          <p:cNvSpPr txBox="1"/>
          <p:nvPr/>
        </p:nvSpPr>
        <p:spPr>
          <a:xfrm>
            <a:off x="1562538" y="-1897117"/>
            <a:ext cx="2743200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Arial,Sans-Serif"/>
              <a:buChar char="●"/>
            </a:pPr>
            <a:r>
              <a:rPr lang="ko-KR" sz="1400">
                <a:latin typeface="Arial"/>
                <a:ea typeface="맑은 고딕"/>
                <a:cs typeface="Arial"/>
              </a:rPr>
              <a:t>데이터 모델링의 이해 과목을 바탕으로 SQL 기본 및 활용을 수행하는 능력을 검정한다.​</a:t>
            </a:r>
          </a:p>
        </p:txBody>
      </p:sp>
      <p:graphicFrame>
        <p:nvGraphicFramePr>
          <p:cNvPr id="51" name="표 50">
            <a:extLst>
              <a:ext uri="{FF2B5EF4-FFF2-40B4-BE49-F238E27FC236}">
                <a16:creationId xmlns:a16="http://schemas.microsoft.com/office/drawing/2014/main" id="{BF17A9ED-0C35-4AAA-9F3E-68F4BB31E8BF}"/>
              </a:ext>
            </a:extLst>
          </p:cNvPr>
          <p:cNvGraphicFramePr>
            <a:graphicFrameLocks noGrp="1"/>
          </p:cNvGraphicFramePr>
          <p:nvPr/>
        </p:nvGraphicFramePr>
        <p:xfrm>
          <a:off x="4214648" y="-5844628"/>
          <a:ext cx="8109923" cy="4950675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1042422">
                  <a:extLst>
                    <a:ext uri="{9D8B030D-6E8A-4147-A177-3AD203B41FA5}">
                      <a16:colId xmlns:a16="http://schemas.microsoft.com/office/drawing/2014/main" val="60860948"/>
                    </a:ext>
                  </a:extLst>
                </a:gridCol>
                <a:gridCol w="1571535">
                  <a:extLst>
                    <a:ext uri="{9D8B030D-6E8A-4147-A177-3AD203B41FA5}">
                      <a16:colId xmlns:a16="http://schemas.microsoft.com/office/drawing/2014/main" val="3713885553"/>
                    </a:ext>
                  </a:extLst>
                </a:gridCol>
                <a:gridCol w="1650506">
                  <a:extLst>
                    <a:ext uri="{9D8B030D-6E8A-4147-A177-3AD203B41FA5}">
                      <a16:colId xmlns:a16="http://schemas.microsoft.com/office/drawing/2014/main" val="179063355"/>
                    </a:ext>
                  </a:extLst>
                </a:gridCol>
                <a:gridCol w="1349324">
                  <a:extLst>
                    <a:ext uri="{9D8B030D-6E8A-4147-A177-3AD203B41FA5}">
                      <a16:colId xmlns:a16="http://schemas.microsoft.com/office/drawing/2014/main" val="209443028"/>
                    </a:ext>
                  </a:extLst>
                </a:gridCol>
                <a:gridCol w="1871628">
                  <a:extLst>
                    <a:ext uri="{9D8B030D-6E8A-4147-A177-3AD203B41FA5}">
                      <a16:colId xmlns:a16="http://schemas.microsoft.com/office/drawing/2014/main" val="315290010"/>
                    </a:ext>
                  </a:extLst>
                </a:gridCol>
                <a:gridCol w="624508">
                  <a:extLst>
                    <a:ext uri="{9D8B030D-6E8A-4147-A177-3AD203B41FA5}">
                      <a16:colId xmlns:a16="http://schemas.microsoft.com/office/drawing/2014/main" val="1740211836"/>
                    </a:ext>
                  </a:extLst>
                </a:gridCol>
              </a:tblGrid>
              <a:tr h="297793"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400" u="none" strike="noStrike" kern="1200">
                          <a:solidFill>
                            <a:srgbClr val="FFFFFF"/>
                          </a:solidFill>
                          <a:effectLst/>
                        </a:rPr>
                        <a:t>과목명</a:t>
                      </a:r>
                      <a:endParaRPr lang="ko-KR" altLang="en-US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9D8BD"/>
                      </a:solidFill>
                    </a:lnL>
                    <a:lnR w="12700">
                      <a:solidFill>
                        <a:srgbClr val="89D8BD"/>
                      </a:solidFill>
                    </a:lnR>
                    <a:lnT w="12700">
                      <a:solidFill>
                        <a:srgbClr val="89D8BD"/>
                      </a:solidFill>
                    </a:lnT>
                    <a:lnB w="12700">
                      <a:solidFill>
                        <a:srgbClr val="89D8BD"/>
                      </a:solidFill>
                    </a:lnB>
                    <a:solidFill>
                      <a:srgbClr val="88D7B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400" u="none" strike="noStrike" kern="1200">
                          <a:solidFill>
                            <a:srgbClr val="FFFFFF"/>
                          </a:solidFill>
                          <a:effectLst/>
                        </a:rPr>
                        <a:t>데이터 모델링의 이해</a:t>
                      </a:r>
                      <a:endParaRPr lang="ko-KR" altLang="en-US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9D8BD"/>
                      </a:solidFill>
                    </a:lnL>
                    <a:lnR w="12700">
                      <a:solidFill>
                        <a:srgbClr val="89D8BD"/>
                      </a:solidFill>
                    </a:lnR>
                    <a:lnT w="12700">
                      <a:solidFill>
                        <a:srgbClr val="89D8BD"/>
                      </a:solidFill>
                    </a:lnT>
                    <a:lnB w="12700">
                      <a:solidFill>
                        <a:srgbClr val="89D8BD"/>
                      </a:solidFill>
                    </a:lnB>
                    <a:solidFill>
                      <a:srgbClr val="88D7B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 horzOverflow="overflow"/>
                </a:tc>
                <a:tc gridSpan="3"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en-US" sz="1400" u="none" strike="noStrike" kern="1200">
                          <a:solidFill>
                            <a:srgbClr val="FFFFFF"/>
                          </a:solidFill>
                          <a:effectLst/>
                        </a:rPr>
                        <a:t>SQL </a:t>
                      </a:r>
                      <a:r>
                        <a:rPr lang="ko-KR" altLang="en-US" sz="1400" u="none" strike="noStrike" kern="1200">
                          <a:solidFill>
                            <a:srgbClr val="FFFFFF"/>
                          </a:solidFill>
                          <a:effectLst/>
                        </a:rPr>
                        <a:t>기본 및 활용</a:t>
                      </a:r>
                      <a:endParaRPr lang="ko-KR" altLang="en-US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9D8BD"/>
                      </a:solidFill>
                    </a:lnL>
                    <a:lnR w="12700">
                      <a:solidFill>
                        <a:srgbClr val="89D8BD"/>
                      </a:solidFill>
                    </a:lnR>
                    <a:lnT w="12700">
                      <a:solidFill>
                        <a:srgbClr val="89D8BD"/>
                      </a:solidFill>
                    </a:lnT>
                    <a:lnB w="12700">
                      <a:solidFill>
                        <a:srgbClr val="89D8BD"/>
                      </a:solidFill>
                    </a:lnB>
                    <a:solidFill>
                      <a:srgbClr val="88D7B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 horzOverflow="overflow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 horzOverflow="overflow"/>
                </a:tc>
                <a:extLst>
                  <a:ext uri="{0D108BD9-81ED-4DB2-BD59-A6C34878D82A}">
                    <a16:rowId xmlns:a16="http://schemas.microsoft.com/office/drawing/2014/main" val="1669447462"/>
                  </a:ext>
                </a:extLst>
              </a:tr>
              <a:tr h="440953"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400" b="1" u="none" strike="noStrike" kern="1200">
                          <a:solidFill>
                            <a:schemeClr val="bg1"/>
                          </a:solidFill>
                          <a:effectLst/>
                        </a:rPr>
                        <a:t>주요항목</a:t>
                      </a:r>
                      <a:endParaRPr lang="ko-KR" altLang="en-US" sz="1400" b="1" u="none" strike="noStrike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9D8BD"/>
                      </a:solidFill>
                    </a:lnL>
                    <a:lnR w="12700">
                      <a:solidFill>
                        <a:srgbClr val="89D8BD"/>
                      </a:solidFill>
                    </a:lnR>
                    <a:lnT w="12700">
                      <a:solidFill>
                        <a:srgbClr val="89D8BD"/>
                      </a:solidFill>
                    </a:lnT>
                    <a:lnB w="12700">
                      <a:solidFill>
                        <a:srgbClr val="BCEBDB"/>
                      </a:solidFill>
                    </a:lnB>
                    <a:solidFill>
                      <a:srgbClr val="88D7B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데이터 모델링의 이해</a:t>
                      </a:r>
                      <a:endParaRPr lang="ko-KR" altLang="en-US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9D8BD"/>
                      </a:solidFill>
                    </a:lnL>
                    <a:lnR w="12700">
                      <a:solidFill>
                        <a:srgbClr val="89D8BD"/>
                      </a:solidFill>
                    </a:lnR>
                    <a:lnT w="12700">
                      <a:solidFill>
                        <a:srgbClr val="89D8BD"/>
                      </a:solidFill>
                    </a:lnT>
                    <a:lnB w="12700">
                      <a:solidFill>
                        <a:srgbClr val="88D7BC"/>
                      </a:solidFill>
                    </a:lnB>
                    <a:solidFill>
                      <a:srgbClr val="BCEBD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데이터 모델과 </a:t>
                      </a:r>
                      <a:r>
                        <a:rPr lang="af-ZA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SQL</a:t>
                      </a:r>
                      <a:endParaRPr lang="af-ZA" altLang="ko-KR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9D8BD"/>
                      </a:solidFill>
                    </a:lnL>
                    <a:lnR w="12700">
                      <a:solidFill>
                        <a:srgbClr val="89D8BD"/>
                      </a:solidFill>
                    </a:lnR>
                    <a:lnT w="12700">
                      <a:solidFill>
                        <a:srgbClr val="89D8BD"/>
                      </a:solidFill>
                    </a:lnT>
                    <a:lnB w="12700">
                      <a:solidFill>
                        <a:srgbClr val="89D8BD"/>
                      </a:solidFill>
                    </a:lnB>
                    <a:solidFill>
                      <a:srgbClr val="BCEBD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SQL </a:t>
                      </a:r>
                      <a: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기본</a:t>
                      </a:r>
                      <a:endParaRPr lang="ko-KR" altLang="en-US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9D8BD"/>
                      </a:solidFill>
                    </a:lnL>
                    <a:lnR w="12700">
                      <a:solidFill>
                        <a:srgbClr val="89D8BD"/>
                      </a:solidFill>
                    </a:lnR>
                    <a:lnT w="12700">
                      <a:solidFill>
                        <a:srgbClr val="89D8BD"/>
                      </a:solidFill>
                    </a:lnT>
                    <a:lnB w="12700">
                      <a:solidFill>
                        <a:srgbClr val="89D8BD"/>
                      </a:solidFill>
                    </a:lnB>
                    <a:solidFill>
                      <a:srgbClr val="BCEBD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SQL </a:t>
                      </a:r>
                      <a: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활용</a:t>
                      </a:r>
                      <a:endParaRPr lang="ko-KR" altLang="en-US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9D8BD"/>
                      </a:solidFill>
                    </a:lnL>
                    <a:lnR w="12700">
                      <a:solidFill>
                        <a:srgbClr val="89D8BD"/>
                      </a:solidFill>
                    </a:lnR>
                    <a:lnT w="12700">
                      <a:solidFill>
                        <a:srgbClr val="89D8BD"/>
                      </a:solidFill>
                    </a:lnT>
                    <a:lnB w="12700">
                      <a:solidFill>
                        <a:srgbClr val="89D8BD"/>
                      </a:solidFill>
                    </a:lnB>
                    <a:solidFill>
                      <a:srgbClr val="BCEBD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DML</a:t>
                      </a:r>
                      <a:endParaRPr lang="en-US" altLang="ko-KR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9D8BD"/>
                      </a:solidFill>
                    </a:lnL>
                    <a:lnR w="12700">
                      <a:solidFill>
                        <a:srgbClr val="89D8BD"/>
                      </a:solidFill>
                    </a:lnR>
                    <a:lnT w="12700">
                      <a:solidFill>
                        <a:srgbClr val="89D8BD"/>
                      </a:solidFill>
                    </a:lnT>
                    <a:lnB w="12700">
                      <a:solidFill>
                        <a:srgbClr val="89D8BD"/>
                      </a:solidFill>
                    </a:lnB>
                    <a:solidFill>
                      <a:srgbClr val="BCEB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4068383"/>
                  </a:ext>
                </a:extLst>
              </a:tr>
              <a:tr h="501775">
                <a:tc rowSpan="8"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400" b="1" u="none" strike="noStrike" kern="1200">
                          <a:solidFill>
                            <a:schemeClr val="bg1"/>
                          </a:solidFill>
                          <a:effectLst/>
                        </a:rPr>
                        <a:t>세부항목</a:t>
                      </a:r>
                      <a:endParaRPr lang="ko-KR" altLang="en-US" sz="1400" b="1" u="none" strike="noStrike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BCEBDB"/>
                      </a:solidFill>
                    </a:lnL>
                    <a:lnR w="12700">
                      <a:solidFill>
                        <a:srgbClr val="88D7BC"/>
                      </a:solidFill>
                    </a:lnR>
                    <a:lnT w="12700">
                      <a:solidFill>
                        <a:srgbClr val="BCEBDB"/>
                      </a:solidFill>
                    </a:lnT>
                    <a:lnB w="12700">
                      <a:solidFill>
                        <a:srgbClr val="BCEBDB"/>
                      </a:solidFill>
                    </a:lnB>
                    <a:solidFill>
                      <a:srgbClr val="88D7B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데이터모델의 </a:t>
                      </a:r>
                      <a:b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이해</a:t>
                      </a:r>
                      <a:endParaRPr lang="ko-KR" altLang="en-US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8D7BC"/>
                      </a:solidFill>
                    </a:lnL>
                    <a:lnR w="12700">
                      <a:solidFill>
                        <a:srgbClr val="88D7BC"/>
                      </a:solidFill>
                    </a:lnR>
                    <a:lnT w="12700">
                      <a:solidFill>
                        <a:srgbClr val="88D7BC"/>
                      </a:solidFill>
                    </a:lnT>
                    <a:lnB w="12700">
                      <a:solidFill>
                        <a:srgbClr val="88D7B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정규화</a:t>
                      </a:r>
                      <a:endParaRPr lang="ko-KR" altLang="en-US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8D7BC"/>
                      </a:solidFill>
                    </a:lnL>
                    <a:lnR w="12700">
                      <a:solidFill>
                        <a:srgbClr val="89D8BD"/>
                      </a:solidFill>
                    </a:lnR>
                    <a:lnT w="12700">
                      <a:solidFill>
                        <a:srgbClr val="89D8BD"/>
                      </a:solidFill>
                    </a:lnT>
                    <a:lnB w="12700">
                      <a:solidFill>
                        <a:srgbClr val="89D8B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관계형 데이터베이스 개요</a:t>
                      </a:r>
                      <a:endParaRPr lang="ko-KR" altLang="en-US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9D8BD"/>
                      </a:solidFill>
                    </a:lnL>
                    <a:lnR w="12700">
                      <a:solidFill>
                        <a:srgbClr val="89D8BD"/>
                      </a:solidFill>
                    </a:lnR>
                    <a:lnT w="12700">
                      <a:solidFill>
                        <a:srgbClr val="89D8BD"/>
                      </a:solidFill>
                    </a:lnT>
                    <a:lnB w="12700">
                      <a:solidFill>
                        <a:srgbClr val="89D8B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서브 쿼리</a:t>
                      </a:r>
                      <a:endParaRPr lang="ko-KR" altLang="en-US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9D8BD"/>
                      </a:solidFill>
                    </a:lnL>
                    <a:lnR w="12700">
                      <a:solidFill>
                        <a:srgbClr val="89D8BD"/>
                      </a:solidFill>
                    </a:lnR>
                    <a:lnT w="12700">
                      <a:solidFill>
                        <a:srgbClr val="89D8BD"/>
                      </a:solidFill>
                    </a:lnT>
                    <a:lnB w="12700">
                      <a:solidFill>
                        <a:srgbClr val="89D8B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TCL</a:t>
                      </a:r>
                      <a:endParaRPr lang="en-US" altLang="ko-KR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9D8BD"/>
                      </a:solidFill>
                    </a:lnL>
                    <a:lnR w="12700">
                      <a:solidFill>
                        <a:srgbClr val="89D8BD"/>
                      </a:solidFill>
                    </a:lnR>
                    <a:lnT w="12700">
                      <a:solidFill>
                        <a:srgbClr val="89D8BD"/>
                      </a:solidFill>
                    </a:lnT>
                    <a:lnB w="12700">
                      <a:solidFill>
                        <a:srgbClr val="89D8BD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5863733"/>
                  </a:ext>
                </a:extLst>
              </a:tr>
              <a:tr h="44095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400" u="none" strike="noStrike" kern="1200" err="1">
                          <a:solidFill>
                            <a:srgbClr val="000000"/>
                          </a:solidFill>
                          <a:effectLst/>
                        </a:rPr>
                        <a:t>엔터티</a:t>
                      </a:r>
                      <a:endParaRPr lang="ko-KR" altLang="en-US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8D7BC"/>
                      </a:solidFill>
                    </a:lnL>
                    <a:lnR w="12700">
                      <a:solidFill>
                        <a:srgbClr val="88D7BC"/>
                      </a:solidFill>
                    </a:lnR>
                    <a:lnT w="12700">
                      <a:solidFill>
                        <a:srgbClr val="88D7BC"/>
                      </a:solidFill>
                    </a:lnT>
                    <a:lnB w="12700">
                      <a:solidFill>
                        <a:srgbClr val="88D7BC"/>
                      </a:solidFill>
                    </a:lnB>
                    <a:solidFill>
                      <a:srgbClr val="BCEBD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관계와 조인의 </a:t>
                      </a:r>
                      <a:endParaRPr lang="ko-KR" altLang="en-US" sz="1400" u="none" strike="noStrike">
                        <a:effectLst/>
                      </a:endParaRPr>
                    </a:p>
                    <a:p>
                      <a:pPr marL="0" lvl="0" algn="ctr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이해</a:t>
                      </a:r>
                      <a:endParaRPr lang="ko-KR" altLang="en-US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8D7BC"/>
                      </a:solidFill>
                    </a:lnL>
                    <a:lnR w="12700">
                      <a:solidFill>
                        <a:srgbClr val="89D8BD"/>
                      </a:solidFill>
                    </a:lnR>
                    <a:lnT w="12700">
                      <a:solidFill>
                        <a:srgbClr val="89D8BD"/>
                      </a:solidFill>
                    </a:lnT>
                    <a:lnB w="12700">
                      <a:solidFill>
                        <a:srgbClr val="89D8BD"/>
                      </a:solidFill>
                    </a:lnB>
                    <a:solidFill>
                      <a:srgbClr val="BCEBD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SELECT </a:t>
                      </a:r>
                      <a: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문</a:t>
                      </a:r>
                      <a:endParaRPr lang="ko-KR" altLang="en-US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9D8BD"/>
                      </a:solidFill>
                    </a:lnL>
                    <a:lnR w="12700">
                      <a:solidFill>
                        <a:srgbClr val="89D8BD"/>
                      </a:solidFill>
                    </a:lnR>
                    <a:lnT w="12700">
                      <a:solidFill>
                        <a:srgbClr val="89D8BD"/>
                      </a:solidFill>
                    </a:lnT>
                    <a:lnB w="12700">
                      <a:solidFill>
                        <a:srgbClr val="89D8BD"/>
                      </a:solidFill>
                    </a:lnB>
                    <a:solidFill>
                      <a:srgbClr val="BCEBD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집합 연산자</a:t>
                      </a:r>
                      <a:endParaRPr lang="ko-KR" altLang="en-US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9D8BD"/>
                      </a:solidFill>
                    </a:lnL>
                    <a:lnR w="12700">
                      <a:solidFill>
                        <a:srgbClr val="89D8BD"/>
                      </a:solidFill>
                    </a:lnR>
                    <a:lnT w="12700">
                      <a:solidFill>
                        <a:srgbClr val="89D8BD"/>
                      </a:solidFill>
                    </a:lnT>
                    <a:lnB w="12700">
                      <a:solidFill>
                        <a:srgbClr val="89D8BD"/>
                      </a:solidFill>
                    </a:lnB>
                    <a:solidFill>
                      <a:srgbClr val="BCEBD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DDL</a:t>
                      </a:r>
                      <a:endParaRPr lang="en-US" altLang="ko-KR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9D8BD"/>
                      </a:solidFill>
                    </a:lnL>
                    <a:lnR w="12700">
                      <a:solidFill>
                        <a:srgbClr val="89D8BD"/>
                      </a:solidFill>
                    </a:lnR>
                    <a:lnT w="12700">
                      <a:solidFill>
                        <a:srgbClr val="89D8BD"/>
                      </a:solidFill>
                    </a:lnT>
                    <a:lnB w="12700">
                      <a:solidFill>
                        <a:srgbClr val="89D8BD"/>
                      </a:solidFill>
                    </a:lnB>
                    <a:solidFill>
                      <a:srgbClr val="BCEB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4410961"/>
                  </a:ext>
                </a:extLst>
              </a:tr>
              <a:tr h="66903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속성</a:t>
                      </a:r>
                      <a:endParaRPr lang="ko-KR" altLang="en-US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8D7BC"/>
                      </a:solidFill>
                    </a:lnL>
                    <a:lnR w="12700">
                      <a:solidFill>
                        <a:srgbClr val="88D7BC"/>
                      </a:solidFill>
                    </a:lnR>
                    <a:lnT w="12700">
                      <a:solidFill>
                        <a:srgbClr val="88D7BC"/>
                      </a:solidFill>
                    </a:lnT>
                    <a:lnB w="12700">
                      <a:solidFill>
                        <a:srgbClr val="88D7B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모델이 표현하는 </a:t>
                      </a:r>
                      <a:b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트랜잭션의 이해</a:t>
                      </a:r>
                      <a:endParaRPr lang="ko-KR" altLang="en-US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8D7BC"/>
                      </a:solidFill>
                    </a:lnL>
                    <a:lnR w="12700">
                      <a:solidFill>
                        <a:srgbClr val="89D8BD"/>
                      </a:solidFill>
                    </a:lnR>
                    <a:lnT w="12700">
                      <a:solidFill>
                        <a:srgbClr val="89D8BD"/>
                      </a:solidFill>
                    </a:lnT>
                    <a:lnB w="12700">
                      <a:solidFill>
                        <a:srgbClr val="89D8B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함수</a:t>
                      </a:r>
                      <a:endParaRPr lang="ko-KR" altLang="en-US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9D8BD"/>
                      </a:solidFill>
                    </a:lnL>
                    <a:lnR w="12700">
                      <a:solidFill>
                        <a:srgbClr val="89D8BD"/>
                      </a:solidFill>
                    </a:lnR>
                    <a:lnT w="12700">
                      <a:solidFill>
                        <a:srgbClr val="89D8BD"/>
                      </a:solidFill>
                    </a:lnT>
                    <a:lnB w="12700">
                      <a:solidFill>
                        <a:srgbClr val="89D8B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그룹 함수</a:t>
                      </a:r>
                      <a:endParaRPr lang="ko-KR" altLang="en-US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9D8BD"/>
                      </a:solidFill>
                    </a:lnL>
                    <a:lnR w="12700">
                      <a:solidFill>
                        <a:srgbClr val="89D8BD"/>
                      </a:solidFill>
                    </a:lnR>
                    <a:lnT w="12700">
                      <a:solidFill>
                        <a:srgbClr val="89D8BD"/>
                      </a:solidFill>
                    </a:lnT>
                    <a:lnB w="12700">
                      <a:solidFill>
                        <a:srgbClr val="89D8B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CDL</a:t>
                      </a:r>
                      <a:endParaRPr lang="en-US" altLang="ko-KR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9D8BD"/>
                      </a:solidFill>
                    </a:lnL>
                    <a:lnR w="12700">
                      <a:solidFill>
                        <a:srgbClr val="89D8BD"/>
                      </a:solidFill>
                    </a:lnR>
                    <a:lnT w="12700">
                      <a:solidFill>
                        <a:srgbClr val="89D8BD"/>
                      </a:solidFill>
                    </a:lnT>
                    <a:lnB w="12700">
                      <a:solidFill>
                        <a:srgbClr val="89D8BD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2086291"/>
                  </a:ext>
                </a:extLst>
              </a:tr>
              <a:tr h="34972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관계</a:t>
                      </a:r>
                      <a:endParaRPr lang="ko-KR" altLang="en-US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8D7BC"/>
                      </a:solidFill>
                    </a:lnL>
                    <a:lnR w="12700">
                      <a:solidFill>
                        <a:srgbClr val="88D7BC"/>
                      </a:solidFill>
                    </a:lnR>
                    <a:lnT w="12700">
                      <a:solidFill>
                        <a:srgbClr val="88D7BC"/>
                      </a:solidFill>
                    </a:lnT>
                    <a:lnB w="12700">
                      <a:solidFill>
                        <a:srgbClr val="88D7BC"/>
                      </a:solidFill>
                    </a:lnB>
                    <a:solidFill>
                      <a:srgbClr val="BCEBD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Null </a:t>
                      </a:r>
                      <a: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속성의 이해</a:t>
                      </a:r>
                      <a:endParaRPr lang="ko-KR" altLang="en-US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8D7BC"/>
                      </a:solidFill>
                    </a:lnL>
                    <a:lnR w="12700">
                      <a:solidFill>
                        <a:srgbClr val="89D8BD"/>
                      </a:solidFill>
                    </a:lnR>
                    <a:lnT w="12700">
                      <a:solidFill>
                        <a:srgbClr val="89D8BD"/>
                      </a:solidFill>
                    </a:lnT>
                    <a:lnB w="12700">
                      <a:solidFill>
                        <a:srgbClr val="89D8BD"/>
                      </a:solidFill>
                    </a:lnB>
                    <a:solidFill>
                      <a:srgbClr val="BCEBD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WHERE </a:t>
                      </a:r>
                      <a: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절</a:t>
                      </a:r>
                      <a:endParaRPr lang="ko-KR" altLang="en-US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9D8BD"/>
                      </a:solidFill>
                    </a:lnL>
                    <a:lnR w="12700">
                      <a:solidFill>
                        <a:srgbClr val="89D8BD"/>
                      </a:solidFill>
                    </a:lnR>
                    <a:lnT w="12700">
                      <a:solidFill>
                        <a:srgbClr val="89D8BD"/>
                      </a:solidFill>
                    </a:lnT>
                    <a:lnB w="12700">
                      <a:solidFill>
                        <a:srgbClr val="89D8BD"/>
                      </a:solidFill>
                    </a:lnB>
                    <a:solidFill>
                      <a:srgbClr val="BCEBD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윈도우 함수</a:t>
                      </a:r>
                      <a:endParaRPr lang="ko-KR" altLang="en-US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9D8BD"/>
                      </a:solidFill>
                    </a:lnL>
                    <a:lnR w="12700">
                      <a:solidFill>
                        <a:srgbClr val="89D8BD"/>
                      </a:solidFill>
                    </a:lnR>
                    <a:lnT w="12700">
                      <a:solidFill>
                        <a:srgbClr val="89D8BD"/>
                      </a:solidFill>
                    </a:lnT>
                    <a:lnB w="12700">
                      <a:solidFill>
                        <a:srgbClr val="89D8BD"/>
                      </a:solidFill>
                    </a:lnB>
                    <a:solidFill>
                      <a:srgbClr val="BCEBDB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-</a:t>
                      </a:r>
                      <a:endParaRPr lang="en-US" altLang="ko-KR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9D8BD"/>
                      </a:solidFill>
                    </a:lnL>
                    <a:lnR w="12700">
                      <a:solidFill>
                        <a:srgbClr val="89D8BD"/>
                      </a:solidFill>
                    </a:lnR>
                    <a:lnT w="12700">
                      <a:solidFill>
                        <a:srgbClr val="89D8BD"/>
                      </a:solidFill>
                    </a:lnT>
                    <a:lnB w="12700">
                      <a:solidFill>
                        <a:srgbClr val="89D8BD"/>
                      </a:solidFill>
                    </a:lnB>
                    <a:solidFill>
                      <a:srgbClr val="BCEB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6876979"/>
                  </a:ext>
                </a:extLst>
              </a:tr>
              <a:tr h="63862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식별자</a:t>
                      </a:r>
                      <a:endParaRPr lang="ko-KR" altLang="en-US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8D7BC"/>
                      </a:solidFill>
                    </a:lnL>
                    <a:lnR w="12700">
                      <a:solidFill>
                        <a:srgbClr val="88D7BC"/>
                      </a:solidFill>
                    </a:lnR>
                    <a:lnT w="12700">
                      <a:solidFill>
                        <a:srgbClr val="88D7BC"/>
                      </a:solidFill>
                    </a:lnT>
                    <a:lnB w="12700">
                      <a:solidFill>
                        <a:srgbClr val="88D7B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본질식별자 </a:t>
                      </a:r>
                      <a:b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af-ZA" sz="1400" u="none" strike="noStrike" kern="1200" err="1">
                          <a:solidFill>
                            <a:srgbClr val="000000"/>
                          </a:solidFill>
                          <a:effectLst/>
                        </a:rPr>
                        <a:t>vs</a:t>
                      </a:r>
                      <a:br>
                        <a:rPr lang="af-ZA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인조식별자</a:t>
                      </a:r>
                      <a:endParaRPr lang="ko-KR" altLang="en-US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8D7BC"/>
                      </a:solidFill>
                    </a:lnL>
                    <a:lnR w="12700">
                      <a:solidFill>
                        <a:srgbClr val="89D8BD"/>
                      </a:solidFill>
                    </a:lnR>
                    <a:lnT w="12700">
                      <a:solidFill>
                        <a:srgbClr val="89D8BD"/>
                      </a:solidFill>
                    </a:lnT>
                    <a:lnB w="12700">
                      <a:solidFill>
                        <a:srgbClr val="89D8B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GROUP BY, HAVING </a:t>
                      </a:r>
                      <a: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절</a:t>
                      </a:r>
                      <a:endParaRPr lang="ko-KR" altLang="en-US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9D8BD"/>
                      </a:solidFill>
                    </a:lnL>
                    <a:lnR w="12700">
                      <a:solidFill>
                        <a:srgbClr val="89D8BD"/>
                      </a:solidFill>
                    </a:lnR>
                    <a:lnT w="12700">
                      <a:solidFill>
                        <a:srgbClr val="89D8BD"/>
                      </a:solidFill>
                    </a:lnT>
                    <a:lnB w="12700">
                      <a:solidFill>
                        <a:srgbClr val="89D8B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Top N </a:t>
                      </a:r>
                      <a: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처리</a:t>
                      </a:r>
                      <a:endParaRPr lang="ko-KR" altLang="en-US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9D8BD"/>
                      </a:solidFill>
                    </a:lnL>
                    <a:lnR w="12700">
                      <a:solidFill>
                        <a:srgbClr val="89D8BD"/>
                      </a:solidFill>
                    </a:lnR>
                    <a:lnT w="12700">
                      <a:solidFill>
                        <a:srgbClr val="89D8BD"/>
                      </a:solidFill>
                    </a:lnT>
                    <a:lnB w="12700">
                      <a:solidFill>
                        <a:srgbClr val="89D8BD"/>
                      </a:solidFill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 horzOverflow="overflow"/>
                </a:tc>
                <a:extLst>
                  <a:ext uri="{0D108BD9-81ED-4DB2-BD59-A6C34878D82A}">
                    <a16:rowId xmlns:a16="http://schemas.microsoft.com/office/drawing/2014/main" val="4170134591"/>
                  </a:ext>
                </a:extLst>
              </a:tr>
              <a:tr h="44095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 horzOverflow="overflow"/>
                </a:tc>
                <a:tc rowSpan="3"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-</a:t>
                      </a:r>
                      <a:endParaRPr lang="en-US" altLang="ko-KR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8D7BC"/>
                      </a:solidFill>
                    </a:lnL>
                    <a:lnR w="12700">
                      <a:solidFill>
                        <a:srgbClr val="88D7BC"/>
                      </a:solidFill>
                    </a:lnR>
                    <a:lnT w="12700">
                      <a:solidFill>
                        <a:srgbClr val="88D7BC"/>
                      </a:solidFill>
                    </a:lnT>
                    <a:lnB w="12700">
                      <a:solidFill>
                        <a:srgbClr val="88D7BC"/>
                      </a:solidFill>
                    </a:lnB>
                    <a:solidFill>
                      <a:srgbClr val="BCEBDB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-</a:t>
                      </a:r>
                      <a:endParaRPr lang="en-US" altLang="ko-KR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8D7BC"/>
                      </a:solidFill>
                    </a:lnL>
                    <a:lnR w="12700">
                      <a:solidFill>
                        <a:srgbClr val="89D8BD"/>
                      </a:solidFill>
                    </a:lnR>
                    <a:lnT w="12700">
                      <a:solidFill>
                        <a:srgbClr val="89D8BD"/>
                      </a:solidFill>
                    </a:lnT>
                    <a:lnB w="12700">
                      <a:solidFill>
                        <a:srgbClr val="89D8BD"/>
                      </a:solidFill>
                    </a:lnB>
                    <a:solidFill>
                      <a:srgbClr val="BCEBD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ORDER BY </a:t>
                      </a:r>
                      <a: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절</a:t>
                      </a:r>
                      <a:endParaRPr lang="ko-KR" altLang="en-US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9D8BD"/>
                      </a:solidFill>
                    </a:lnL>
                    <a:lnR w="12700">
                      <a:solidFill>
                        <a:srgbClr val="89D8BD"/>
                      </a:solidFill>
                    </a:lnR>
                    <a:lnT w="12700">
                      <a:solidFill>
                        <a:srgbClr val="89D8BD"/>
                      </a:solidFill>
                    </a:lnT>
                    <a:lnB w="12700">
                      <a:solidFill>
                        <a:srgbClr val="89D8BD"/>
                      </a:solidFill>
                    </a:lnB>
                    <a:solidFill>
                      <a:srgbClr val="BCEBD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계층형 질의와 </a:t>
                      </a:r>
                      <a:endParaRPr lang="ko-KR" altLang="en-US" sz="1400" u="none" strike="noStrike">
                        <a:effectLst/>
                      </a:endParaRPr>
                    </a:p>
                    <a:p>
                      <a:pPr marL="0" lvl="0" algn="ctr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셀프 조인</a:t>
                      </a:r>
                      <a:endParaRPr lang="ko-KR" altLang="en-US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9D8BD"/>
                      </a:solidFill>
                    </a:lnL>
                    <a:lnR w="12700">
                      <a:solidFill>
                        <a:srgbClr val="89D8BD"/>
                      </a:solidFill>
                    </a:lnR>
                    <a:lnT w="12700">
                      <a:solidFill>
                        <a:srgbClr val="89D8BD"/>
                      </a:solidFill>
                    </a:lnT>
                    <a:lnB w="12700">
                      <a:solidFill>
                        <a:srgbClr val="89D8BD"/>
                      </a:solidFill>
                    </a:lnB>
                    <a:solidFill>
                      <a:srgbClr val="BCEBDB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 horzOverflow="overflow"/>
                </a:tc>
                <a:extLst>
                  <a:ext uri="{0D108BD9-81ED-4DB2-BD59-A6C34878D82A}">
                    <a16:rowId xmlns:a16="http://schemas.microsoft.com/office/drawing/2014/main" val="1264133320"/>
                  </a:ext>
                </a:extLst>
              </a:tr>
              <a:tr h="34972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 horzOverflow="overflow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 horzOverflow="overflow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조인</a:t>
                      </a:r>
                      <a:endParaRPr lang="ko-KR" altLang="en-US" sz="1400" u="none" strike="noStrike">
                        <a:effectLst/>
                        <a:latin typeface="ONE Mobile Title OTF"/>
                      </a:endParaRPr>
                    </a:p>
                  </a:txBody>
                  <a:tcPr anchor="ctr">
                    <a:lnL w="12700">
                      <a:solidFill>
                        <a:srgbClr val="89D8BD"/>
                      </a:solidFill>
                    </a:lnL>
                    <a:lnR w="12700">
                      <a:solidFill>
                        <a:srgbClr val="89D8BD"/>
                      </a:solidFill>
                    </a:lnR>
                    <a:lnT w="12700">
                      <a:solidFill>
                        <a:srgbClr val="89D8BD"/>
                      </a:solidFill>
                    </a:lnT>
                    <a:lnB w="12700">
                      <a:solidFill>
                        <a:srgbClr val="89D8B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PIVOT </a:t>
                      </a:r>
                      <a: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절과 </a:t>
                      </a:r>
                      <a:r>
                        <a:rPr 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UNPIVOT</a:t>
                      </a:r>
                      <a: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절</a:t>
                      </a:r>
                      <a:endParaRPr lang="ko-KR" altLang="en-US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9D8BD"/>
                      </a:solidFill>
                    </a:lnL>
                    <a:lnR w="12700">
                      <a:solidFill>
                        <a:srgbClr val="89D8BD"/>
                      </a:solidFill>
                    </a:lnR>
                    <a:lnT w="12700">
                      <a:solidFill>
                        <a:srgbClr val="89D8BD"/>
                      </a:solidFill>
                    </a:lnT>
                    <a:lnB w="12700">
                      <a:solidFill>
                        <a:srgbClr val="89D8BD"/>
                      </a:solidFill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 horzOverflow="overflow"/>
                </a:tc>
                <a:extLst>
                  <a:ext uri="{0D108BD9-81ED-4DB2-BD59-A6C34878D82A}">
                    <a16:rowId xmlns:a16="http://schemas.microsoft.com/office/drawing/2014/main" val="1369870539"/>
                  </a:ext>
                </a:extLst>
              </a:tr>
              <a:tr h="25849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 horzOverflow="overflow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 horzOverflow="overflow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표준 조인</a:t>
                      </a:r>
                      <a:endParaRPr lang="ko-KR" altLang="en-US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9D8BD"/>
                      </a:solidFill>
                    </a:lnL>
                    <a:lnR w="12700">
                      <a:solidFill>
                        <a:srgbClr val="89D8BD"/>
                      </a:solidFill>
                    </a:lnR>
                    <a:lnT w="12700">
                      <a:solidFill>
                        <a:srgbClr val="89D8BD"/>
                      </a:solidFill>
                    </a:lnT>
                    <a:lnB w="12700">
                      <a:solidFill>
                        <a:srgbClr val="89D8BD"/>
                      </a:solidFill>
                    </a:lnB>
                    <a:solidFill>
                      <a:srgbClr val="BCEBD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40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정규 표현식</a:t>
                      </a:r>
                      <a:endParaRPr lang="ko-KR" altLang="en-US" sz="1400" u="none" strike="noStrike">
                        <a:effectLst/>
                      </a:endParaRPr>
                    </a:p>
                  </a:txBody>
                  <a:tcPr anchor="ctr">
                    <a:lnL w="12700">
                      <a:solidFill>
                        <a:srgbClr val="89D8BD"/>
                      </a:solidFill>
                    </a:lnL>
                    <a:lnR w="12700">
                      <a:solidFill>
                        <a:srgbClr val="89D8BD"/>
                      </a:solidFill>
                    </a:lnR>
                    <a:lnT w="12700">
                      <a:solidFill>
                        <a:srgbClr val="89D8BD"/>
                      </a:solidFill>
                    </a:lnT>
                    <a:lnB w="12700">
                      <a:solidFill>
                        <a:srgbClr val="89D8BD"/>
                      </a:solidFill>
                    </a:lnB>
                    <a:solidFill>
                      <a:srgbClr val="BCEBDB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 horzOverflow="overflow"/>
                </a:tc>
                <a:extLst>
                  <a:ext uri="{0D108BD9-81ED-4DB2-BD59-A6C34878D82A}">
                    <a16:rowId xmlns:a16="http://schemas.microsoft.com/office/drawing/2014/main" val="805578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88814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7333" y="381000"/>
            <a:ext cx="2573867" cy="508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7600" y="381000"/>
            <a:ext cx="2573867" cy="508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7867" y="381000"/>
            <a:ext cx="2573867" cy="5080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20133"/>
            <a:ext cx="3251200" cy="643467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753533"/>
            <a:ext cx="12192000" cy="6104467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1733" y="1075267"/>
            <a:ext cx="11557000" cy="5469467"/>
          </a:xfrm>
          <a:prstGeom prst="rect">
            <a:avLst/>
          </a:prstGeom>
          <a:effectLst>
            <a:outerShdw blurRad="669826" dist="252339" dir="2700000">
              <a:srgbClr val="000000">
                <a:alpha val="10000"/>
              </a:srgbClr>
            </a:outerShdw>
          </a:effectLst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72600" y="2700867"/>
            <a:ext cx="1998133" cy="32512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68933" y="2954867"/>
            <a:ext cx="1397000" cy="1397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30534" y="2700867"/>
            <a:ext cx="1998133" cy="32512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35333" y="2954867"/>
            <a:ext cx="1397000" cy="13970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96934" y="2700867"/>
            <a:ext cx="1998133" cy="32512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01733" y="2954867"/>
            <a:ext cx="1397000" cy="13970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63334" y="2700867"/>
            <a:ext cx="1998133" cy="32512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59667" y="2954867"/>
            <a:ext cx="1397000" cy="13970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1267" y="2700867"/>
            <a:ext cx="1998133" cy="32512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26067" y="2954867"/>
            <a:ext cx="1397000" cy="1397000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9609667" y="4986867"/>
            <a:ext cx="1549400" cy="711200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124499"/>
              </a:lnSpc>
            </a:pPr>
            <a:r>
              <a:rPr lang="ko-KR" sz="1267" b="0" i="0" u="none" strike="noStrike">
                <a:solidFill>
                  <a:srgbClr val="000000"/>
                </a:solidFill>
                <a:ea typeface="Pretendard Regular"/>
              </a:rPr>
              <a:t>이곳에</a:t>
            </a:r>
            <a:r>
              <a:rPr lang="en-US" sz="1267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267" b="0" i="0" u="none" strike="noStrike">
                <a:solidFill>
                  <a:srgbClr val="000000"/>
                </a:solidFill>
                <a:ea typeface="Pretendard Regular"/>
              </a:rPr>
              <a:t>각</a:t>
            </a:r>
            <a:r>
              <a:rPr lang="en-US" sz="1267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267" b="0" i="0" u="none" strike="noStrike">
                <a:solidFill>
                  <a:srgbClr val="000000"/>
                </a:solidFill>
                <a:ea typeface="Pretendard Regular"/>
              </a:rPr>
              <a:t>팀원의</a:t>
            </a:r>
            <a:r>
              <a:rPr lang="en-US" sz="1267" b="0" i="0" u="none" strike="noStrike">
                <a:solidFill>
                  <a:srgbClr val="000000"/>
                </a:solidFill>
                <a:latin typeface="Pretendard Regular"/>
              </a:rPr>
              <a:t> </a:t>
            </a:r>
            <a:r>
              <a:rPr lang="ko-KR" sz="1267" b="0" i="0" u="none" strike="noStrike">
                <a:solidFill>
                  <a:srgbClr val="000000"/>
                </a:solidFill>
                <a:ea typeface="Pretendard Regular"/>
              </a:rPr>
              <a:t>직책과</a:t>
            </a:r>
            <a:r>
              <a:rPr lang="en-US" sz="1267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267" b="0" i="0" u="none" strike="noStrike">
                <a:solidFill>
                  <a:srgbClr val="000000"/>
                </a:solidFill>
                <a:ea typeface="Pretendard Regular"/>
              </a:rPr>
              <a:t>프로젝트</a:t>
            </a:r>
            <a:r>
              <a:rPr lang="en-US" sz="1267" b="0" i="0" u="none" strike="noStrike">
                <a:solidFill>
                  <a:srgbClr val="000000"/>
                </a:solidFill>
                <a:latin typeface="Pretendard Regular"/>
              </a:rPr>
              <a:t> </a:t>
            </a:r>
            <a:r>
              <a:rPr lang="ko-KR" sz="1267" b="0" i="0" u="none" strike="noStrike">
                <a:solidFill>
                  <a:srgbClr val="000000"/>
                </a:solidFill>
                <a:ea typeface="Pretendard Regular"/>
              </a:rPr>
              <a:t>내에서의</a:t>
            </a:r>
            <a:r>
              <a:rPr lang="en-US" sz="1267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267" b="0" i="0" u="none" strike="noStrike">
                <a:solidFill>
                  <a:srgbClr val="000000"/>
                </a:solidFill>
                <a:ea typeface="Pretendard Regular"/>
              </a:rPr>
              <a:t>역할을</a:t>
            </a:r>
            <a:r>
              <a:rPr lang="en-US" sz="1267" b="0" i="0" u="none" strike="noStrike">
                <a:solidFill>
                  <a:srgbClr val="000000"/>
                </a:solidFill>
                <a:latin typeface="Pretendard Regular"/>
              </a:rPr>
              <a:t> </a:t>
            </a:r>
            <a:r>
              <a:rPr lang="ko-KR" sz="1267" b="0" i="0" u="none" strike="noStrike">
                <a:solidFill>
                  <a:srgbClr val="000000"/>
                </a:solidFill>
                <a:ea typeface="Pretendard Regular"/>
              </a:rPr>
              <a:t>간단히</a:t>
            </a:r>
            <a:r>
              <a:rPr lang="en-US" sz="1267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267" b="0" i="0" u="none" strike="noStrike">
                <a:solidFill>
                  <a:srgbClr val="000000"/>
                </a:solidFill>
                <a:ea typeface="Pretendard Regular"/>
              </a:rPr>
              <a:t>설명해주세요</a:t>
            </a:r>
            <a:r>
              <a:rPr lang="en-US" sz="1267" b="0" i="0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838267" y="4495800"/>
            <a:ext cx="1049867" cy="381000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97540"/>
              </a:lnSpc>
            </a:pPr>
            <a:r>
              <a:rPr lang="ko-KR" sz="2133" b="0" i="0" u="none" strike="noStrike" spc="67">
                <a:solidFill>
                  <a:srgbClr val="000000"/>
                </a:solidFill>
                <a:ea typeface="ONE Mobile Title OTF"/>
              </a:rPr>
              <a:t>강미리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476067" y="4986867"/>
            <a:ext cx="1549400" cy="711200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124499"/>
              </a:lnSpc>
            </a:pPr>
            <a:r>
              <a:rPr lang="ko-KR" sz="1267" b="0" i="0" u="none" strike="noStrike">
                <a:solidFill>
                  <a:srgbClr val="000000"/>
                </a:solidFill>
                <a:ea typeface="Pretendard Regular"/>
              </a:rPr>
              <a:t>이곳에</a:t>
            </a:r>
            <a:r>
              <a:rPr lang="en-US" sz="1267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267" b="0" i="0" u="none" strike="noStrike">
                <a:solidFill>
                  <a:srgbClr val="000000"/>
                </a:solidFill>
                <a:ea typeface="Pretendard Regular"/>
              </a:rPr>
              <a:t>각</a:t>
            </a:r>
            <a:r>
              <a:rPr lang="en-US" sz="1267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267" b="0" i="0" u="none" strike="noStrike">
                <a:solidFill>
                  <a:srgbClr val="000000"/>
                </a:solidFill>
                <a:ea typeface="Pretendard Regular"/>
              </a:rPr>
              <a:t>팀원의</a:t>
            </a:r>
            <a:r>
              <a:rPr lang="en-US" sz="1267" b="0" i="0" u="none" strike="noStrike">
                <a:solidFill>
                  <a:srgbClr val="000000"/>
                </a:solidFill>
                <a:latin typeface="Pretendard Regular"/>
              </a:rPr>
              <a:t> </a:t>
            </a:r>
            <a:r>
              <a:rPr lang="ko-KR" sz="1267" b="0" i="0" u="none" strike="noStrike">
                <a:solidFill>
                  <a:srgbClr val="000000"/>
                </a:solidFill>
                <a:ea typeface="Pretendard Regular"/>
              </a:rPr>
              <a:t>직책과</a:t>
            </a:r>
            <a:r>
              <a:rPr lang="en-US" sz="1267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267" b="0" i="0" u="none" strike="noStrike">
                <a:solidFill>
                  <a:srgbClr val="000000"/>
                </a:solidFill>
                <a:ea typeface="Pretendard Regular"/>
              </a:rPr>
              <a:t>프로젝트</a:t>
            </a:r>
            <a:r>
              <a:rPr lang="en-US" sz="1267" b="0" i="0" u="none" strike="noStrike">
                <a:solidFill>
                  <a:srgbClr val="000000"/>
                </a:solidFill>
                <a:latin typeface="Pretendard Regular"/>
              </a:rPr>
              <a:t> </a:t>
            </a:r>
            <a:r>
              <a:rPr lang="ko-KR" sz="1267" b="0" i="0" u="none" strike="noStrike">
                <a:solidFill>
                  <a:srgbClr val="000000"/>
                </a:solidFill>
                <a:ea typeface="Pretendard Regular"/>
              </a:rPr>
              <a:t>내에서의</a:t>
            </a:r>
            <a:r>
              <a:rPr lang="en-US" sz="1267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267" b="0" i="0" u="none" strike="noStrike">
                <a:solidFill>
                  <a:srgbClr val="000000"/>
                </a:solidFill>
                <a:ea typeface="Pretendard Regular"/>
              </a:rPr>
              <a:t>역할을</a:t>
            </a:r>
            <a:r>
              <a:rPr lang="en-US" sz="1267" b="0" i="0" u="none" strike="noStrike">
                <a:solidFill>
                  <a:srgbClr val="000000"/>
                </a:solidFill>
                <a:latin typeface="Pretendard Regular"/>
              </a:rPr>
              <a:t> </a:t>
            </a:r>
            <a:r>
              <a:rPr lang="ko-KR" sz="1267" b="0" i="0" u="none" strike="noStrike">
                <a:solidFill>
                  <a:srgbClr val="000000"/>
                </a:solidFill>
                <a:ea typeface="Pretendard Regular"/>
              </a:rPr>
              <a:t>간단히</a:t>
            </a:r>
            <a:r>
              <a:rPr lang="en-US" sz="1267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267" b="0" i="0" u="none" strike="noStrike">
                <a:solidFill>
                  <a:srgbClr val="000000"/>
                </a:solidFill>
                <a:ea typeface="Pretendard Regular"/>
              </a:rPr>
              <a:t>설명해주세요</a:t>
            </a:r>
            <a:r>
              <a:rPr lang="en-US" sz="1267" b="0" i="0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696200" y="4495800"/>
            <a:ext cx="1049867" cy="381000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97540"/>
              </a:lnSpc>
            </a:pPr>
            <a:r>
              <a:rPr lang="ko-KR" sz="2133" b="0" i="0" u="none" strike="noStrike" spc="67">
                <a:solidFill>
                  <a:srgbClr val="000000"/>
                </a:solidFill>
                <a:ea typeface="ONE Mobile Title OTF"/>
              </a:rPr>
              <a:t>이미리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334000" y="4986867"/>
            <a:ext cx="1549400" cy="711200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124499"/>
              </a:lnSpc>
            </a:pPr>
            <a:r>
              <a:rPr lang="ko-KR" sz="1267" b="0" i="0" u="none" strike="noStrike">
                <a:solidFill>
                  <a:srgbClr val="000000"/>
                </a:solidFill>
                <a:ea typeface="Pretendard Regular"/>
              </a:rPr>
              <a:t>이곳에</a:t>
            </a:r>
            <a:r>
              <a:rPr lang="en-US" sz="1267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267" b="0" i="0" u="none" strike="noStrike">
                <a:solidFill>
                  <a:srgbClr val="000000"/>
                </a:solidFill>
                <a:ea typeface="Pretendard Regular"/>
              </a:rPr>
              <a:t>각</a:t>
            </a:r>
            <a:r>
              <a:rPr lang="en-US" sz="1267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267" b="0" i="0" u="none" strike="noStrike">
                <a:solidFill>
                  <a:srgbClr val="000000"/>
                </a:solidFill>
                <a:ea typeface="Pretendard Regular"/>
              </a:rPr>
              <a:t>팀원의</a:t>
            </a:r>
            <a:r>
              <a:rPr lang="en-US" sz="1267" b="0" i="0" u="none" strike="noStrike">
                <a:solidFill>
                  <a:srgbClr val="000000"/>
                </a:solidFill>
                <a:latin typeface="Pretendard Regular"/>
              </a:rPr>
              <a:t> </a:t>
            </a:r>
            <a:r>
              <a:rPr lang="ko-KR" sz="1267" b="0" i="0" u="none" strike="noStrike">
                <a:solidFill>
                  <a:srgbClr val="000000"/>
                </a:solidFill>
                <a:ea typeface="Pretendard Regular"/>
              </a:rPr>
              <a:t>직책과</a:t>
            </a:r>
            <a:r>
              <a:rPr lang="en-US" sz="1267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267" b="0" i="0" u="none" strike="noStrike">
                <a:solidFill>
                  <a:srgbClr val="000000"/>
                </a:solidFill>
                <a:ea typeface="Pretendard Regular"/>
              </a:rPr>
              <a:t>프로젝트</a:t>
            </a:r>
            <a:r>
              <a:rPr lang="en-US" sz="1267" b="0" i="0" u="none" strike="noStrike">
                <a:solidFill>
                  <a:srgbClr val="000000"/>
                </a:solidFill>
                <a:latin typeface="Pretendard Regular"/>
              </a:rPr>
              <a:t> </a:t>
            </a:r>
            <a:r>
              <a:rPr lang="ko-KR" sz="1267" b="0" i="0" u="none" strike="noStrike">
                <a:solidFill>
                  <a:srgbClr val="000000"/>
                </a:solidFill>
                <a:ea typeface="Pretendard Regular"/>
              </a:rPr>
              <a:t>내에서의</a:t>
            </a:r>
            <a:r>
              <a:rPr lang="en-US" sz="1267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267" b="0" i="0" u="none" strike="noStrike">
                <a:solidFill>
                  <a:srgbClr val="000000"/>
                </a:solidFill>
                <a:ea typeface="Pretendard Regular"/>
              </a:rPr>
              <a:t>역할을</a:t>
            </a:r>
            <a:r>
              <a:rPr lang="en-US" sz="1267" b="0" i="0" u="none" strike="noStrike">
                <a:solidFill>
                  <a:srgbClr val="000000"/>
                </a:solidFill>
                <a:latin typeface="Pretendard Regular"/>
              </a:rPr>
              <a:t> </a:t>
            </a:r>
            <a:r>
              <a:rPr lang="ko-KR" sz="1267" b="0" i="0" u="none" strike="noStrike">
                <a:solidFill>
                  <a:srgbClr val="000000"/>
                </a:solidFill>
                <a:ea typeface="Pretendard Regular"/>
              </a:rPr>
              <a:t>간단히</a:t>
            </a:r>
            <a:r>
              <a:rPr lang="en-US" sz="1267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267" b="0" i="0" u="none" strike="noStrike">
                <a:solidFill>
                  <a:srgbClr val="000000"/>
                </a:solidFill>
                <a:ea typeface="Pretendard Regular"/>
              </a:rPr>
              <a:t>설명해주세요</a:t>
            </a:r>
            <a:r>
              <a:rPr lang="en-US" sz="1267" b="0" i="0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562600" y="4495800"/>
            <a:ext cx="1049867" cy="381000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97540"/>
              </a:lnSpc>
            </a:pPr>
            <a:r>
              <a:rPr lang="ko-KR" sz="2133" b="0" i="0" u="none" strike="noStrike" spc="67">
                <a:solidFill>
                  <a:srgbClr val="000000"/>
                </a:solidFill>
                <a:ea typeface="ONE Mobile Title OTF"/>
              </a:rPr>
              <a:t>황미리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200400" y="4986867"/>
            <a:ext cx="1549400" cy="711200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124499"/>
              </a:lnSpc>
            </a:pPr>
            <a:r>
              <a:rPr lang="ko-KR" sz="1267" b="0" i="0" u="none" strike="noStrike">
                <a:solidFill>
                  <a:srgbClr val="000000"/>
                </a:solidFill>
                <a:ea typeface="Pretendard Regular"/>
              </a:rPr>
              <a:t>이곳에</a:t>
            </a:r>
            <a:r>
              <a:rPr lang="en-US" sz="1267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267" b="0" i="0" u="none" strike="noStrike">
                <a:solidFill>
                  <a:srgbClr val="000000"/>
                </a:solidFill>
                <a:ea typeface="Pretendard Regular"/>
              </a:rPr>
              <a:t>각</a:t>
            </a:r>
            <a:r>
              <a:rPr lang="en-US" sz="1267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267" b="0" i="0" u="none" strike="noStrike">
                <a:solidFill>
                  <a:srgbClr val="000000"/>
                </a:solidFill>
                <a:ea typeface="Pretendard Regular"/>
              </a:rPr>
              <a:t>팀원의</a:t>
            </a:r>
            <a:r>
              <a:rPr lang="en-US" sz="1267" b="0" i="0" u="none" strike="noStrike">
                <a:solidFill>
                  <a:srgbClr val="000000"/>
                </a:solidFill>
                <a:latin typeface="Pretendard Regular"/>
              </a:rPr>
              <a:t> </a:t>
            </a:r>
            <a:r>
              <a:rPr lang="ko-KR" sz="1267" b="0" i="0" u="none" strike="noStrike">
                <a:solidFill>
                  <a:srgbClr val="000000"/>
                </a:solidFill>
                <a:ea typeface="Pretendard Regular"/>
              </a:rPr>
              <a:t>직책과</a:t>
            </a:r>
            <a:r>
              <a:rPr lang="en-US" sz="1267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267" b="0" i="0" u="none" strike="noStrike">
                <a:solidFill>
                  <a:srgbClr val="000000"/>
                </a:solidFill>
                <a:ea typeface="Pretendard Regular"/>
              </a:rPr>
              <a:t>프로젝트</a:t>
            </a:r>
            <a:r>
              <a:rPr lang="en-US" sz="1267" b="0" i="0" u="none" strike="noStrike">
                <a:solidFill>
                  <a:srgbClr val="000000"/>
                </a:solidFill>
                <a:latin typeface="Pretendard Regular"/>
              </a:rPr>
              <a:t> </a:t>
            </a:r>
            <a:r>
              <a:rPr lang="ko-KR" sz="1267" b="0" i="0" u="none" strike="noStrike">
                <a:solidFill>
                  <a:srgbClr val="000000"/>
                </a:solidFill>
                <a:ea typeface="Pretendard Regular"/>
              </a:rPr>
              <a:t>내에서의</a:t>
            </a:r>
            <a:r>
              <a:rPr lang="en-US" sz="1267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267" b="0" i="0" u="none" strike="noStrike">
                <a:solidFill>
                  <a:srgbClr val="000000"/>
                </a:solidFill>
                <a:ea typeface="Pretendard Regular"/>
              </a:rPr>
              <a:t>역할을</a:t>
            </a:r>
            <a:r>
              <a:rPr lang="en-US" sz="1267" b="0" i="0" u="none" strike="noStrike">
                <a:solidFill>
                  <a:srgbClr val="000000"/>
                </a:solidFill>
                <a:latin typeface="Pretendard Regular"/>
              </a:rPr>
              <a:t> </a:t>
            </a:r>
            <a:r>
              <a:rPr lang="ko-KR" sz="1267" b="0" i="0" u="none" strike="noStrike">
                <a:solidFill>
                  <a:srgbClr val="000000"/>
                </a:solidFill>
                <a:ea typeface="Pretendard Regular"/>
              </a:rPr>
              <a:t>간단히</a:t>
            </a:r>
            <a:r>
              <a:rPr lang="en-US" sz="1267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267" b="0" i="0" u="none" strike="noStrike">
                <a:solidFill>
                  <a:srgbClr val="000000"/>
                </a:solidFill>
                <a:ea typeface="Pretendard Regular"/>
              </a:rPr>
              <a:t>설명해주세요</a:t>
            </a:r>
            <a:r>
              <a:rPr lang="en-US" sz="1267" b="0" i="0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429000" y="4495800"/>
            <a:ext cx="1049867" cy="381000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97540"/>
              </a:lnSpc>
            </a:pPr>
            <a:r>
              <a:rPr lang="ko-KR" sz="2133" b="0" i="0" u="none" strike="noStrike" spc="67">
                <a:solidFill>
                  <a:srgbClr val="000000"/>
                </a:solidFill>
                <a:ea typeface="ONE Mobile Title OTF"/>
              </a:rPr>
              <a:t>박미리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66800" y="4986867"/>
            <a:ext cx="1549400" cy="711200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124499"/>
              </a:lnSpc>
            </a:pPr>
            <a:r>
              <a:rPr lang="ko-KR" sz="1267" b="0" i="0" u="none" strike="noStrike">
                <a:solidFill>
                  <a:srgbClr val="000000"/>
                </a:solidFill>
                <a:ea typeface="Pretendard Regular"/>
              </a:rPr>
              <a:t>이곳에</a:t>
            </a:r>
            <a:r>
              <a:rPr lang="en-US" sz="1267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267" b="0" i="0" u="none" strike="noStrike">
                <a:solidFill>
                  <a:srgbClr val="000000"/>
                </a:solidFill>
                <a:ea typeface="Pretendard Regular"/>
              </a:rPr>
              <a:t>각</a:t>
            </a:r>
            <a:r>
              <a:rPr lang="en-US" sz="1267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267" b="0" i="0" u="none" strike="noStrike">
                <a:solidFill>
                  <a:srgbClr val="000000"/>
                </a:solidFill>
                <a:ea typeface="Pretendard Regular"/>
              </a:rPr>
              <a:t>팀원의</a:t>
            </a:r>
            <a:r>
              <a:rPr lang="en-US" sz="1267" b="0" i="0" u="none" strike="noStrike">
                <a:solidFill>
                  <a:srgbClr val="000000"/>
                </a:solidFill>
                <a:latin typeface="Pretendard Regular"/>
              </a:rPr>
              <a:t> </a:t>
            </a:r>
            <a:r>
              <a:rPr lang="ko-KR" sz="1267" b="0" i="0" u="none" strike="noStrike">
                <a:solidFill>
                  <a:srgbClr val="000000"/>
                </a:solidFill>
                <a:ea typeface="Pretendard Regular"/>
              </a:rPr>
              <a:t>직책과</a:t>
            </a:r>
            <a:r>
              <a:rPr lang="en-US" sz="1267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267" b="0" i="0" u="none" strike="noStrike">
                <a:solidFill>
                  <a:srgbClr val="000000"/>
                </a:solidFill>
                <a:ea typeface="Pretendard Regular"/>
              </a:rPr>
              <a:t>프로젝트</a:t>
            </a:r>
            <a:r>
              <a:rPr lang="en-US" sz="1267" b="0" i="0" u="none" strike="noStrike">
                <a:solidFill>
                  <a:srgbClr val="000000"/>
                </a:solidFill>
                <a:latin typeface="Pretendard Regular"/>
              </a:rPr>
              <a:t> </a:t>
            </a:r>
            <a:r>
              <a:rPr lang="ko-KR" sz="1267" b="0" i="0" u="none" strike="noStrike">
                <a:solidFill>
                  <a:srgbClr val="000000"/>
                </a:solidFill>
                <a:ea typeface="Pretendard Regular"/>
              </a:rPr>
              <a:t>내에서의</a:t>
            </a:r>
            <a:r>
              <a:rPr lang="en-US" sz="1267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267" b="0" i="0" u="none" strike="noStrike">
                <a:solidFill>
                  <a:srgbClr val="000000"/>
                </a:solidFill>
                <a:ea typeface="Pretendard Regular"/>
              </a:rPr>
              <a:t>역할을</a:t>
            </a:r>
            <a:r>
              <a:rPr lang="en-US" sz="1267" b="0" i="0" u="none" strike="noStrike">
                <a:solidFill>
                  <a:srgbClr val="000000"/>
                </a:solidFill>
                <a:latin typeface="Pretendard Regular"/>
              </a:rPr>
              <a:t> </a:t>
            </a:r>
            <a:r>
              <a:rPr lang="ko-KR" sz="1267" b="0" i="0" u="none" strike="noStrike">
                <a:solidFill>
                  <a:srgbClr val="000000"/>
                </a:solidFill>
                <a:ea typeface="Pretendard Regular"/>
              </a:rPr>
              <a:t>간단히</a:t>
            </a:r>
            <a:r>
              <a:rPr lang="en-US" sz="1267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267" b="0" i="0" u="none" strike="noStrike">
                <a:solidFill>
                  <a:srgbClr val="000000"/>
                </a:solidFill>
                <a:ea typeface="Pretendard Regular"/>
              </a:rPr>
              <a:t>설명해주세요</a:t>
            </a:r>
            <a:r>
              <a:rPr lang="en-US" sz="1267" b="0" i="0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95400" y="4495800"/>
            <a:ext cx="1049867" cy="381000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97540"/>
              </a:lnSpc>
            </a:pPr>
            <a:r>
              <a:rPr lang="ko-KR" sz="2133" b="0" i="0" u="none" strike="noStrike" spc="67">
                <a:solidFill>
                  <a:srgbClr val="000000"/>
                </a:solidFill>
                <a:ea typeface="ONE Mobile Title OTF"/>
              </a:rPr>
              <a:t>김미리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989667" y="1430867"/>
            <a:ext cx="8212667" cy="855133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16199"/>
              </a:lnSpc>
            </a:pPr>
            <a:r>
              <a:rPr lang="ko-KR" sz="4800" b="0" i="0" u="none" strike="noStrike">
                <a:solidFill>
                  <a:srgbClr val="F6BA5B"/>
                </a:solidFill>
                <a:ea typeface="ONE Mobile Title OTF"/>
              </a:rPr>
              <a:t>팀</a:t>
            </a:r>
            <a:r>
              <a:rPr lang="en-US" sz="4800" b="0" i="0" u="none" strike="noStrike">
                <a:solidFill>
                  <a:srgbClr val="F6BA5B"/>
                </a:solidFill>
                <a:latin typeface="ONE Mobile Title OTF"/>
              </a:rPr>
              <a:t> </a:t>
            </a:r>
            <a:r>
              <a:rPr lang="ko-KR" sz="4800" b="0" i="0" u="none" strike="noStrike">
                <a:solidFill>
                  <a:srgbClr val="F6BA5B"/>
                </a:solidFill>
                <a:ea typeface="ONE Mobile Title OTF"/>
              </a:rPr>
              <a:t>구성</a:t>
            </a:r>
            <a:r>
              <a:rPr lang="en-US" sz="4800" b="0" i="0" u="none" strike="noStrike">
                <a:solidFill>
                  <a:srgbClr val="F6BA5B"/>
                </a:solidFill>
                <a:latin typeface="ONE Mobile Title OTF"/>
              </a:rPr>
              <a:t> </a:t>
            </a:r>
            <a:r>
              <a:rPr lang="ko-KR" sz="4800" b="0" i="0" u="none" strike="noStrike">
                <a:solidFill>
                  <a:srgbClr val="F6BA5B"/>
                </a:solidFill>
                <a:ea typeface="ONE Mobile Title OTF"/>
              </a:rPr>
              <a:t>및</a:t>
            </a:r>
            <a:r>
              <a:rPr lang="en-US" sz="4800" b="0" i="0" u="none" strike="noStrike">
                <a:solidFill>
                  <a:srgbClr val="F6BA5B"/>
                </a:solidFill>
                <a:latin typeface="ONE Mobile Title OTF"/>
              </a:rPr>
              <a:t> </a:t>
            </a:r>
            <a:r>
              <a:rPr lang="ko-KR" sz="4800" b="0" i="0" u="none" strike="noStrike">
                <a:solidFill>
                  <a:srgbClr val="F6BA5B"/>
                </a:solidFill>
                <a:ea typeface="ONE Mobile Title OTF"/>
              </a:rPr>
              <a:t>역할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91067" y="423333"/>
            <a:ext cx="1998133" cy="279400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04580"/>
              </a:lnSpc>
            </a:pPr>
            <a:r>
              <a:rPr lang="en-US" sz="1600" b="0" i="0" u="none" strike="noStrike" spc="400">
                <a:solidFill>
                  <a:srgbClr val="FFFFFF"/>
                </a:solidFill>
                <a:latin typeface="Pretendard Bold"/>
              </a:rPr>
              <a:t>TEAM MEMBER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191000" y="6079067"/>
            <a:ext cx="3801533" cy="169333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28650"/>
              </a:lnSpc>
            </a:pPr>
            <a:r>
              <a:rPr lang="en-US" sz="933" b="0" i="0" u="none" strike="noStrike">
                <a:solidFill>
                  <a:srgbClr val="C2C2C2"/>
                </a:solidFill>
                <a:latin typeface="Pretendard Light"/>
              </a:rPr>
              <a:t>* </a:t>
            </a:r>
            <a:r>
              <a:rPr lang="ko-KR" sz="933" b="0" i="0" u="none" strike="noStrike">
                <a:solidFill>
                  <a:srgbClr val="C2C2C2"/>
                </a:solidFill>
                <a:ea typeface="Pretendard Light"/>
              </a:rPr>
              <a:t>페이지</a:t>
            </a:r>
            <a:r>
              <a:rPr lang="en-US" sz="933" b="0" i="0" u="none" strike="noStrike">
                <a:solidFill>
                  <a:srgbClr val="C2C2C2"/>
                </a:solidFill>
                <a:latin typeface="Pretendard Light"/>
              </a:rPr>
              <a:t> </a:t>
            </a:r>
            <a:r>
              <a:rPr lang="ko-KR" sz="933" b="0" i="0" u="none" strike="noStrike">
                <a:solidFill>
                  <a:srgbClr val="C2C2C2"/>
                </a:solidFill>
                <a:ea typeface="Pretendard Light"/>
              </a:rPr>
              <a:t>내</a:t>
            </a:r>
            <a:r>
              <a:rPr lang="en-US" sz="933" b="0" i="0" u="none" strike="noStrike">
                <a:solidFill>
                  <a:srgbClr val="C2C2C2"/>
                </a:solidFill>
                <a:latin typeface="Pretendard Light"/>
              </a:rPr>
              <a:t> </a:t>
            </a:r>
            <a:r>
              <a:rPr lang="ko-KR" sz="933" b="0" i="0" u="none" strike="noStrike">
                <a:solidFill>
                  <a:srgbClr val="C2C2C2"/>
                </a:solidFill>
                <a:ea typeface="Pretendard Light"/>
              </a:rPr>
              <a:t>인물</a:t>
            </a:r>
            <a:r>
              <a:rPr lang="en-US" sz="933" b="0" i="0" u="none" strike="noStrike">
                <a:solidFill>
                  <a:srgbClr val="C2C2C2"/>
                </a:solidFill>
                <a:latin typeface="Pretendard Light"/>
              </a:rPr>
              <a:t> </a:t>
            </a:r>
            <a:r>
              <a:rPr lang="ko-KR" sz="933" b="0" i="0" u="none" strike="noStrike">
                <a:solidFill>
                  <a:srgbClr val="C2C2C2"/>
                </a:solidFill>
                <a:ea typeface="Pretendard Light"/>
              </a:rPr>
              <a:t>사진은</a:t>
            </a:r>
            <a:r>
              <a:rPr lang="en-US" sz="933" b="0" i="0" u="none" strike="noStrike">
                <a:solidFill>
                  <a:srgbClr val="C2C2C2"/>
                </a:solidFill>
                <a:latin typeface="Pretendard Light"/>
              </a:rPr>
              <a:t> </a:t>
            </a:r>
            <a:r>
              <a:rPr lang="ko-KR" sz="933" b="0" i="0" u="none" strike="noStrike">
                <a:solidFill>
                  <a:srgbClr val="C2C2C2"/>
                </a:solidFill>
                <a:ea typeface="Pretendard Light"/>
              </a:rPr>
              <a:t>샘플이미지</a:t>
            </a:r>
            <a:r>
              <a:rPr lang="en-US" sz="933" b="0" i="0" u="none" strike="noStrike">
                <a:solidFill>
                  <a:srgbClr val="C2C2C2"/>
                </a:solidFill>
                <a:latin typeface="Pretendard Light"/>
              </a:rPr>
              <a:t> </a:t>
            </a:r>
            <a:r>
              <a:rPr lang="ko-KR" sz="933" b="0" i="0" u="none" strike="noStrike">
                <a:solidFill>
                  <a:srgbClr val="C2C2C2"/>
                </a:solidFill>
                <a:ea typeface="Pretendard Light"/>
              </a:rPr>
              <a:t>입니다</a:t>
            </a:r>
            <a:r>
              <a:rPr lang="en-US" sz="933" b="0" i="0" u="none" strike="noStrike">
                <a:solidFill>
                  <a:srgbClr val="C2C2C2"/>
                </a:solidFill>
                <a:latin typeface="Pretendard Ligh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913663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1605</Words>
  <Application>Microsoft Office PowerPoint</Application>
  <PresentationFormat>와이드스크린</PresentationFormat>
  <Paragraphs>632</Paragraphs>
  <Slides>22</Slides>
  <Notes>3</Notes>
  <HiddenSlides>8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34" baseType="lpstr">
      <vt:lpstr>Arial,Sans-Serif</vt:lpstr>
      <vt:lpstr>ONE</vt:lpstr>
      <vt:lpstr>ONE Mobile Title OTF</vt:lpstr>
      <vt:lpstr>ONE 모바일고딕 Title OTF</vt:lpstr>
      <vt:lpstr>Pretendard Bold</vt:lpstr>
      <vt:lpstr>Pretendard Light</vt:lpstr>
      <vt:lpstr>Pretendard Medium</vt:lpstr>
      <vt:lpstr>Pretendard Regular</vt:lpstr>
      <vt:lpstr>Malgun Gothic</vt:lpstr>
      <vt:lpstr>Malgun Gothic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권우현</dc:creator>
  <cp:lastModifiedBy>권우현</cp:lastModifiedBy>
  <cp:revision>1</cp:revision>
  <dcterms:created xsi:type="dcterms:W3CDTF">2025-02-20T11:00:35Z</dcterms:created>
  <dcterms:modified xsi:type="dcterms:W3CDTF">2025-02-20T11:03:24Z</dcterms:modified>
</cp:coreProperties>
</file>