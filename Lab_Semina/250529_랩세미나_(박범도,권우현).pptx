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4"/>
    <p:sldMasterId id="2147483660" r:id="rId5"/>
  </p:sldMasterIdLst>
  <p:notesMasterIdLst>
    <p:notesMasterId r:id="rId21"/>
  </p:notesMasterIdLst>
  <p:sldIdLst>
    <p:sldId id="328" r:id="rId6"/>
    <p:sldId id="329" r:id="rId7"/>
    <p:sldId id="335" r:id="rId8"/>
    <p:sldId id="392" r:id="rId9"/>
    <p:sldId id="352" r:id="rId10"/>
    <p:sldId id="393" r:id="rId11"/>
    <p:sldId id="359" r:id="rId12"/>
    <p:sldId id="394" r:id="rId13"/>
    <p:sldId id="395" r:id="rId14"/>
    <p:sldId id="400" r:id="rId15"/>
    <p:sldId id="396" r:id="rId16"/>
    <p:sldId id="397" r:id="rId17"/>
    <p:sldId id="398" r:id="rId18"/>
    <p:sldId id="399" r:id="rId19"/>
    <p:sldId id="34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FBF"/>
    <a:srgbClr val="F7F8FA"/>
    <a:srgbClr val="0165A5"/>
    <a:srgbClr val="C6405C"/>
    <a:srgbClr val="47737C"/>
    <a:srgbClr val="CBC5D1"/>
    <a:srgbClr val="83BBC4"/>
    <a:srgbClr val="E77474"/>
    <a:srgbClr val="7779B8"/>
    <a:srgbClr val="724E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424" y="-52"/>
      </p:cViewPr>
      <p:guideLst>
        <p:guide orient="horz" pos="2160"/>
        <p:guide pos="3840"/>
        <p:guide orient="horz" pos="41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4191A-B7D4-2B4C-AB1C-07760A7D5E9A}" type="datetimeFigureOut">
              <a:rPr kumimoji="1" lang="ko-KR" altLang="en-US" smtClean="0"/>
              <a:t>2025-05-29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89FDB-850A-1A4E-B92E-9B6FD1D130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327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 랩세미나 </a:t>
            </a:r>
            <a:r>
              <a:rPr lang="en-US" altLang="ko-KR"/>
              <a:t>3</a:t>
            </a:r>
            <a:r>
              <a:rPr lang="ko-KR" altLang="en-US"/>
              <a:t>팀 발표를 맡게 된 </a:t>
            </a:r>
            <a:r>
              <a:rPr lang="ko-KR" altLang="en-US" err="1"/>
              <a:t>박범도입니다</a:t>
            </a:r>
            <a:r>
              <a:rPr lang="en-US" altLang="ko-KR"/>
              <a:t>.</a:t>
            </a:r>
          </a:p>
          <a:p>
            <a:r>
              <a:rPr lang="ko-KR" altLang="en-US"/>
              <a:t>이번 랩 세미나 논문리뷰에서 </a:t>
            </a:r>
            <a:r>
              <a:rPr lang="en-US" altLang="ko-KR" sz="1200" i="0" u="none" strike="noStrike" err="1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TimesNet</a:t>
            </a:r>
            <a:r>
              <a:rPr lang="en-US" altLang="ko-KR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해당 논문은 </a:t>
            </a:r>
            <a:r>
              <a:rPr lang="en-US" altLang="ko-KR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2023 ICLR </a:t>
            </a:r>
            <a:r>
              <a:rPr lang="ko-KR" altLang="en-US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컨퍼런스에 게재된 논문으로</a:t>
            </a:r>
            <a:endParaRPr lang="en-US" altLang="ko-KR" sz="1200" i="0" u="none" strike="noStrike">
              <a:ln w="15875">
                <a:solidFill>
                  <a:schemeClr val="tx1"/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시계열 데이터의 복잡한 시간 패턴을 모델링하기 위한 방법론으로 제안되었습니다</a:t>
            </a:r>
            <a:r>
              <a:rPr lang="en-US" altLang="ko-KR" sz="1200" i="0" u="none" strike="noStrike">
                <a:ln w="15875">
                  <a:solidFill>
                    <a:schemeClr val="tx1"/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360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목차는 다음과 같이 구성하였습니다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699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28B6-D580-D8BF-20C8-ACEB4FCF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D41C08-9F8E-3E59-86EA-751493339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6EAAFA-D54D-E2C6-51C8-6C104D978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</a:t>
            </a:r>
            <a:r>
              <a:rPr lang="en-US" altLang="ko-KR" dirty="0"/>
              <a:t>,</a:t>
            </a:r>
            <a:r>
              <a:rPr lang="ko-KR" altLang="en-US" dirty="0"/>
              <a:t> 해당 논문에서 말하는 기존 시계열 데이터와 모델의 문제점입니다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Timeseries data</a:t>
            </a:r>
            <a:r>
              <a:rPr lang="ko-KR" altLang="en-US" dirty="0"/>
              <a:t>를 다루는 대부분의 모델은 시간 순서로 저장되어 있는 하나의 스칼라 값으로 저장된 데이터를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단일 시점의 </a:t>
            </a:r>
            <a:r>
              <a:rPr lang="en-US" altLang="ko-KR" dirty="0" err="1"/>
              <a:t>schlar</a:t>
            </a:r>
            <a:r>
              <a:rPr lang="ko-KR" altLang="en-US" dirty="0"/>
              <a:t> 값 만으로는 분석 진행 시 충분한 </a:t>
            </a:r>
            <a:r>
              <a:rPr lang="en-US" altLang="ko-KR" dirty="0"/>
              <a:t>semantic information</a:t>
            </a:r>
            <a:r>
              <a:rPr lang="ko-KR" altLang="en-US" dirty="0"/>
              <a:t>을 제공할 수 없다고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개선을 위해 추세</a:t>
            </a:r>
            <a:r>
              <a:rPr lang="en-US" altLang="ko-KR" dirty="0"/>
              <a:t>, </a:t>
            </a:r>
            <a:r>
              <a:rPr lang="ko-KR" altLang="en-US" dirty="0"/>
              <a:t>주기</a:t>
            </a:r>
            <a:r>
              <a:rPr lang="en-US" altLang="ko-KR" dirty="0"/>
              <a:t>, </a:t>
            </a:r>
            <a:r>
              <a:rPr lang="ko-KR" altLang="en-US" dirty="0"/>
              <a:t>연속성 등의 고유한 속성을 반영하여 모델링하여야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 </a:t>
            </a:r>
            <a:r>
              <a:rPr lang="ko-KR" altLang="en-US" dirty="0"/>
              <a:t>현실 세계의 데이터들은 </a:t>
            </a:r>
            <a:r>
              <a:rPr lang="en-US" altLang="ko-KR" dirty="0"/>
              <a:t>multi-variation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i="0" strike="noStrike" dirty="0"/>
              <a:t>다중 주기성을 띄는</a:t>
            </a:r>
            <a:r>
              <a:rPr lang="ko-KR" altLang="en-US" dirty="0"/>
              <a:t> 복잡한 패턴을 보이기 때문에 모델에 </a:t>
            </a:r>
            <a:r>
              <a:rPr lang="en-US" altLang="ko-KR" dirty="0"/>
              <a:t>variation</a:t>
            </a:r>
            <a:r>
              <a:rPr lang="ko-KR" altLang="en-US" dirty="0"/>
              <a:t>을 잘 담는 것이 중요하다고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TimesNet</a:t>
            </a:r>
            <a:r>
              <a:rPr lang="ko-KR" altLang="en-US" dirty="0"/>
              <a:t>에서는 기존 대부분의 모델이 사용하던 </a:t>
            </a:r>
            <a:r>
              <a:rPr lang="en-US" altLang="ko-KR" dirty="0"/>
              <a:t>one-</a:t>
            </a:r>
            <a:r>
              <a:rPr lang="en-US" altLang="ko-KR" dirty="0" err="1"/>
              <a:t>demension</a:t>
            </a:r>
            <a:r>
              <a:rPr lang="ko-KR" altLang="en-US" dirty="0"/>
              <a:t>의 </a:t>
            </a:r>
            <a:r>
              <a:rPr lang="en-US" altLang="ko-KR" dirty="0"/>
              <a:t>time series data</a:t>
            </a:r>
            <a:r>
              <a:rPr lang="ko-KR" altLang="en-US" dirty="0"/>
              <a:t>를 푸리에 변환하여 새로운 </a:t>
            </a:r>
            <a:r>
              <a:rPr lang="en-US" altLang="ko-KR" dirty="0"/>
              <a:t>dimension</a:t>
            </a:r>
            <a:r>
              <a:rPr lang="ko-KR" altLang="en-US" dirty="0"/>
              <a:t>에서 분석하여 이러한 문제를 해결하고자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79BC9-425D-145B-4CA8-D9E0F6208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1294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95FC-9C61-7D1C-770C-2CD94F85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A01FD4-1629-0EEC-C301-4D46A6970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D2B2CA-971F-8BFD-3D5F-50946B12E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</a:t>
            </a:r>
            <a:r>
              <a:rPr lang="en-US" altLang="ko-KR"/>
              <a:t>,</a:t>
            </a:r>
            <a:r>
              <a:rPr lang="ko-KR" altLang="en-US"/>
              <a:t> 해당 논문에서 말하는 기존 시계열 데이터와 모델의 문제점입니다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Timeseries data</a:t>
            </a:r>
            <a:r>
              <a:rPr lang="ko-KR" altLang="en-US"/>
              <a:t>를 다루는 대부분의 모델은 시간 순서로 저장되어 있는 하나의 스칼라 값으로 저장된 데이터를 학습합니다</a:t>
            </a:r>
            <a:r>
              <a:rPr lang="en-US" altLang="ko-KR"/>
              <a:t>.</a:t>
            </a:r>
          </a:p>
          <a:p>
            <a:r>
              <a:rPr lang="ko-KR" altLang="en-US"/>
              <a:t>이러한 단일 시점의 </a:t>
            </a:r>
            <a:r>
              <a:rPr lang="en-US" altLang="ko-KR" err="1"/>
              <a:t>schlar</a:t>
            </a:r>
            <a:r>
              <a:rPr lang="ko-KR" altLang="en-US"/>
              <a:t> 값 만으로는 분석 진행 시 충분한 </a:t>
            </a:r>
            <a:r>
              <a:rPr lang="en-US" altLang="ko-KR"/>
              <a:t>semantic information</a:t>
            </a:r>
            <a:r>
              <a:rPr lang="ko-KR" altLang="en-US"/>
              <a:t>을 제공할 수 없다고 말합니다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따라서 개선을 위해 추세</a:t>
            </a:r>
            <a:r>
              <a:rPr lang="en-US" altLang="ko-KR"/>
              <a:t>, </a:t>
            </a:r>
            <a:r>
              <a:rPr lang="ko-KR" altLang="en-US"/>
              <a:t>주기</a:t>
            </a:r>
            <a:r>
              <a:rPr lang="en-US" altLang="ko-KR"/>
              <a:t>, </a:t>
            </a:r>
            <a:r>
              <a:rPr lang="ko-KR" altLang="en-US"/>
              <a:t>연속성 등의 고유한 속성을 반영하여 모델링하여야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하지만</a:t>
            </a:r>
            <a:r>
              <a:rPr lang="en-US" altLang="ko-KR"/>
              <a:t> </a:t>
            </a:r>
            <a:r>
              <a:rPr lang="ko-KR" altLang="en-US"/>
              <a:t>현실 세계의 데이터들은 </a:t>
            </a:r>
            <a:r>
              <a:rPr lang="en-US" altLang="ko-KR"/>
              <a:t>multi-variation 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 i="0" strike="noStrike"/>
              <a:t>다중 주기성을 띄는</a:t>
            </a:r>
            <a:r>
              <a:rPr lang="ko-KR" altLang="en-US"/>
              <a:t> 복잡한 패턴을 보이기 때문에 모델에 </a:t>
            </a:r>
            <a:r>
              <a:rPr lang="en-US" altLang="ko-KR"/>
              <a:t>variation</a:t>
            </a:r>
            <a:r>
              <a:rPr lang="ko-KR" altLang="en-US"/>
              <a:t>을 잘 담는 것이 중요하다고 말합니다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 err="1"/>
              <a:t>TimesNet</a:t>
            </a:r>
            <a:r>
              <a:rPr lang="ko-KR" altLang="en-US"/>
              <a:t>에서는 기존 대부분의 모델이 사용하던 </a:t>
            </a:r>
            <a:r>
              <a:rPr lang="en-US" altLang="ko-KR"/>
              <a:t>one-</a:t>
            </a:r>
            <a:r>
              <a:rPr lang="en-US" altLang="ko-KR" err="1"/>
              <a:t>demension</a:t>
            </a:r>
            <a:r>
              <a:rPr lang="ko-KR" altLang="en-US"/>
              <a:t>의 </a:t>
            </a:r>
            <a:r>
              <a:rPr lang="en-US" altLang="ko-KR"/>
              <a:t>time series data</a:t>
            </a:r>
            <a:r>
              <a:rPr lang="ko-KR" altLang="en-US"/>
              <a:t>를 푸리에 변환하여 새로운 </a:t>
            </a:r>
            <a:r>
              <a:rPr lang="en-US" altLang="ko-KR"/>
              <a:t>dimension</a:t>
            </a:r>
            <a:r>
              <a:rPr lang="ko-KR" altLang="en-US"/>
              <a:t>에서 분석하여 이러한 문제를 해결하고자 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71EB08-7491-9C08-2B4C-6082FA162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6556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E806-6584-F0B4-B4BB-BAE950EF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38E7BB-DBB5-B8D0-36AB-3795950D3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53FF4E-BFB6-30A7-5DE8-AC11571C7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39236-B85E-3BD5-872A-AC58CC751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8643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850E6-FE3F-A590-5233-AB5E0105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7BA21A-4260-A506-42F6-CD830E7D4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0A537B-A60D-C4BB-57F4-3F5FE2CA0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D4A07-6906-79DB-91A1-CFDFC2B2B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3299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A363-79E7-FFA1-31C8-90F6EE2C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553D9B-056D-78BC-9DAE-7011F890E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CFA3BA-EB8F-2004-53CC-82167067E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6052B3-29ED-D365-7D28-E5272C213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9387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B619-F7D1-77CE-437C-702A9819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DF5F2D-A94E-FC9D-6B43-E303F9E48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0C854D-D146-BB81-FBAE-6A2404BE5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787AE-99B1-7B8F-4BB3-BA950B2C0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3840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BC3D-27E3-A9E6-5644-1049B473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50E378-32D7-6388-0658-6DC1D761A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ED769B-E0BA-DB32-AA39-184AF4DA9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F8123-AE1D-96DC-2C5F-A2740AAA0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4552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D856-C2D7-906A-3FD6-15C3C879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0EEC5A-BB01-D0BC-F6AE-3CE68BD99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257A-D360-FE7C-FCDE-40DA514DC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6316A3-7F6C-EBEB-A196-3B2F52D61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1465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3BCB-CAEC-F805-5078-BA8B6642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2DC0D-D35B-C61E-C37F-ABDCB1064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A4228-267C-F799-2B91-B03764E88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푸리에 변환에 대해서 소개하겠습니다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일반적으로 신호는 시간 축을 따라 변하는 파형으로 표현되지만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 err="1"/>
              <a:t>퓨리에</a:t>
            </a:r>
            <a:r>
              <a:rPr lang="ko-KR" altLang="en-US"/>
              <a:t> 변환을 통해 주파수를 분해하여 복잡한 신호를 </a:t>
            </a:r>
            <a:r>
              <a:rPr lang="ko-KR" altLang="en-US" err="1"/>
              <a:t>사인파</a:t>
            </a:r>
            <a:r>
              <a:rPr lang="en-US" altLang="ko-KR"/>
              <a:t>, </a:t>
            </a:r>
            <a:r>
              <a:rPr lang="ko-KR" altLang="en-US"/>
              <a:t>코사인파의 조합으로 표현이 가능합니다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AAD29-63C5-D886-A42C-4F3AB266A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89FDB-850A-1A4E-B92E-9B6FD1D13085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763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71316-BABB-73CB-0406-A32EBC1F0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217E3B-FC6D-45FC-FF8A-F83618544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DD3DA-3CCC-BB9E-7909-922D1EB7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561E9-B4F5-1477-7410-C6D321C8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5CC7B-E00D-ABBD-1FCE-25BCE048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745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CB278-1BD0-6BFC-CDC1-9F417EB6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F7D81-CD97-D9DF-1367-92F208498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663CD-0961-31C5-41C0-27790428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567A79-204F-5702-4555-72E2890B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903F0-50CE-2787-7DE6-2C9B36FB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130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2234A-A994-3AD1-B016-C91F9EFA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7CDFF-D2BC-A282-7142-2075CE6E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F2839-CBB6-DD0A-E09A-5DA18F17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DF1A2-2372-6680-2E7A-B3D45E3E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AACBE4-0405-2950-21BD-A7AC3BDE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062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E9B37-0700-7ABC-AF44-D9F8B759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E84837-CDFB-618C-E355-9DE48DA99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117B52-B396-E994-48EA-19967FA1C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6A207-42AA-1DAD-3C50-F4E8B515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5BF138-F482-0A5F-344E-BD07211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830EFD-6DE6-5241-4A8A-BE93AA3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344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092FB-B0BB-7D2B-CF0E-9C170AD0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EBA43D-B5B1-25A6-5BEF-0B419AD62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83E18D-3A69-A678-0E71-96205E2EF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C6FBB3-7725-F649-7908-B63F9870B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0EF36E-C10D-DFC2-38E2-0F46EE7BA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40485F-7617-6586-D941-2F688B58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95CBBA-3711-73E7-2B3A-F0362783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0887F7-2352-3A4C-C42A-0696E210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504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3A55E-D015-2797-4AF4-F4574DA6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179C5-2B99-38B0-C372-6E06837D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B4C7B4-0DA0-B599-59E1-0BDD922C7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D5A79D-13CE-0047-E9FC-5FBF05EE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8226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A7FE43-C16C-8627-D93F-7BF1D8B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9D9276-B6CF-0A53-58F3-D10FB7DF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3304B-4BCB-B2EF-4C72-B31B8230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743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D5811-9C77-5EA3-7B4F-7C5067C0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5FEF2-54DD-9FDB-D64C-FEEEAD43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AF5763-2FF9-A425-3F35-D0C15EAD5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EE1F19-BD19-577C-C42C-A30ECC58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2AABE0-CD01-89EC-96D3-DF833B98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FE53A3-A900-996D-6468-108F4AD7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101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198FF-DACF-56F6-EACE-627339B9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2D6588-C7E9-1FE8-10F4-06E67090A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582BA3-9ADA-A67D-C71D-A544C9F1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51AFF7-B38E-DD5C-0FDC-58A610AA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3FE944-F038-96C6-70DE-14D38D8B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EC4A28-7899-381C-7526-D1F2F629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53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0B24D-4786-BA05-2B4E-47701845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7392F6-9D5E-E52F-2810-15F8F8E51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B7C08-041F-ECF8-D7E8-DCEA1C51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B527DC-FCEF-2451-8DDC-12E7C93B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441B6-2BF6-F0CC-30B0-113BF408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432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2EFB38-C240-6482-EB03-2201C017F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ED5FAB-12CB-25C6-E087-5485157A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5CDB8-3440-0D9E-F8F2-262C9F8A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6E7706-63A5-2386-96D1-EC5ED54A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6AF56-55DA-7EAA-9443-13CAAEBA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2239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2059912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2003416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57DDF61-BF1A-BF0D-C3F4-543F038C525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554576" y="6526924"/>
            <a:ext cx="807719" cy="172186"/>
          </a:xfrm>
          <a:prstGeom prst="rect">
            <a:avLst/>
          </a:prstGeom>
        </p:spPr>
      </p:pic>
      <p:pic>
        <p:nvPicPr>
          <p:cNvPr id="8" name="object 14">
            <a:extLst>
              <a:ext uri="{FF2B5EF4-FFF2-40B4-BE49-F238E27FC236}">
                <a16:creationId xmlns:a16="http://schemas.microsoft.com/office/drawing/2014/main" id="{E299379D-9B61-0ACC-0E0D-DDD863C0D27C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478351" y="6538464"/>
            <a:ext cx="913709" cy="137175"/>
          </a:xfrm>
          <a:prstGeom prst="rect">
            <a:avLst/>
          </a:prstGeom>
        </p:spPr>
      </p:pic>
      <p:pic>
        <p:nvPicPr>
          <p:cNvPr id="9" name="object 15">
            <a:extLst>
              <a:ext uri="{FF2B5EF4-FFF2-40B4-BE49-F238E27FC236}">
                <a16:creationId xmlns:a16="http://schemas.microsoft.com/office/drawing/2014/main" id="{71180BC4-5D9B-F054-FABC-4AB5AF7FAF58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510649" y="6552806"/>
            <a:ext cx="1202486" cy="137426"/>
          </a:xfrm>
          <a:prstGeom prst="rect">
            <a:avLst/>
          </a:prstGeom>
        </p:spPr>
      </p:pic>
      <p:pic>
        <p:nvPicPr>
          <p:cNvPr id="10" name="object 16">
            <a:extLst>
              <a:ext uri="{FF2B5EF4-FFF2-40B4-BE49-F238E27FC236}">
                <a16:creationId xmlns:a16="http://schemas.microsoft.com/office/drawing/2014/main" id="{57908FC6-CA17-1D4F-1536-4D7BD466A100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652" y="6461596"/>
            <a:ext cx="1282871" cy="26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59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57DDF61-BF1A-BF0D-C3F4-543F038C525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554576" y="6526924"/>
            <a:ext cx="807719" cy="172186"/>
          </a:xfrm>
          <a:prstGeom prst="rect">
            <a:avLst/>
          </a:prstGeom>
        </p:spPr>
      </p:pic>
      <p:pic>
        <p:nvPicPr>
          <p:cNvPr id="8" name="object 14">
            <a:extLst>
              <a:ext uri="{FF2B5EF4-FFF2-40B4-BE49-F238E27FC236}">
                <a16:creationId xmlns:a16="http://schemas.microsoft.com/office/drawing/2014/main" id="{E299379D-9B61-0ACC-0E0D-DDD863C0D27C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478351" y="6538464"/>
            <a:ext cx="913709" cy="137175"/>
          </a:xfrm>
          <a:prstGeom prst="rect">
            <a:avLst/>
          </a:prstGeom>
        </p:spPr>
      </p:pic>
      <p:pic>
        <p:nvPicPr>
          <p:cNvPr id="9" name="object 15">
            <a:extLst>
              <a:ext uri="{FF2B5EF4-FFF2-40B4-BE49-F238E27FC236}">
                <a16:creationId xmlns:a16="http://schemas.microsoft.com/office/drawing/2014/main" id="{71180BC4-5D9B-F054-FABC-4AB5AF7FAF58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510649" y="6552806"/>
            <a:ext cx="1202486" cy="137426"/>
          </a:xfrm>
          <a:prstGeom prst="rect">
            <a:avLst/>
          </a:prstGeom>
        </p:spPr>
      </p:pic>
      <p:pic>
        <p:nvPicPr>
          <p:cNvPr id="10" name="object 16">
            <a:extLst>
              <a:ext uri="{FF2B5EF4-FFF2-40B4-BE49-F238E27FC236}">
                <a16:creationId xmlns:a16="http://schemas.microsoft.com/office/drawing/2014/main" id="{57908FC6-CA17-1D4F-1536-4D7BD466A100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652" y="6461596"/>
            <a:ext cx="1282871" cy="26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71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712" y="672541"/>
            <a:ext cx="8911590" cy="391794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1514460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712" y="672541"/>
            <a:ext cx="8911590" cy="391794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498263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946173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CB278-1BD0-6BFC-CDC1-9F417EB6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F7D81-CD97-D9DF-1367-92F208498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663CD-0961-31C5-41C0-27790428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567A79-204F-5702-4555-72E2890B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903F0-50CE-2787-7DE6-2C9B36FB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371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654EB6-E0AA-F72E-161B-348D39F8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5EAB42-3604-D63B-ACC4-FE1F4FA6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07E33-7C42-BEE7-AF5C-00CDAA59F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B6515D-5254-C65E-DB83-393756B8C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910DDE-1EFF-BE7F-795A-CFE30CF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834E0-937E-BA4C-B376-7B5F4BD2C709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11" name="object 13">
            <a:extLst>
              <a:ext uri="{FF2B5EF4-FFF2-40B4-BE49-F238E27FC236}">
                <a16:creationId xmlns:a16="http://schemas.microsoft.com/office/drawing/2014/main" id="{712C3EE5-0729-F4B3-F3EA-41DCEB54F5BE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246476" y="6526924"/>
            <a:ext cx="807719" cy="172186"/>
          </a:xfrm>
          <a:prstGeom prst="rect">
            <a:avLst/>
          </a:prstGeom>
        </p:spPr>
      </p:pic>
      <p:pic>
        <p:nvPicPr>
          <p:cNvPr id="12" name="object 14">
            <a:extLst>
              <a:ext uri="{FF2B5EF4-FFF2-40B4-BE49-F238E27FC236}">
                <a16:creationId xmlns:a16="http://schemas.microsoft.com/office/drawing/2014/main" id="{1B53B40D-EAE4-063D-F0B2-31251B201AA7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170251" y="6538464"/>
            <a:ext cx="913709" cy="1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5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6A6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2D356175-F3DE-DC70-0B49-943BE9C8FDF0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31804" y="6526924"/>
            <a:ext cx="807719" cy="172186"/>
          </a:xfrm>
          <a:prstGeom prst="rect">
            <a:avLst/>
          </a:prstGeom>
        </p:spPr>
      </p:pic>
      <p:pic>
        <p:nvPicPr>
          <p:cNvPr id="8" name="object 14">
            <a:extLst>
              <a:ext uri="{FF2B5EF4-FFF2-40B4-BE49-F238E27FC236}">
                <a16:creationId xmlns:a16="http://schemas.microsoft.com/office/drawing/2014/main" id="{9E8921C5-3402-F6BA-FE74-8EF0FD8B6AC8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155579" y="6538464"/>
            <a:ext cx="913709" cy="1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7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3" r:id="rId4"/>
    <p:sldLayoutId id="2147483664" r:id="rId5"/>
    <p:sldLayoutId id="2147483665" r:id="rId6"/>
    <p:sldLayoutId id="2147483668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11.svg"/><Relationship Id="rId9" Type="http://schemas.openxmlformats.org/officeDocument/2006/relationships/image" Target="../media/image30.png"/><Relationship Id="rId1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72D081-7A39-A8B7-D30B-CF33A8DE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980DFAC-8501-AB37-04E3-539349AE8DCE}"/>
              </a:ext>
            </a:extLst>
          </p:cNvPr>
          <p:cNvSpPr txBox="1"/>
          <p:nvPr/>
        </p:nvSpPr>
        <p:spPr>
          <a:xfrm>
            <a:off x="674014" y="4732419"/>
            <a:ext cx="10180123" cy="109254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latinLnBrk="0">
              <a:lnSpc>
                <a:spcPct val="150000"/>
              </a:lnSpc>
              <a:spcBef>
                <a:spcPts val="100"/>
              </a:spcBef>
              <a:defRPr/>
            </a:pPr>
            <a:r>
              <a:rPr kumimoji="0" lang="en-US" altLang="ko-KR" sz="1600" b="1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EcoAI</a:t>
            </a:r>
            <a:b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</a:b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3</a:t>
            </a:r>
            <a:r>
              <a:rPr kumimoji="0" lang="ko-KR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팀</a:t>
            </a: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: </a:t>
            </a:r>
            <a:r>
              <a:rPr kumimoji="0" lang="ko-KR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권우현</a:t>
            </a: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, </a:t>
            </a:r>
            <a:r>
              <a:rPr lang="ko-KR" altLang="en-US" sz="1600" b="1" kern="0" err="1">
                <a:solidFill>
                  <a:sysClr val="windowText" lastClr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rPr>
              <a:t>박범도</a:t>
            </a:r>
            <a:endParaRPr kumimoji="0" lang="en-US" altLang="ko-KR" sz="16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Malgun Gothic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/>
                <a:cs typeface="Malgun Gothic"/>
              </a:rPr>
              <a:t>발표일</a:t>
            </a: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/>
                <a:cs typeface="Malgun Gothic"/>
              </a:rPr>
              <a:t>: 2025</a:t>
            </a:r>
            <a:r>
              <a:rPr lang="en-US" altLang="ko-KR" sz="1600" b="1" kern="0">
                <a:solidFill>
                  <a:sysClr val="windowText" lastClr="000000"/>
                </a:solidFill>
                <a:latin typeface="에스코어 드림 4 Regular" panose="020B0503030302020204" pitchFamily="34" charset="-127"/>
                <a:ea typeface="에스코어 드림 4 Regular"/>
                <a:cs typeface="Malgun Gothic"/>
              </a:rPr>
              <a:t>. 05. 29.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6DC04B4-2FFA-6587-4B08-712409E992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57" y="6228867"/>
            <a:ext cx="1066774" cy="2270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3C9A8116-5B36-D071-9D49-7CD2464F04A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2353" y="6255840"/>
            <a:ext cx="1206283" cy="181103"/>
          </a:xfrm>
          <a:prstGeom prst="rect">
            <a:avLst/>
          </a:prstGeom>
        </p:spPr>
      </p:pic>
      <p:sp>
        <p:nvSpPr>
          <p:cNvPr id="10" name="TextBox 13">
            <a:extLst>
              <a:ext uri="{FF2B5EF4-FFF2-40B4-BE49-F238E27FC236}">
                <a16:creationId xmlns:a16="http://schemas.microsoft.com/office/drawing/2014/main" id="{70A94744-B3CF-5049-3E90-AD405C654E8A}"/>
              </a:ext>
            </a:extLst>
          </p:cNvPr>
          <p:cNvSpPr txBox="1"/>
          <p:nvPr/>
        </p:nvSpPr>
        <p:spPr>
          <a:xfrm>
            <a:off x="698157" y="1033038"/>
            <a:ext cx="10363543" cy="250711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4000" b="1">
                <a:solidFill>
                  <a:srgbClr val="3F73D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랩세미나</a:t>
            </a:r>
            <a:endParaRPr lang="ko-KR" altLang="en-US" sz="4000" b="1">
              <a:solidFill>
                <a:srgbClr val="3F73D2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+mn-lt"/>
            </a:endParaRPr>
          </a:p>
          <a:p>
            <a:pPr>
              <a:lnSpc>
                <a:spcPct val="120000"/>
              </a:lnSpc>
            </a:pPr>
            <a:r>
              <a:rPr lang="ko-KR" altLang="en-US" sz="4000" b="1">
                <a:ln w="15875">
                  <a:solidFill>
                    <a:prstClr val="black"/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지도교수님 논문 리뷰 및 학술 논문 연결 방안</a:t>
            </a:r>
          </a:p>
          <a:p>
            <a:pPr>
              <a:lnSpc>
                <a:spcPct val="120000"/>
              </a:lnSpc>
            </a:pPr>
            <a:r>
              <a:rPr lang="ko-KR" altLang="en-US" b="1">
                <a:ln w="15875">
                  <a:solidFill>
                    <a:prstClr val="black"/>
                  </a:solidFill>
                </a:ln>
                <a:solidFill>
                  <a:srgbClr val="0A6FBF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Calibri"/>
              </a:rPr>
              <a:t>논문: 스마트 </a:t>
            </a:r>
            <a:r>
              <a:rPr lang="ko-KR" altLang="en-US" b="1" err="1">
                <a:ln w="15875">
                  <a:solidFill>
                    <a:prstClr val="black"/>
                  </a:solidFill>
                </a:ln>
                <a:solidFill>
                  <a:srgbClr val="0A6FBF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Calibri"/>
              </a:rPr>
              <a:t>미터링</a:t>
            </a:r>
            <a:r>
              <a:rPr lang="ko-KR" altLang="en-US" b="1">
                <a:ln w="15875">
                  <a:solidFill>
                    <a:prstClr val="black"/>
                  </a:solidFill>
                </a:ln>
                <a:solidFill>
                  <a:srgbClr val="0A6FBF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Calibri"/>
              </a:rPr>
              <a:t> 시스템 이상 탐지 및 전력 관리</a:t>
            </a:r>
            <a:endParaRPr lang="ko-KR" altLang="en-US" b="1">
              <a:ln w="15875">
                <a:solidFill>
                  <a:prstClr val="black"/>
                </a:solidFill>
              </a:ln>
              <a:solidFill>
                <a:srgbClr val="0A6FBF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Anomaly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detection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of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smart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metering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system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for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power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management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with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battery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storage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system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electric</a:t>
            </a:r>
            <a:r>
              <a:rPr 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b="1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vehicle</a:t>
            </a:r>
            <a:r>
              <a:rPr lang="en-US" altLang="ko-KR" b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 </a:t>
            </a:r>
            <a:r>
              <a:rPr lang="ko-KR" altLang="en-US" sz="1600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(</a:t>
            </a:r>
            <a:r>
              <a:rPr lang="ko-KR" altLang="en-US" sz="1600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Sangkeum</a:t>
            </a:r>
            <a:r>
              <a:rPr lang="ko-KR" altLang="en-US" sz="1600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 Lee </a:t>
            </a:r>
            <a:r>
              <a:rPr lang="ko-KR" altLang="en-US" sz="1600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et</a:t>
            </a:r>
            <a:r>
              <a:rPr lang="ko-KR" altLang="en-US" sz="1600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 </a:t>
            </a:r>
            <a:r>
              <a:rPr lang="ko-KR" altLang="en-US" sz="1600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al</a:t>
            </a:r>
            <a:r>
              <a:rPr lang="ko-KR" altLang="en-US" sz="1600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., ETRI </a:t>
            </a:r>
            <a:r>
              <a:rPr lang="ko-KR" altLang="en-US" sz="1600" err="1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journal</a:t>
            </a:r>
            <a:r>
              <a:rPr lang="ko-KR" altLang="en-US" sz="1600">
                <a:solidFill>
                  <a:srgbClr val="11111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rPr>
              <a:t>, 2023)</a:t>
            </a:r>
            <a:endParaRPr lang="ko-KR" altLang="en-US">
              <a:solidFill>
                <a:srgbClr val="11111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Calibri"/>
            </a:endParaRPr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6352C217-C059-C9DD-5225-2453307265DF}"/>
              </a:ext>
            </a:extLst>
          </p:cNvPr>
          <p:cNvSpPr txBox="1"/>
          <p:nvPr/>
        </p:nvSpPr>
        <p:spPr>
          <a:xfrm>
            <a:off x="698157" y="3634911"/>
            <a:ext cx="10782643" cy="5970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적용 논문: 고속 푸리에 변환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(FFT)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기반 주기 추출 및 윈도우 구성을 활용한 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GELU CNN-GRU AE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모델의 산업 전력 시계열 이상치 탐지 </a:t>
            </a:r>
          </a:p>
          <a:p>
            <a:endParaRPr lang="ko-KR" altLang="en-US" sz="1400" b="1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808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6AC0-7E61-6037-8E68-58D6BBE4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슬라이드 번호 개체 틀 9">
            <a:extLst>
              <a:ext uri="{FF2B5EF4-FFF2-40B4-BE49-F238E27FC236}">
                <a16:creationId xmlns:a16="http://schemas.microsoft.com/office/drawing/2014/main" id="{DBF5BFFD-DA26-238D-9D1C-8D08784804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800949" y="6743700"/>
            <a:ext cx="266065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en-US" altLang="ko-KR" spc="-25" smtClean="0"/>
              <a:t>1</a:t>
            </a:fld>
            <a:endParaRPr lang="ko-KR" altLang="en-US" spc="-25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7C9C10E-1039-7183-4692-85FE55A03A3F}"/>
              </a:ext>
            </a:extLst>
          </p:cNvPr>
          <p:cNvGrpSpPr/>
          <p:nvPr/>
        </p:nvGrpSpPr>
        <p:grpSpPr>
          <a:xfrm>
            <a:off x="3129633" y="1599351"/>
            <a:ext cx="6019820" cy="3306313"/>
            <a:chOff x="3086090" y="2106175"/>
            <a:chExt cx="6019820" cy="330631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8687083-F09C-2B59-7FE8-5CEA85737760}"/>
                </a:ext>
              </a:extLst>
            </p:cNvPr>
            <p:cNvGrpSpPr/>
            <p:nvPr/>
          </p:nvGrpSpPr>
          <p:grpSpPr>
            <a:xfrm>
              <a:off x="3086090" y="2106175"/>
              <a:ext cx="6019820" cy="2574529"/>
              <a:chOff x="3268979" y="736197"/>
              <a:chExt cx="5651754" cy="2574529"/>
            </a:xfrm>
          </p:grpSpPr>
          <p:pic>
            <p:nvPicPr>
              <p:cNvPr id="2" name="object 2">
                <a:extLst>
                  <a:ext uri="{FF2B5EF4-FFF2-40B4-BE49-F238E27FC236}">
                    <a16:creationId xmlns:a16="http://schemas.microsoft.com/office/drawing/2014/main" id="{82BFA85E-0D91-FBB4-A66B-57D3B1FEE0A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flipH="1">
                <a:off x="3270122" y="736197"/>
                <a:ext cx="48538" cy="844892"/>
              </a:xfrm>
              <a:prstGeom prst="rect">
                <a:avLst/>
              </a:prstGeom>
            </p:spPr>
          </p:pic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FEE43B5-AEC9-33D4-F5D1-06D02AC93E29}"/>
                  </a:ext>
                </a:extLst>
              </p:cNvPr>
              <p:cNvSpPr txBox="1"/>
              <p:nvPr/>
            </p:nvSpPr>
            <p:spPr>
              <a:xfrm>
                <a:off x="3466592" y="736197"/>
                <a:ext cx="5224648" cy="640560"/>
              </a:xfrm>
              <a:prstGeom prst="rect">
                <a:avLst/>
              </a:prstGeom>
            </p:spPr>
            <p:txBody>
              <a:bodyPr vert="horz" wrap="square" lIns="0" tIns="50165" rIns="0" bIns="0" rtlCol="0" anchor="t">
                <a:spAutoFit/>
              </a:bodyPr>
              <a:lstStyle/>
              <a:p>
                <a:pPr marL="12700">
                  <a:spcBef>
                    <a:spcPts val="395"/>
                  </a:spcBef>
                  <a:defRPr/>
                </a:pP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교수님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</a:t>
                </a: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논문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</a:t>
                </a: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리뷰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및 학</a:t>
                </a:r>
                <a:r>
                  <a:rPr lang="ko-KR" altLang="en-US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술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</a:t>
                </a: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논문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</a:t>
                </a: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연결</a:t>
                </a:r>
                <a:r>
                  <a:rPr lang="en-US" altLang="ko-KR" sz="1100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 </a:t>
                </a:r>
                <a:r>
                  <a:rPr lang="en-US" altLang="ko-KR" sz="1100" err="1">
                    <a:solidFill>
                      <a:srgbClr val="252525"/>
                    </a:solidFill>
                    <a:ea typeface="에스코어 드림 4 Regular"/>
                    <a:cs typeface="+mn-lt"/>
                  </a:rPr>
                  <a:t>방안</a:t>
                </a:r>
                <a:endParaRPr lang="en-US" altLang="ko-KR" sz="1100">
                  <a:solidFill>
                    <a:srgbClr val="252525"/>
                  </a:solidFill>
                  <a:ea typeface="에스코어 드림 4 Regular"/>
                  <a:cs typeface="Calibri"/>
                </a:endParaRPr>
              </a:p>
              <a:p>
                <a:pPr marL="1270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39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-10" normalizeH="0" baseline="0" noProof="0">
                    <a:ln>
                      <a:noFill/>
                    </a:ln>
                    <a:solidFill>
                      <a:srgbClr val="0066A6"/>
                    </a:solidFill>
                    <a:effectLst/>
                    <a:uLnTx/>
                    <a:uFillTx/>
                    <a:latin typeface="에스코어 드림 4 Regular" panose="020B0503030302020204" pitchFamily="34" charset="-127"/>
                    <a:ea typeface="에스코어 드림 4 Regular"/>
                    <a:cs typeface="Malgun Gothic"/>
                  </a:rPr>
                  <a:t>CONTENTS</a:t>
                </a: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/>
                  <a:cs typeface="Malgun Gothic"/>
                </a:endParaRPr>
              </a:p>
            </p:txBody>
          </p:sp>
          <p:pic>
            <p:nvPicPr>
              <p:cNvPr id="4" name="object 4">
                <a:extLst>
                  <a:ext uri="{FF2B5EF4-FFF2-40B4-BE49-F238E27FC236}">
                    <a16:creationId xmlns:a16="http://schemas.microsoft.com/office/drawing/2014/main" id="{7F0DF478-9E15-300A-4139-ED16FB9612F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268979" y="1872324"/>
                <a:ext cx="5651754" cy="720089"/>
              </a:xfrm>
              <a:prstGeom prst="rect">
                <a:avLst/>
              </a:prstGeom>
            </p:spPr>
          </p:pic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92304594-A4F5-6664-2BE7-A7FD2823AA70}"/>
                  </a:ext>
                </a:extLst>
              </p:cNvPr>
              <p:cNvSpPr txBox="1"/>
              <p:nvPr/>
            </p:nvSpPr>
            <p:spPr>
              <a:xfrm>
                <a:off x="4635499" y="2071747"/>
                <a:ext cx="3203483" cy="321242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10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0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  <a:cs typeface="Malgun Gothic"/>
                  </a:rPr>
                  <a:t>연구 배경</a:t>
                </a: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endParaRPr>
              </a:p>
            </p:txBody>
          </p:sp>
          <p:pic>
            <p:nvPicPr>
              <p:cNvPr id="6" name="object 6">
                <a:extLst>
                  <a:ext uri="{FF2B5EF4-FFF2-40B4-BE49-F238E27FC236}">
                    <a16:creationId xmlns:a16="http://schemas.microsoft.com/office/drawing/2014/main" id="{0A38AC61-CD09-EA64-8B1A-D64E3EFE3FC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268979" y="2590636"/>
                <a:ext cx="5651754" cy="720090"/>
              </a:xfrm>
              <a:prstGeom prst="rect">
                <a:avLst/>
              </a:prstGeom>
            </p:spPr>
          </p:pic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9FE88DB-82AD-13C8-FB9A-303E1EBC73A3}"/>
                  </a:ext>
                </a:extLst>
              </p:cNvPr>
              <p:cNvSpPr txBox="1"/>
              <p:nvPr/>
            </p:nvSpPr>
            <p:spPr>
              <a:xfrm>
                <a:off x="4635499" y="2821603"/>
                <a:ext cx="4055741" cy="321242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000" b="1">
                    <a:solidFill>
                      <a:srgbClr val="252525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  <a:cs typeface="Malgun Gothic"/>
                  </a:rPr>
                  <a:t>이상치 탐지 방법론</a:t>
                </a:r>
                <a:endParaRPr kumimoji="0" lang="ko-KR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endParaRPr>
              </a:p>
            </p:txBody>
          </p:sp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F4C9027D-4825-3A38-E059-791112801E50}"/>
                  </a:ext>
                </a:extLst>
              </p:cNvPr>
              <p:cNvSpPr txBox="1"/>
              <p:nvPr/>
            </p:nvSpPr>
            <p:spPr>
              <a:xfrm>
                <a:off x="3748237" y="1998492"/>
                <a:ext cx="519259" cy="505908"/>
              </a:xfrm>
              <a:prstGeom prst="rect">
                <a:avLst/>
              </a:prstGeom>
            </p:spPr>
            <p:txBody>
              <a:bodyPr vert="horz" wrap="square" lIns="0" tIns="13335" rIns="0" bIns="0" rtlCol="0" anchor="t">
                <a:spAutoFit/>
              </a:bodyPr>
              <a:lstStyle/>
              <a:p>
                <a:pPr marL="1270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10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3200" b="1" i="0" u="none" strike="noStrike" kern="1200" cap="none" spc="-25" normalizeH="0" baseline="0" noProof="0">
                    <a:ln>
                      <a:noFill/>
                    </a:ln>
                    <a:solidFill>
                      <a:srgbClr val="0066A6"/>
                    </a:solidFill>
                    <a:effectLst/>
                    <a:uLnTx/>
                    <a:uFillTx/>
                    <a:latin typeface="에스코어 드림 4 Regular" panose="020B0503030302020204" pitchFamily="34" charset="-127"/>
                    <a:ea typeface="에스코어 드림 4 Regular"/>
                    <a:cs typeface="Malgun Gothic"/>
                  </a:rPr>
                  <a:t>01</a:t>
                </a:r>
                <a:endParaRPr lang="en-US" altLang="ko-KR" sz="3200" b="1" spc="-25">
                  <a:solidFill>
                    <a:srgbClr val="0066A6"/>
                  </a:solidFill>
                  <a:latin typeface="에스코어 드림 4 Regular" panose="020B0503030302020204" pitchFamily="34" charset="-127"/>
                  <a:ea typeface="에스코어 드림 4 Regular"/>
                  <a:cs typeface="Malgun Gothic"/>
                </a:endParaRPr>
              </a:p>
            </p:txBody>
          </p:sp>
        </p:grp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5EB7029C-E985-B25E-C1C0-4551D2CB7AE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6090" y="4692398"/>
              <a:ext cx="6019820" cy="720090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749BF3D-CA37-D628-F433-3F7CE490BCC2}"/>
                </a:ext>
              </a:extLst>
            </p:cNvPr>
            <p:cNvSpPr txBox="1"/>
            <p:nvPr/>
          </p:nvSpPr>
          <p:spPr>
            <a:xfrm>
              <a:off x="4541604" y="4895832"/>
              <a:ext cx="4319868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b="1" dirty="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논문 연결 방안</a:t>
              </a:r>
              <a:endPara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endParaRPr>
            </a:p>
          </p:txBody>
        </p:sp>
      </p:grpSp>
      <p:sp>
        <p:nvSpPr>
          <p:cNvPr id="16" name="object 11">
            <a:extLst>
              <a:ext uri="{FF2B5EF4-FFF2-40B4-BE49-F238E27FC236}">
                <a16:creationId xmlns:a16="http://schemas.microsoft.com/office/drawing/2014/main" id="{21E89516-C192-18CD-5D51-9B5E062691A4}"/>
              </a:ext>
            </a:extLst>
          </p:cNvPr>
          <p:cNvSpPr txBox="1"/>
          <p:nvPr/>
        </p:nvSpPr>
        <p:spPr>
          <a:xfrm>
            <a:off x="3640102" y="3592424"/>
            <a:ext cx="553075" cy="50590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-25">
                <a:solidFill>
                  <a:srgbClr val="0066A6"/>
                </a:solidFill>
                <a:latin typeface="에스코어 드림 4 Regular" panose="020B0503030302020204" pitchFamily="34" charset="-127"/>
                <a:ea typeface="에스코어 드림 4 Regular"/>
                <a:cs typeface="Malgun Gothic"/>
              </a:rPr>
              <a:t>02</a:t>
            </a:r>
            <a:endParaRPr lang="en-US" altLang="ko-KR" sz="3200" b="1" spc="-25">
              <a:solidFill>
                <a:srgbClr val="0066A6"/>
              </a:solidFill>
              <a:latin typeface="에스코어 드림 4 Regular" panose="020B0503030302020204" pitchFamily="34" charset="-127"/>
              <a:ea typeface="에스코어 드림 4 Regular"/>
              <a:cs typeface="Malgun Gothic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AC190F5F-12E2-9425-F3C1-AE7AC9C45CC4}"/>
              </a:ext>
            </a:extLst>
          </p:cNvPr>
          <p:cNvSpPr txBox="1"/>
          <p:nvPr/>
        </p:nvSpPr>
        <p:spPr>
          <a:xfrm>
            <a:off x="3640102" y="4303624"/>
            <a:ext cx="553075" cy="50590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-25">
                <a:solidFill>
                  <a:srgbClr val="0066A6"/>
                </a:solidFill>
                <a:latin typeface="에스코어 드림 4 Regular" panose="020B0503030302020204" pitchFamily="34" charset="-127"/>
                <a:ea typeface="에스코어 드림 4 Regular"/>
                <a:cs typeface="Malgun Gothic"/>
              </a:rPr>
              <a:t>03</a:t>
            </a:r>
            <a:endParaRPr lang="en-US" altLang="ko-KR" sz="3200" b="1" spc="-25">
              <a:solidFill>
                <a:srgbClr val="0066A6"/>
              </a:solidFill>
              <a:latin typeface="에스코어 드림 4 Regular" panose="020B0503030302020204" pitchFamily="34" charset="-127"/>
              <a:ea typeface="에스코어 드림 4 Regular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8814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BCA47CB-CA0A-3ABC-BC6D-B36FC842D7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en-US" altLang="ko-KR" spc="-25" smtClean="0"/>
              <a:t>2</a:t>
            </a:fld>
            <a:endParaRPr lang="ko-KR" altLang="en-US" spc="-25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876F0C-2F55-0E4D-0BB0-B4214CAD9E6F}"/>
              </a:ext>
            </a:extLst>
          </p:cNvPr>
          <p:cNvGrpSpPr/>
          <p:nvPr/>
        </p:nvGrpSpPr>
        <p:grpSpPr>
          <a:xfrm>
            <a:off x="2719239" y="2044699"/>
            <a:ext cx="6595800" cy="1627758"/>
            <a:chOff x="3073400" y="1659467"/>
            <a:chExt cx="6595800" cy="2734549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6716C8DC-DADF-392D-9AC7-735A0405A1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3073400" y="1659467"/>
              <a:ext cx="102419" cy="2538907"/>
            </a:xfrm>
            <a:prstGeom prst="rect">
              <a:avLst/>
            </a:prstGeom>
          </p:spPr>
        </p:pic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56A7F3C9-446E-22D0-4B18-602CED14CA84}"/>
                </a:ext>
              </a:extLst>
            </p:cNvPr>
            <p:cNvSpPr txBox="1"/>
            <p:nvPr/>
          </p:nvSpPr>
          <p:spPr>
            <a:xfrm>
              <a:off x="3273722" y="2085339"/>
              <a:ext cx="6395478" cy="447031"/>
            </a:xfrm>
            <a:prstGeom prst="rect">
              <a:avLst/>
            </a:prstGeom>
          </p:spPr>
          <p:txBody>
            <a:bodyPr vert="horz" wrap="square" lIns="0" tIns="50165" rIns="0" bIns="0" rtlCol="0" anchor="t">
              <a:spAutoFit/>
            </a:bodyPr>
            <a:lstStyle/>
            <a:p>
              <a:pPr marL="12700">
                <a:spcBef>
                  <a:spcPts val="395"/>
                </a:spcBef>
                <a:defRPr/>
              </a:pP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교수님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리뷰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및 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학</a:t>
              </a:r>
              <a:r>
                <a:rPr lang="ko-KR" altLang="en-US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술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연결</a:t>
              </a:r>
              <a:r>
                <a:rPr lang="en-US" altLang="ko-KR" sz="1400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+mn-lt"/>
                </a:rPr>
                <a:t>방안</a:t>
              </a:r>
              <a:endParaRPr lang="en-US" altLang="ko-KR" sz="1400">
                <a:solidFill>
                  <a:srgbClr val="252525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0B3B56-8017-F79D-564F-39FB7E0288F6}"/>
                </a:ext>
              </a:extLst>
            </p:cNvPr>
            <p:cNvSpPr txBox="1"/>
            <p:nvPr/>
          </p:nvSpPr>
          <p:spPr>
            <a:xfrm>
              <a:off x="3273722" y="2997984"/>
              <a:ext cx="6096000" cy="139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6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800" b="1" i="0" u="none" strike="noStrike" kern="1200" cap="none" spc="-10" normalizeH="0" baseline="0" noProof="0">
                  <a:ln>
                    <a:noFill/>
                  </a:ln>
                  <a:solidFill>
                    <a:srgbClr val="0066A6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01 </a:t>
              </a:r>
              <a:r>
                <a:rPr lang="ko-KR" altLang="en-US" sz="4800" b="1" spc="-10">
                  <a:solidFill>
                    <a:srgbClr val="0066A6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연구 배경</a:t>
              </a:r>
              <a:endParaRPr kumimoji="0" lang="ko-KR" altLang="en-US" sz="4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30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D658-A0AE-4797-C0B2-9091B24B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A2AD27FB-8657-66CD-63A5-742DA710CFEE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806C09-5ED7-F8F1-127F-887BFF7DAADB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연구 배경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07B5BD8-2D0F-5C0C-5F54-FAB84BB5C81D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84C5797C-93CE-7C90-098F-DF0181C0CFAD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494F0D-9DDF-7EBC-8A48-81AD3DDC01F1}"/>
              </a:ext>
            </a:extLst>
          </p:cNvPr>
          <p:cNvSpPr txBox="1"/>
          <p:nvPr/>
        </p:nvSpPr>
        <p:spPr>
          <a:xfrm>
            <a:off x="403858" y="934204"/>
            <a:ext cx="10949941" cy="461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sz="20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스마트 </a:t>
            </a:r>
            <a:r>
              <a:rPr lang="ko-KR" altLang="en-US" sz="20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미터링</a:t>
            </a:r>
            <a:r>
              <a:rPr lang="ko-KR" altLang="en-US" sz="20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시스템의 부상</a:t>
            </a:r>
            <a:endParaRPr lang="en-US" altLang="ko-KR" sz="20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미터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이전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전력 시스템의 복잡성이 증가</a:t>
            </a:r>
            <a:r>
              <a:rPr lang="en-US" altLang="ko-KR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공급자와 소비자 간의 상호작용을 기반으로 한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계량 및 제어 시스템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필요성 증가</a:t>
            </a:r>
            <a:endParaRPr lang="en-US" altLang="ko-KR" sz="16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에너지 소비 측정 후 전자 통신 네트워크를 통하여 세부 정보를 다른 사람에게 직접 송수신 가능한 전자 시스템 등장 </a:t>
            </a:r>
            <a:r>
              <a:rPr lang="en-US" altLang="ko-KR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      -&gt; </a:t>
            </a:r>
            <a:r>
              <a:rPr lang="ko-KR" altLang="en-US" sz="160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미터</a:t>
            </a:r>
            <a:endParaRPr lang="en-US" altLang="ko-KR" sz="800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b="1" i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A6FB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A6FB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미터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이후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대용량 정보 수집</a:t>
            </a:r>
            <a:r>
              <a:rPr lang="en-US" altLang="ko-KR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속도 및 다양성에 의해 정보 수집도 크게 향상</a:t>
            </a:r>
            <a:r>
              <a:rPr lang="en-US" altLang="ko-KR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빅데이터 분석에서 큰 명성을 얻음</a:t>
            </a:r>
            <a:endParaRPr lang="en-US" altLang="ko-KR" sz="16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전기적 신호에서 최적의 모니터링 및 제어로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안정성 및 효율성 증가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로 스마트 미터는 </a:t>
            </a:r>
            <a:r>
              <a:rPr lang="ko-KR" altLang="en-US" sz="16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큰 자산이 됨</a:t>
            </a:r>
            <a:endParaRPr lang="en-US" altLang="ko-KR" sz="16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92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D68E-37E3-BF90-7129-752C050C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E32FE60-87D3-0A6B-C1E0-6A841C02F8C6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C73CA7-3982-5A96-E978-8D8F77222604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연구 배경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0A0139B-807A-B107-FE51-794103D3FF1C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8FC7D649-41F9-D3AD-2EF7-A1E51273C7F2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B5FEA7-6EBF-F77A-80FC-3124271C5E00}"/>
              </a:ext>
            </a:extLst>
          </p:cNvPr>
          <p:cNvSpPr txBox="1"/>
          <p:nvPr/>
        </p:nvSpPr>
        <p:spPr>
          <a:xfrm>
            <a:off x="403858" y="934204"/>
            <a:ext cx="10949941" cy="514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sz="20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스마트 미터의 오류 발생 및 연구 목표</a:t>
            </a:r>
            <a:endParaRPr lang="en-US" altLang="ko-KR" sz="20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미터의 오류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날씨나 점유자의 이상 행동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장비 및 제어 시스템 오류로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이상치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 발생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 미터는 에너지 효율성을 높여야 함과 동시에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실제 전력 소비와 예측 전력 소비 간의 불일치가 줄어들 때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b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에너지 관리 성능이 향상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되며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비용 절감에서 유리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따라서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 감지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 가능한 스마트 </a:t>
            </a:r>
            <a:r>
              <a:rPr lang="ko-KR" altLang="en-US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미터링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기술이 필요하며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논문에서는 </a:t>
            </a:r>
            <a:r>
              <a:rPr lang="ko-KR" altLang="en-US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이상값과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결측값을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감지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할 수 있는 스마트 </a:t>
            </a:r>
            <a:r>
              <a:rPr lang="ko-KR" altLang="en-US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미터링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시스템을 제안</a:t>
            </a:r>
            <a:endParaRPr lang="en-US" altLang="ko-KR" sz="8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A6FB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연구 목표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A6FB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이상치 탐지 기능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 탑재된 스마트 </a:t>
            </a:r>
            <a:r>
              <a:rPr lang="ko-KR" altLang="en-US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미터링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기술 개발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피크 부하 및 전기 비용 절감을 위한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예측 유형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의 전력 관리 구현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GCN-</a:t>
            </a:r>
            <a:r>
              <a:rPr lang="en-US" altLang="ko-KR" sz="1400" b="1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BiLSTM</a:t>
            </a:r>
            <a:r>
              <a:rPr lang="en-US" altLang="ko-KR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Autoencoder </a:t>
            </a: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모델로 스마트 미터 데이터의 미래 가치 예측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4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다중 목표 함수를 사용하여 최적화</a:t>
            </a:r>
            <a:endParaRPr lang="en-US" altLang="ko-KR" sz="14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74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EC28-BE6F-47F1-1E42-DDE4F957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B12E81-926A-D3D1-4EA8-A386C162EF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en-US" altLang="ko-KR" spc="-25" smtClean="0"/>
              <a:t>5</a:t>
            </a:fld>
            <a:endParaRPr lang="ko-KR" altLang="en-US" spc="-25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1E30BE-4CC0-4593-58BF-E8CD7953A431}"/>
              </a:ext>
            </a:extLst>
          </p:cNvPr>
          <p:cNvGrpSpPr/>
          <p:nvPr/>
        </p:nvGrpSpPr>
        <p:grpSpPr>
          <a:xfrm>
            <a:off x="2719239" y="2044699"/>
            <a:ext cx="6757162" cy="1645687"/>
            <a:chOff x="3073400" y="1659467"/>
            <a:chExt cx="6757162" cy="2764669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760081D4-DA6B-7193-AF29-B9C1C2908F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3073400" y="1659467"/>
              <a:ext cx="102419" cy="2538907"/>
            </a:xfrm>
            <a:prstGeom prst="rect">
              <a:avLst/>
            </a:prstGeom>
          </p:spPr>
        </p:pic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8336CF32-D313-5863-6CA4-9FFE97110C0A}"/>
                </a:ext>
              </a:extLst>
            </p:cNvPr>
            <p:cNvSpPr txBox="1"/>
            <p:nvPr/>
          </p:nvSpPr>
          <p:spPr>
            <a:xfrm>
              <a:off x="3273722" y="2085339"/>
              <a:ext cx="6395478" cy="447031"/>
            </a:xfrm>
            <a:prstGeom prst="rect">
              <a:avLst/>
            </a:prstGeom>
          </p:spPr>
          <p:txBody>
            <a:bodyPr vert="horz" wrap="square" lIns="0" tIns="50165" rIns="0" bIns="0" rtlCol="0" anchor="t">
              <a:spAutoFit/>
            </a:bodyPr>
            <a:lstStyle/>
            <a:p>
              <a:pPr marL="12700">
                <a:spcBef>
                  <a:spcPts val="395"/>
                </a:spcBef>
                <a:defRPr/>
              </a:pP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교수님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리뷰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및 학</a:t>
              </a:r>
              <a:r>
                <a:rPr lang="ko-KR" altLang="en-US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술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연결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방안</a:t>
              </a:r>
              <a:endParaRPr lang="en-US" altLang="ko-KR" sz="1400">
                <a:solidFill>
                  <a:srgbClr val="252525"/>
                </a:solidFill>
                <a:ea typeface="에스코어 드림 4 Regular"/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C5AB76-6146-5F12-B679-A3D211C42831}"/>
                </a:ext>
              </a:extLst>
            </p:cNvPr>
            <p:cNvSpPr txBox="1"/>
            <p:nvPr/>
          </p:nvSpPr>
          <p:spPr>
            <a:xfrm>
              <a:off x="3273721" y="3028104"/>
              <a:ext cx="6556841" cy="139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6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800" b="1" i="0" u="none" strike="noStrike" kern="1200" cap="none" spc="-10" normalizeH="0" baseline="0" noProof="0">
                  <a:ln>
                    <a:noFill/>
                  </a:ln>
                  <a:solidFill>
                    <a:srgbClr val="0066A6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02 </a:t>
              </a:r>
              <a:r>
                <a:rPr lang="ko-KR" altLang="en-US" sz="4800" b="1" spc="-10">
                  <a:solidFill>
                    <a:srgbClr val="0066A6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이상치 탐지 방법론</a:t>
              </a:r>
              <a:endParaRPr kumimoji="0" lang="ko-KR" altLang="en-US" sz="4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412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166B-1A0C-E276-DD70-17F3B4FD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6E2B93F7-D8DF-AE0F-0DB5-A406D2679AC8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446E7A-1B1E-5DAC-B6B6-CA2695E7DA01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이상치 탐지 방법론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BB07597-E6C7-11E9-F513-CF93A9C76685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471B3090-609B-511A-A611-D05320BF4625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DB8F9-7AC3-D5DA-AF9B-AE92243B7284}"/>
              </a:ext>
            </a:extLst>
          </p:cNvPr>
          <p:cNvSpPr txBox="1"/>
          <p:nvPr/>
        </p:nvSpPr>
        <p:spPr>
          <a:xfrm>
            <a:off x="403858" y="934204"/>
            <a:ext cx="10949941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클라우드 기반 스마트 </a:t>
            </a:r>
            <a:r>
              <a:rPr lang="ko-KR" altLang="en-US" sz="2000" b="1" spc="-5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미터링</a:t>
            </a:r>
            <a:r>
              <a:rPr lang="ko-KR" altLang="en-US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시스템</a:t>
            </a:r>
            <a:endParaRPr lang="en-US" altLang="ko-KR" sz="20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31E2810-4A9A-0F58-9E6C-445AF418AD7F}"/>
              </a:ext>
            </a:extLst>
          </p:cNvPr>
          <p:cNvGrpSpPr/>
          <p:nvPr/>
        </p:nvGrpSpPr>
        <p:grpSpPr>
          <a:xfrm>
            <a:off x="457663" y="2234953"/>
            <a:ext cx="5215105" cy="2758246"/>
            <a:chOff x="420964" y="2046975"/>
            <a:chExt cx="5215105" cy="2758246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DEB0DC3-7E3C-256F-6FE2-11AE2CBB77A6}"/>
                </a:ext>
              </a:extLst>
            </p:cNvPr>
            <p:cNvGrpSpPr/>
            <p:nvPr/>
          </p:nvGrpSpPr>
          <p:grpSpPr>
            <a:xfrm>
              <a:off x="420964" y="2046975"/>
              <a:ext cx="5215105" cy="2758246"/>
              <a:chOff x="-134034" y="2052784"/>
              <a:chExt cx="5215105" cy="275824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45E14486-FAA6-1641-C47F-5A53E4494008}"/>
                  </a:ext>
                </a:extLst>
              </p:cNvPr>
              <p:cNvGrpSpPr/>
              <p:nvPr/>
            </p:nvGrpSpPr>
            <p:grpSpPr>
              <a:xfrm>
                <a:off x="1033405" y="2705800"/>
                <a:ext cx="1545969" cy="2105230"/>
                <a:chOff x="1315233" y="2981197"/>
                <a:chExt cx="2129424" cy="2361153"/>
              </a:xfrm>
            </p:grpSpPr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2840A29A-2E6F-8FAD-138B-6C205D4B2C8B}"/>
                    </a:ext>
                  </a:extLst>
                </p:cNvPr>
                <p:cNvSpPr/>
                <p:nvPr/>
              </p:nvSpPr>
              <p:spPr>
                <a:xfrm>
                  <a:off x="1315233" y="2981197"/>
                  <a:ext cx="2129424" cy="513567"/>
                </a:xfrm>
                <a:prstGeom prst="roundRect">
                  <a:avLst/>
                </a:prstGeom>
                <a:noFill/>
                <a:ln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>
                      <a:solidFill>
                        <a:schemeClr val="tx1"/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에너지 소비</a:t>
                  </a:r>
                </a:p>
              </p:txBody>
            </p:sp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459AAD6E-C2AB-3399-0E58-13F76E66E1FF}"/>
                    </a:ext>
                  </a:extLst>
                </p:cNvPr>
                <p:cNvSpPr/>
                <p:nvPr/>
              </p:nvSpPr>
              <p:spPr>
                <a:xfrm>
                  <a:off x="1315233" y="3904990"/>
                  <a:ext cx="2129424" cy="513567"/>
                </a:xfrm>
                <a:prstGeom prst="roundRect">
                  <a:avLst/>
                </a:prstGeom>
                <a:noFill/>
                <a:ln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>
                      <a:solidFill>
                        <a:schemeClr val="tx1"/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고객 정보</a:t>
                  </a:r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591851A9-CCE3-B43F-7E8E-F0297266A9FF}"/>
                    </a:ext>
                  </a:extLst>
                </p:cNvPr>
                <p:cNvSpPr/>
                <p:nvPr/>
              </p:nvSpPr>
              <p:spPr>
                <a:xfrm>
                  <a:off x="1315233" y="4828783"/>
                  <a:ext cx="2129424" cy="513567"/>
                </a:xfrm>
                <a:prstGeom prst="roundRect">
                  <a:avLst/>
                </a:prstGeom>
                <a:noFill/>
                <a:ln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>
                      <a:solidFill>
                        <a:schemeClr val="tx1"/>
                      </a:solidFill>
                      <a:latin typeface="에스코어 드림 4 Regular" panose="020B0503030302020204" pitchFamily="34" charset="-127"/>
                      <a:ea typeface="에스코어 드림 4 Regular" panose="020B0503030302020204" pitchFamily="34" charset="-127"/>
                    </a:rPr>
                    <a:t>기타 정보</a:t>
                  </a:r>
                </a:p>
              </p:txBody>
            </p:sp>
          </p:grpSp>
          <p:cxnSp>
            <p:nvCxnSpPr>
              <p:cNvPr id="16" name="연결선: 꺾임 15">
                <a:extLst>
                  <a:ext uri="{FF2B5EF4-FFF2-40B4-BE49-F238E27FC236}">
                    <a16:creationId xmlns:a16="http://schemas.microsoft.com/office/drawing/2014/main" id="{4AE12C62-C864-1E37-21B0-47C7669244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3191" y="2696337"/>
                <a:ext cx="998610" cy="98956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그래픽 25" descr="업로드 단색으로 채워진">
                <a:extLst>
                  <a:ext uri="{FF2B5EF4-FFF2-40B4-BE49-F238E27FC236}">
                    <a16:creationId xmlns:a16="http://schemas.microsoft.com/office/drawing/2014/main" id="{13988604-CAFE-FFB5-9431-A024A9C99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42738" y="2052784"/>
                <a:ext cx="1138333" cy="1138333"/>
              </a:xfrm>
              <a:prstGeom prst="rect">
                <a:avLst/>
              </a:prstGeom>
            </p:spPr>
          </p:pic>
          <p:pic>
            <p:nvPicPr>
              <p:cNvPr id="40" name="그래픽 39" descr="태블릿 단색으로 채워진">
                <a:extLst>
                  <a:ext uri="{FF2B5EF4-FFF2-40B4-BE49-F238E27FC236}">
                    <a16:creationId xmlns:a16="http://schemas.microsoft.com/office/drawing/2014/main" id="{D09176D8-F928-D7C8-E116-713BB76393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3314" y="3305774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100AF24-91CD-0B4D-62D8-06E618B02DB2}"/>
                  </a:ext>
                </a:extLst>
              </p:cNvPr>
              <p:cNvSpPr txBox="1"/>
              <p:nvPr/>
            </p:nvSpPr>
            <p:spPr>
              <a:xfrm>
                <a:off x="-134034" y="4014569"/>
                <a:ext cx="14397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>
                    <a:solidFill>
                      <a:srgbClr val="0A6FBF"/>
                    </a:solidFill>
                  </a:rPr>
                  <a:t>&lt;Smart meter&gt;</a:t>
                </a:r>
                <a:endParaRPr lang="ko-KR" altLang="en-US" sz="1600">
                  <a:solidFill>
                    <a:srgbClr val="0A6FBF"/>
                  </a:solidFill>
                </a:endParaRPr>
              </a:p>
            </p:txBody>
          </p:sp>
        </p:grpSp>
        <p:pic>
          <p:nvPicPr>
            <p:cNvPr id="56" name="그래픽 55" descr="사용자 단색으로 채워진">
              <a:extLst>
                <a:ext uri="{FF2B5EF4-FFF2-40B4-BE49-F238E27FC236}">
                  <a16:creationId xmlns:a16="http://schemas.microsoft.com/office/drawing/2014/main" id="{4A9D4D6D-E784-0FA2-C4BA-B0A4707AB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7683" y="260925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A05DE39-E176-738D-461A-BC7D84811441}"/>
              </a:ext>
            </a:extLst>
          </p:cNvPr>
          <p:cNvGrpSpPr/>
          <p:nvPr/>
        </p:nvGrpSpPr>
        <p:grpSpPr>
          <a:xfrm>
            <a:off x="7128749" y="1902984"/>
            <a:ext cx="3521226" cy="4075192"/>
            <a:chOff x="7211292" y="1943957"/>
            <a:chExt cx="3521226" cy="4075192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A1DA5632-5229-72A4-5D5D-73DAECC32C72}"/>
                </a:ext>
              </a:extLst>
            </p:cNvPr>
            <p:cNvGrpSpPr/>
            <p:nvPr/>
          </p:nvGrpSpPr>
          <p:grpSpPr>
            <a:xfrm>
              <a:off x="7211292" y="1943957"/>
              <a:ext cx="3521226" cy="4075192"/>
              <a:chOff x="5264508" y="1848604"/>
              <a:chExt cx="3521226" cy="4075192"/>
            </a:xfrm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75DE129E-9200-B01E-BA87-23C30960DF95}"/>
                  </a:ext>
                </a:extLst>
              </p:cNvPr>
              <p:cNvGrpSpPr/>
              <p:nvPr/>
            </p:nvGrpSpPr>
            <p:grpSpPr>
              <a:xfrm>
                <a:off x="5702433" y="5009396"/>
                <a:ext cx="2743200" cy="914400"/>
                <a:chOff x="4245889" y="5323234"/>
                <a:chExt cx="2743200" cy="914400"/>
              </a:xfrm>
            </p:grpSpPr>
            <p:pic>
              <p:nvPicPr>
                <p:cNvPr id="18" name="그래픽 17" descr="사용자 단색으로 채워진">
                  <a:extLst>
                    <a:ext uri="{FF2B5EF4-FFF2-40B4-BE49-F238E27FC236}">
                      <a16:creationId xmlns:a16="http://schemas.microsoft.com/office/drawing/2014/main" id="{7B7719BD-9655-164F-6712-F2BD0DD99D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45889" y="532323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9" name="그래픽 18" descr="사용자 단색으로 채워진">
                  <a:extLst>
                    <a:ext uri="{FF2B5EF4-FFF2-40B4-BE49-F238E27FC236}">
                      <a16:creationId xmlns:a16="http://schemas.microsoft.com/office/drawing/2014/main" id="{7FEA2511-DF16-A651-0368-DCF66C0BB3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60289" y="532323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0" name="그래픽 19" descr="사용자 단색으로 채워진">
                  <a:extLst>
                    <a:ext uri="{FF2B5EF4-FFF2-40B4-BE49-F238E27FC236}">
                      <a16:creationId xmlns:a16="http://schemas.microsoft.com/office/drawing/2014/main" id="{55689091-24F5-C82C-DBC6-EB597F666B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74689" y="5323234"/>
                  <a:ext cx="914400" cy="914400"/>
                </a:xfrm>
                <a:prstGeom prst="rect">
                  <a:avLst/>
                </a:prstGeom>
              </p:spPr>
            </p:pic>
          </p:grpSp>
          <p:pic>
            <p:nvPicPr>
              <p:cNvPr id="24" name="그래픽 23" descr="데이터베이스 윤곽선">
                <a:extLst>
                  <a:ext uri="{FF2B5EF4-FFF2-40B4-BE49-F238E27FC236}">
                    <a16:creationId xmlns:a16="http://schemas.microsoft.com/office/drawing/2014/main" id="{B54382D1-01C4-89B2-5ED8-CC11D56C2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864293" y="1848604"/>
                <a:ext cx="1333880" cy="1333880"/>
              </a:xfrm>
              <a:prstGeom prst="rect">
                <a:avLst/>
              </a:prstGeom>
            </p:spPr>
          </p:pic>
          <p:pic>
            <p:nvPicPr>
              <p:cNvPr id="28" name="그래픽 27" descr="업로드 윤곽선">
                <a:extLst>
                  <a:ext uri="{FF2B5EF4-FFF2-40B4-BE49-F238E27FC236}">
                    <a16:creationId xmlns:a16="http://schemas.microsoft.com/office/drawing/2014/main" id="{978272D4-97FA-F39E-9DB5-0DDA0B512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159633" y="355737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0" name="그래픽 29" descr="클라우드 컴퓨팅 윤곽선">
                <a:extLst>
                  <a:ext uri="{FF2B5EF4-FFF2-40B4-BE49-F238E27FC236}">
                    <a16:creationId xmlns:a16="http://schemas.microsoft.com/office/drawing/2014/main" id="{43571FE1-DCED-238B-F736-373D80AB0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264508" y="428338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2" name="그래픽 31" descr="클라우드에서 다운로드 윤곽선">
                <a:extLst>
                  <a:ext uri="{FF2B5EF4-FFF2-40B4-BE49-F238E27FC236}">
                    <a16:creationId xmlns:a16="http://schemas.microsoft.com/office/drawing/2014/main" id="{C2929A11-E6A4-7A44-FFFB-A15B3415F7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210508" y="355737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8" name="그래픽 37" descr="셀 타워 단색으로 채워진">
                <a:extLst>
                  <a:ext uri="{FF2B5EF4-FFF2-40B4-BE49-F238E27FC236}">
                    <a16:creationId xmlns:a16="http://schemas.microsoft.com/office/drawing/2014/main" id="{266E63B7-B4F8-08CD-EA3F-C5B9719EA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871334" y="213960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45" name="연결선: 구부러짐 44">
                <a:extLst>
                  <a:ext uri="{FF2B5EF4-FFF2-40B4-BE49-F238E27FC236}">
                    <a16:creationId xmlns:a16="http://schemas.microsoft.com/office/drawing/2014/main" id="{73768D5E-F7F9-7BE2-F87A-0A5687ABD685}"/>
                  </a:ext>
                </a:extLst>
              </p:cNvPr>
              <p:cNvCxnSpPr/>
              <p:nvPr/>
            </p:nvCxnSpPr>
            <p:spPr>
              <a:xfrm rot="5400000">
                <a:off x="6256093" y="2697574"/>
                <a:ext cx="790230" cy="426171"/>
              </a:xfrm>
              <a:prstGeom prst="curvedConnector3">
                <a:avLst>
                  <a:gd name="adj1" fmla="val -16122"/>
                </a:avLst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연결선: 구부러짐 50">
                <a:extLst>
                  <a:ext uri="{FF2B5EF4-FFF2-40B4-BE49-F238E27FC236}">
                    <a16:creationId xmlns:a16="http://schemas.microsoft.com/office/drawing/2014/main" id="{A5EBCE16-F606-508C-2A8F-BDCF72B89074}"/>
                  </a:ext>
                </a:extLst>
              </p:cNvPr>
              <p:cNvCxnSpPr/>
              <p:nvPr/>
            </p:nvCxnSpPr>
            <p:spPr>
              <a:xfrm rot="5400000" flipH="1" flipV="1">
                <a:off x="7896468" y="3465404"/>
                <a:ext cx="850870" cy="247460"/>
              </a:xfrm>
              <a:prstGeom prst="curvedConnector3">
                <a:avLst>
                  <a:gd name="adj1" fmla="val -20183"/>
                </a:avLst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8" name="그래픽 57" descr="WiFi 윤곽선">
              <a:extLst>
                <a:ext uri="{FF2B5EF4-FFF2-40B4-BE49-F238E27FC236}">
                  <a16:creationId xmlns:a16="http://schemas.microsoft.com/office/drawing/2014/main" id="{D0AD9909-5471-DCB3-6529-663DAE4B8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750352" y="4561487"/>
              <a:ext cx="614195" cy="614195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14837A0-79E0-A4D1-F1DD-0DCA0083D13A}"/>
              </a:ext>
            </a:extLst>
          </p:cNvPr>
          <p:cNvCxnSpPr>
            <a:cxnSpLocks/>
          </p:cNvCxnSpPr>
          <p:nvPr/>
        </p:nvCxnSpPr>
        <p:spPr>
          <a:xfrm flipH="1">
            <a:off x="6095275" y="1568677"/>
            <a:ext cx="1" cy="4743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27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3079-A426-C51F-B8A8-B3B76D19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6CB77F8-A6D3-91EE-C56C-40D5B8AA8A39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F6A0C7-35CB-8C72-EA94-E143599BEF9D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이상치 탐지 방법론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6C79A41-982F-E030-58E5-B8AA4BCE0619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AEA72024-24BA-1C62-9C13-32B18F940609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20BAB-FB94-A922-AD51-DC919D4FD5F9}"/>
              </a:ext>
            </a:extLst>
          </p:cNvPr>
          <p:cNvSpPr txBox="1"/>
          <p:nvPr/>
        </p:nvSpPr>
        <p:spPr>
          <a:xfrm>
            <a:off x="403858" y="934204"/>
            <a:ext cx="10949941" cy="493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sz="2000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이상 감지</a:t>
            </a:r>
            <a:endParaRPr lang="en-US" altLang="ko-KR" sz="20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이상치는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무작위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발생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간격 이상 또는 불연속성 발생 </a:t>
            </a:r>
            <a:r>
              <a:rPr lang="en-US" altLang="ko-KR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전력 관리 프로세스의 정확도 떨어짐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이상치 제거를 위해 </a:t>
            </a:r>
            <a:r>
              <a:rPr lang="en-US" altLang="ko-KR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Autoencoder</a:t>
            </a:r>
            <a:r>
              <a:rPr lang="en-US" altLang="ko-KR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채택 및 새로운 데이터에 대한 결과 예측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 latinLnBrk="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 감지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 가능한 스마트 미터로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비용 절감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및 에너지 소비 </a:t>
            </a:r>
            <a:r>
              <a:rPr lang="ko-KR" altLang="en-US" b="1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최적화</a:t>
            </a:r>
            <a:endParaRPr lang="en-US" altLang="ko-KR" b="1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5" name="그래픽 14" descr="태블릿 단색으로 채워진">
            <a:extLst>
              <a:ext uri="{FF2B5EF4-FFF2-40B4-BE49-F238E27FC236}">
                <a16:creationId xmlns:a16="http://schemas.microsoft.com/office/drawing/2014/main" id="{B7788238-8B4A-46B1-E206-289B7D670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922" y="1946853"/>
            <a:ext cx="914400" cy="914400"/>
          </a:xfrm>
          <a:prstGeom prst="rect">
            <a:avLst/>
          </a:prstGeom>
        </p:spPr>
      </p:pic>
      <p:pic>
        <p:nvPicPr>
          <p:cNvPr id="31" name="그래픽 30" descr="연결됨 연결 해제됨 단색으로 채워진">
            <a:extLst>
              <a:ext uri="{FF2B5EF4-FFF2-40B4-BE49-F238E27FC236}">
                <a16:creationId xmlns:a16="http://schemas.microsoft.com/office/drawing/2014/main" id="{FE95F2C9-DE58-F90D-2497-C5857A1FD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3155" y="1946853"/>
            <a:ext cx="914400" cy="914400"/>
          </a:xfrm>
          <a:prstGeom prst="rect">
            <a:avLst/>
          </a:prstGeom>
        </p:spPr>
      </p:pic>
      <p:pic>
        <p:nvPicPr>
          <p:cNvPr id="34" name="그래픽 33" descr="터치 스크린 윤곽선">
            <a:extLst>
              <a:ext uri="{FF2B5EF4-FFF2-40B4-BE49-F238E27FC236}">
                <a16:creationId xmlns:a16="http://schemas.microsoft.com/office/drawing/2014/main" id="{32501B9A-C8C3-073E-3626-B18ADC7C0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5456" y="1946853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364D240-F7B9-13FA-5447-12C78EA8B26A}"/>
              </a:ext>
            </a:extLst>
          </p:cNvPr>
          <p:cNvSpPr txBox="1"/>
          <p:nvPr/>
        </p:nvSpPr>
        <p:spPr>
          <a:xfrm>
            <a:off x="703470" y="2810778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측정 기기 고장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D80B79C-83BC-981B-7BD3-E911FFF80FA8}"/>
              </a:ext>
            </a:extLst>
          </p:cNvPr>
          <p:cNvGrpSpPr/>
          <p:nvPr/>
        </p:nvGrpSpPr>
        <p:grpSpPr>
          <a:xfrm>
            <a:off x="5241747" y="1870586"/>
            <a:ext cx="2104598" cy="990667"/>
            <a:chOff x="3431854" y="1946853"/>
            <a:chExt cx="2104598" cy="990667"/>
          </a:xfrm>
        </p:grpSpPr>
        <p:pic>
          <p:nvPicPr>
            <p:cNvPr id="6" name="그래픽 5" descr="전구 윤곽선">
              <a:extLst>
                <a:ext uri="{FF2B5EF4-FFF2-40B4-BE49-F238E27FC236}">
                  <a16:creationId xmlns:a16="http://schemas.microsoft.com/office/drawing/2014/main" id="{5C768E29-1B81-548D-1845-8301E70B4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22052" y="2023120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전구 및 기어  윤곽선">
              <a:extLst>
                <a:ext uri="{FF2B5EF4-FFF2-40B4-BE49-F238E27FC236}">
                  <a16:creationId xmlns:a16="http://schemas.microsoft.com/office/drawing/2014/main" id="{6498AD20-1C5D-DCBF-FFCE-82E8EA01A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431854" y="1946853"/>
              <a:ext cx="914400" cy="914400"/>
            </a:xfrm>
            <a:prstGeom prst="rect">
              <a:avLst/>
            </a:prstGeom>
          </p:spPr>
        </p:pic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DF18B021-3EC7-7702-96E7-A0046E908088}"/>
                </a:ext>
              </a:extLst>
            </p:cNvPr>
            <p:cNvSpPr/>
            <p:nvPr/>
          </p:nvSpPr>
          <p:spPr>
            <a:xfrm>
              <a:off x="4346254" y="2327785"/>
              <a:ext cx="354563" cy="15253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20D887C-9A90-851A-DB67-4599ECB54FD4}"/>
              </a:ext>
            </a:extLst>
          </p:cNvPr>
          <p:cNvGrpSpPr/>
          <p:nvPr/>
        </p:nvGrpSpPr>
        <p:grpSpPr>
          <a:xfrm>
            <a:off x="3246741" y="1579090"/>
            <a:ext cx="938761" cy="1229216"/>
            <a:chOff x="3247249" y="1742685"/>
            <a:chExt cx="938761" cy="1229216"/>
          </a:xfrm>
        </p:grpSpPr>
        <p:pic>
          <p:nvPicPr>
            <p:cNvPr id="27" name="그래픽 26" descr="셀 타워 단색으로 채워진">
              <a:extLst>
                <a:ext uri="{FF2B5EF4-FFF2-40B4-BE49-F238E27FC236}">
                  <a16:creationId xmlns:a16="http://schemas.microsoft.com/office/drawing/2014/main" id="{B71C7CDC-3D53-6EF9-FAB4-839B4C8BC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271610" y="2057501"/>
              <a:ext cx="914400" cy="914400"/>
            </a:xfrm>
            <a:prstGeom prst="rect">
              <a:avLst/>
            </a:prstGeom>
          </p:spPr>
        </p:pic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42F1E4FD-C52A-E7BB-370C-F7F4B9DECAA1}"/>
                </a:ext>
              </a:extLst>
            </p:cNvPr>
            <p:cNvSpPr/>
            <p:nvPr/>
          </p:nvSpPr>
          <p:spPr>
            <a:xfrm rot="5400000">
              <a:off x="3838437" y="2513681"/>
              <a:ext cx="626395" cy="6875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5FEE699E-CBC5-2B25-CAFB-9A25DD71267D}"/>
                </a:ext>
              </a:extLst>
            </p:cNvPr>
            <p:cNvSpPr/>
            <p:nvPr/>
          </p:nvSpPr>
          <p:spPr>
            <a:xfrm rot="5400000">
              <a:off x="3734644" y="2033023"/>
              <a:ext cx="626395" cy="45719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CBD80521-6526-0FF3-2EB8-639416368896}"/>
                </a:ext>
              </a:extLst>
            </p:cNvPr>
            <p:cNvSpPr/>
            <p:nvPr/>
          </p:nvSpPr>
          <p:spPr>
            <a:xfrm rot="5400000">
              <a:off x="2968426" y="2260057"/>
              <a:ext cx="626395" cy="6875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E43DE8F-77EF-637B-7AEA-CD1F50B946F2}"/>
              </a:ext>
            </a:extLst>
          </p:cNvPr>
          <p:cNvSpPr txBox="1"/>
          <p:nvPr/>
        </p:nvSpPr>
        <p:spPr>
          <a:xfrm>
            <a:off x="2912675" y="2803439"/>
            <a:ext cx="172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측정 센서 성능 저하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68C77-41F8-0CA5-30CC-5260BA5A8698}"/>
              </a:ext>
            </a:extLst>
          </p:cNvPr>
          <p:cNvSpPr txBox="1"/>
          <p:nvPr/>
        </p:nvSpPr>
        <p:spPr>
          <a:xfrm>
            <a:off x="6008812" y="2810776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EFB3F5-095C-7107-2AED-D61AEE9DE0D6}"/>
              </a:ext>
            </a:extLst>
          </p:cNvPr>
          <p:cNvSpPr txBox="1"/>
          <p:nvPr/>
        </p:nvSpPr>
        <p:spPr>
          <a:xfrm>
            <a:off x="7742976" y="2810776"/>
            <a:ext cx="195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설치 오류 및 보호 불량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D0B118-1C63-A21D-A484-A445B1587290}"/>
              </a:ext>
            </a:extLst>
          </p:cNvPr>
          <p:cNvSpPr txBox="1"/>
          <p:nvPr/>
        </p:nvSpPr>
        <p:spPr>
          <a:xfrm>
            <a:off x="10151908" y="2812694"/>
            <a:ext cx="1276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의도적인 손상</a:t>
            </a:r>
          </a:p>
        </p:txBody>
      </p:sp>
      <p:sp>
        <p:nvSpPr>
          <p:cNvPr id="50" name="&quot;허용 안 됨&quot; 기호 49">
            <a:extLst>
              <a:ext uri="{FF2B5EF4-FFF2-40B4-BE49-F238E27FC236}">
                <a16:creationId xmlns:a16="http://schemas.microsoft.com/office/drawing/2014/main" id="{507B3695-2EEB-8538-7427-051B8D9873F6}"/>
              </a:ext>
            </a:extLst>
          </p:cNvPr>
          <p:cNvSpPr/>
          <p:nvPr/>
        </p:nvSpPr>
        <p:spPr>
          <a:xfrm>
            <a:off x="1511559" y="1817640"/>
            <a:ext cx="607280" cy="586414"/>
          </a:xfrm>
          <a:prstGeom prst="noSmoking">
            <a:avLst>
              <a:gd name="adj" fmla="val 997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십자형 51">
            <a:extLst>
              <a:ext uri="{FF2B5EF4-FFF2-40B4-BE49-F238E27FC236}">
                <a16:creationId xmlns:a16="http://schemas.microsoft.com/office/drawing/2014/main" id="{BE5653DE-B998-3E28-FBE6-3C9609D1780A}"/>
              </a:ext>
            </a:extLst>
          </p:cNvPr>
          <p:cNvSpPr/>
          <p:nvPr/>
        </p:nvSpPr>
        <p:spPr>
          <a:xfrm rot="2634085">
            <a:off x="10129364" y="1489652"/>
            <a:ext cx="914400" cy="914400"/>
          </a:xfrm>
          <a:prstGeom prst="plus">
            <a:avLst>
              <a:gd name="adj" fmla="val 49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06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9AF9-09CD-A93B-C115-CB135111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D0761E5-E9C5-CDEE-B201-19B28BD98648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71000E-F19E-AAEA-EF9C-B1CE79CB96E4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이상치 탐지 방법론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AC36EDD-9B69-CA9E-C278-C154FEB03452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A4DA52E7-9458-F82F-7427-C09CCDC7BB43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5FE5D-1463-FC01-9973-813F639BEE9E}"/>
              </a:ext>
            </a:extLst>
          </p:cNvPr>
          <p:cNvSpPr txBox="1"/>
          <p:nvPr/>
        </p:nvSpPr>
        <p:spPr>
          <a:xfrm>
            <a:off x="403858" y="934204"/>
            <a:ext cx="10949941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en-US" altLang="ko-KR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GCN-BILSTM Autoencoder</a:t>
            </a: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DEDA4-6946-DE60-26F0-86F691A07B35}"/>
              </a:ext>
            </a:extLst>
          </p:cNvPr>
          <p:cNvSpPr txBox="1"/>
          <p:nvPr/>
        </p:nvSpPr>
        <p:spPr>
          <a:xfrm>
            <a:off x="530514" y="175487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GCN-</a:t>
            </a:r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양방향 </a:t>
            </a:r>
            <a:r>
              <a:rPr lang="en-US" altLang="ko-KR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 </a:t>
            </a:r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네트워크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A8C4F7-486E-4DC0-C9F0-09683D6B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3858" y="2124210"/>
            <a:ext cx="4132926" cy="41179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CD96CB-63F9-F8DB-2568-F1F76CE14837}"/>
              </a:ext>
            </a:extLst>
          </p:cNvPr>
          <p:cNvSpPr txBox="1"/>
          <p:nvPr/>
        </p:nvSpPr>
        <p:spPr>
          <a:xfrm>
            <a:off x="4938722" y="2456171"/>
            <a:ext cx="6917278" cy="3513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GCN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/>
              </a:rPr>
              <a:t>GCN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/>
              </a:rPr>
              <a:t>은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/>
              </a:rPr>
              <a:t>CNN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/>
              </a:rPr>
              <a:t>과 달리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/>
              </a:rPr>
              <a:t>,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/>
              </a:rPr>
              <a:t>노드 연결 수가 다양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/>
              </a:rPr>
              <a:t>하고 노드가 정렬되어 있지 않음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/>
              </a:rPr>
              <a:t>노드 간 관계에 더 집중을 하며, 과거의 데이터로 인해 미래에 영향을 받는 부분을 더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/>
              </a:rPr>
              <a:t>강하게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/>
              </a:rPr>
              <a:t> 반영</a:t>
            </a:r>
            <a:endParaRPr lang="ko-KR" dirty="0">
              <a:ea typeface="맑은 고딕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시계열 데이터에 적합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기존의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RNN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장 </a:t>
            </a:r>
            <a:r>
              <a:rPr lang="en-US" altLang="ko-KR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·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단기 문제점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보완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한 셀 형식의 네트워크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Input, forget, cell, output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레이어로 구성</a:t>
            </a:r>
          </a:p>
        </p:txBody>
      </p:sp>
    </p:spTree>
    <p:extLst>
      <p:ext uri="{BB962C8B-B14F-4D97-AF65-F5344CB8AC3E}">
        <p14:creationId xmlns:p14="http://schemas.microsoft.com/office/powerpoint/2010/main" val="41408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90BD-B3E8-73CD-D51A-779FF097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45A4FD2-9B6A-889D-2793-4EC638D1B9F9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65223F8-2102-8379-EBE9-CF4A2E3AC2BA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이상치 탐지 방법론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FA7130D-F1DF-B542-98A0-327F456D1BC5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7566AC86-90EB-5BD5-D31E-E7B99FDDDD9E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4E0B5-64A0-B6A1-D064-5B74D1D8093D}"/>
              </a:ext>
            </a:extLst>
          </p:cNvPr>
          <p:cNvSpPr txBox="1"/>
          <p:nvPr/>
        </p:nvSpPr>
        <p:spPr>
          <a:xfrm>
            <a:off x="403858" y="934204"/>
            <a:ext cx="10949941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en-US" altLang="ko-KR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GCN-BILSTM Autoencoder</a:t>
            </a: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A8844-AFAA-4AD0-2A0D-2D3B3E0ACC3F}"/>
              </a:ext>
            </a:extLst>
          </p:cNvPr>
          <p:cNvSpPr txBox="1"/>
          <p:nvPr/>
        </p:nvSpPr>
        <p:spPr>
          <a:xfrm>
            <a:off x="530514" y="175487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GCN-</a:t>
            </a:r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양방향 </a:t>
            </a:r>
            <a:r>
              <a:rPr lang="en-US" altLang="ko-KR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 </a:t>
            </a:r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네트워크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8F1FC-CE59-D6B3-4070-3F2FE710CFA4}"/>
              </a:ext>
            </a:extLst>
          </p:cNvPr>
          <p:cNvSpPr txBox="1"/>
          <p:nvPr/>
        </p:nvSpPr>
        <p:spPr>
          <a:xfrm>
            <a:off x="4938722" y="2236286"/>
            <a:ext cx="6917278" cy="46217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 </a:t>
            </a: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구조</a:t>
            </a:r>
            <a:endParaRPr lang="en-US" altLang="ko-KR" dirty="0">
              <a:solidFill>
                <a:schemeClr val="tx2">
                  <a:lumMod val="60000"/>
                  <a:lumOff val="4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Input, forget, cell, output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으로 구성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Sigmoid: 0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과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의 값 출력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Input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과 </a:t>
            </a:r>
            <a:r>
              <a:rPr lang="en-US" altLang="ko-KR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forget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분리 여부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결정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output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에서는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구조의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어느 부분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출력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할지 결정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Tanh: Sigmoid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로 결정된 </a:t>
            </a:r>
            <a:r>
              <a:rPr lang="en-US" altLang="ko-KR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output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값에 적용하여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0~1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사이의 값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출력</a:t>
            </a:r>
            <a:endParaRPr lang="en-US" altLang="ko-KR" sz="1600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2">
                  <a:lumMod val="60000"/>
                  <a:lumOff val="4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BiLSTM</a:t>
            </a:r>
            <a:endParaRPr lang="en-US" altLang="ko-KR" dirty="0">
              <a:solidFill>
                <a:schemeClr val="tx2">
                  <a:lumMod val="60000"/>
                  <a:lumOff val="4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의 순차적 구조 대신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양방향으로 데이터를 처리하여 데이터의 정보를 더욱 풍부하게 반영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따라서 두 개의 독립적인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LSTM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네트워크 사용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하나는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순방향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하나는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역방향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으로 데이터 계산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C9AEF9-B1DC-B83C-72E5-B23AC337C818}"/>
              </a:ext>
            </a:extLst>
          </p:cNvPr>
          <p:cNvGrpSpPr/>
          <p:nvPr/>
        </p:nvGrpSpPr>
        <p:grpSpPr>
          <a:xfrm>
            <a:off x="202317" y="2456172"/>
            <a:ext cx="4491604" cy="3444773"/>
            <a:chOff x="326302" y="2586218"/>
            <a:chExt cx="4155386" cy="306477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239CBF0-95D2-107E-B67B-D012EA144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3858" y="2586218"/>
              <a:ext cx="4053445" cy="98172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73E7D2-E3D6-23AF-BDE3-F47C36DA6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26302" y="3677278"/>
              <a:ext cx="4155386" cy="1973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371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6FECA-47A9-D1B1-3AFE-890127F4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A9E178B-683D-E3CC-3830-682DAE6BD1B8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47DFF8C-0750-941A-3F1A-216282347FB2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이상치 탐지 방법론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EA7DBA1-D596-1B84-8745-8B3C16B2C477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A397BADF-8360-CF35-8603-139E211F030E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AD5E9-8C85-E8D4-00AB-083965FA844E}"/>
              </a:ext>
            </a:extLst>
          </p:cNvPr>
          <p:cNvSpPr txBox="1"/>
          <p:nvPr/>
        </p:nvSpPr>
        <p:spPr>
          <a:xfrm>
            <a:off x="403858" y="934204"/>
            <a:ext cx="10949941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en-US" altLang="ko-KR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GCN-BILSTM Autoencoder</a:t>
            </a:r>
          </a:p>
          <a:p>
            <a:pPr latinLnBrk="0">
              <a:lnSpc>
                <a:spcPct val="150000"/>
              </a:lnSpc>
              <a:spcAft>
                <a:spcPts val="800"/>
              </a:spcAft>
            </a:pP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BCCBA-92A7-3D65-FA52-8129AD9D6E18}"/>
              </a:ext>
            </a:extLst>
          </p:cNvPr>
          <p:cNvSpPr txBox="1"/>
          <p:nvPr/>
        </p:nvSpPr>
        <p:spPr>
          <a:xfrm>
            <a:off x="530514" y="1754878"/>
            <a:ext cx="1582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Autoencoder</a:t>
            </a:r>
            <a:endParaRPr lang="ko-KR" altLang="en-US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5" name="그림 4" descr="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08B0694-75B7-08B7-C446-7713B240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70" y="2575552"/>
            <a:ext cx="5664487" cy="3218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D16EB7-EC38-E46F-161A-F32849D3FD16}"/>
              </a:ext>
            </a:extLst>
          </p:cNvPr>
          <p:cNvSpPr txBox="1"/>
          <p:nvPr/>
        </p:nvSpPr>
        <p:spPr>
          <a:xfrm>
            <a:off x="6749592" y="2420313"/>
            <a:ext cx="5442408" cy="23595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Autoencoder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GCN-BILSTM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으로 구성된 네트워크에 입력층을 구성하여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시퀀스를 처리</a:t>
            </a:r>
            <a:endParaRPr lang="en-US" altLang="ko-KR" sz="16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처리된 시퀀스는 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Decoder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입력 데이터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(Encoder)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및 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예측 데이터</a:t>
            </a:r>
            <a:r>
              <a:rPr lang="ko-KR" altLang="en-US" sz="16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재구성</a:t>
            </a:r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-&gt; </a:t>
            </a:r>
            <a:r>
              <a:rPr lang="ko-KR" altLang="en-US" sz="1600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임계값</a:t>
            </a:r>
            <a:r>
              <a:rPr lang="ko-KR" altLang="en-US" sz="16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</a:t>
            </a:r>
            <a:r>
              <a:rPr lang="ko-KR" altLang="en-US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기반으로 </a:t>
            </a:r>
            <a:r>
              <a:rPr lang="ko-KR" altLang="en-US" sz="1600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이상값</a:t>
            </a:r>
            <a:r>
              <a:rPr lang="ko-KR" altLang="en-US" sz="1600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검출</a:t>
            </a:r>
            <a:endParaRPr lang="en-US" altLang="ko-KR" sz="1600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47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FD4A-7064-39A7-3B31-82B9A23B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6F53C2-E101-50DA-9823-AB0B09C0D0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en-US" altLang="ko-KR" spc="-25" smtClean="0"/>
              <a:t>11</a:t>
            </a:fld>
            <a:endParaRPr lang="ko-KR" altLang="en-US" spc="-25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66D9A79-0779-3ED5-4317-95C983795B12}"/>
              </a:ext>
            </a:extLst>
          </p:cNvPr>
          <p:cNvGrpSpPr/>
          <p:nvPr/>
        </p:nvGrpSpPr>
        <p:grpSpPr>
          <a:xfrm>
            <a:off x="2719239" y="2044699"/>
            <a:ext cx="6757162" cy="1645687"/>
            <a:chOff x="3073400" y="1659467"/>
            <a:chExt cx="6757162" cy="2764669"/>
          </a:xfrm>
        </p:grpSpPr>
        <p:pic>
          <p:nvPicPr>
            <p:cNvPr id="3" name="object 2">
              <a:extLst>
                <a:ext uri="{FF2B5EF4-FFF2-40B4-BE49-F238E27FC236}">
                  <a16:creationId xmlns:a16="http://schemas.microsoft.com/office/drawing/2014/main" id="{1AF1F01D-1630-3109-CCAD-117BD4BEDA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3073400" y="1659467"/>
              <a:ext cx="102419" cy="2538907"/>
            </a:xfrm>
            <a:prstGeom prst="rect">
              <a:avLst/>
            </a:prstGeom>
          </p:spPr>
        </p:pic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22507FA9-E84F-3E26-8432-1C2DECE704B9}"/>
                </a:ext>
              </a:extLst>
            </p:cNvPr>
            <p:cNvSpPr txBox="1"/>
            <p:nvPr/>
          </p:nvSpPr>
          <p:spPr>
            <a:xfrm>
              <a:off x="3273722" y="2085339"/>
              <a:ext cx="6395478" cy="447031"/>
            </a:xfrm>
            <a:prstGeom prst="rect">
              <a:avLst/>
            </a:prstGeom>
          </p:spPr>
          <p:txBody>
            <a:bodyPr vert="horz" wrap="square" lIns="0" tIns="50165" rIns="0" bIns="0" rtlCol="0" anchor="t">
              <a:spAutoFit/>
            </a:bodyPr>
            <a:lstStyle/>
            <a:p>
              <a:pPr marL="12700">
                <a:spcBef>
                  <a:spcPts val="395"/>
                </a:spcBef>
                <a:defRPr/>
              </a:pP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교수님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리뷰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및 학</a:t>
              </a:r>
              <a:r>
                <a:rPr lang="ko-KR" altLang="en-US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술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논문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연결</a:t>
              </a:r>
              <a:r>
                <a:rPr lang="en-US" altLang="ko-KR" sz="1400">
                  <a:solidFill>
                    <a:srgbClr val="252525"/>
                  </a:solidFill>
                  <a:ea typeface="에스코어 드림 4 Regular"/>
                  <a:cs typeface="+mn-lt"/>
                </a:rPr>
                <a:t> </a:t>
              </a:r>
              <a:r>
                <a:rPr lang="en-US" altLang="ko-KR" sz="1400" err="1">
                  <a:solidFill>
                    <a:srgbClr val="252525"/>
                  </a:solidFill>
                  <a:ea typeface="에스코어 드림 4 Regular"/>
                  <a:cs typeface="+mn-lt"/>
                </a:rPr>
                <a:t>방안</a:t>
              </a:r>
              <a:endParaRPr lang="en-US" altLang="ko-KR" sz="1400">
                <a:solidFill>
                  <a:srgbClr val="252525"/>
                </a:solidFill>
                <a:ea typeface="에스코어 드림 4 Regular"/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920406-E66B-1155-EBFA-4FEA574A30E3}"/>
                </a:ext>
              </a:extLst>
            </p:cNvPr>
            <p:cNvSpPr txBox="1"/>
            <p:nvPr/>
          </p:nvSpPr>
          <p:spPr>
            <a:xfrm>
              <a:off x="3273721" y="3028104"/>
              <a:ext cx="6556841" cy="139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6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800" b="1" i="0" u="none" strike="noStrike" kern="1200" cap="none" spc="-10" normalizeH="0" baseline="0" noProof="0">
                  <a:ln>
                    <a:noFill/>
                  </a:ln>
                  <a:solidFill>
                    <a:srgbClr val="0066A6"/>
                  </a:solidFill>
                  <a:effectLst/>
                  <a:uLnTx/>
                  <a:uFillTx/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03 </a:t>
              </a:r>
              <a:r>
                <a:rPr lang="ko-KR" altLang="en-US" sz="4800" b="1" spc="-10">
                  <a:solidFill>
                    <a:srgbClr val="0066A6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  <a:cs typeface="Malgun Gothic"/>
                </a:rPr>
                <a:t>논문 연결 방안</a:t>
              </a:r>
              <a:endParaRPr kumimoji="0" lang="ko-KR" altLang="en-US" sz="4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26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97A95-B0E5-781E-ADA2-F664EF9F6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28AA1E8D-6A9A-20BB-3D13-305DD2388AAF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4476507-ACE8-AC04-A43A-02E34AAF23F2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논문 연결 방안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9C8139A-A006-0BB5-47BF-21F8839214D8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FF8DDA1-8E17-225F-D262-1C39F8495929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AF4CF-D931-3176-2D56-2B7715364BB3}"/>
              </a:ext>
            </a:extLst>
          </p:cNvPr>
          <p:cNvSpPr txBox="1"/>
          <p:nvPr/>
        </p:nvSpPr>
        <p:spPr>
          <a:xfrm>
            <a:off x="403858" y="934204"/>
            <a:ext cx="10949941" cy="502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ko-KR" altLang="en-US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비교 및 </a:t>
            </a:r>
            <a:r>
              <a:rPr lang="en-US" altLang="ko-KR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FFT </a:t>
            </a:r>
            <a:r>
              <a:rPr lang="ko-KR" altLang="en-US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논문 문제점</a:t>
            </a: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98F4A-247F-3F36-C74E-7A74780ABAF1}"/>
              </a:ext>
            </a:extLst>
          </p:cNvPr>
          <p:cNvSpPr txBox="1"/>
          <p:nvPr/>
        </p:nvSpPr>
        <p:spPr>
          <a:xfrm>
            <a:off x="2783840" y="1504808"/>
            <a:ext cx="3622076" cy="36933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교수님 논문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DF9494-D31C-2757-8362-1852736AF55E}"/>
              </a:ext>
            </a:extLst>
          </p:cNvPr>
          <p:cNvSpPr txBox="1"/>
          <p:nvPr/>
        </p:nvSpPr>
        <p:spPr>
          <a:xfrm>
            <a:off x="6915882" y="1504808"/>
            <a:ext cx="4971617" cy="3693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8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FFT </a:t>
            </a:r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윈도우 구성 </a:t>
            </a:r>
            <a:r>
              <a:rPr lang="en-US" altLang="ko-KR" sz="18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GELU CNN-GRU AE </a:t>
            </a:r>
            <a:r>
              <a:rPr lang="ko-KR" altLang="en-US" sz="18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논문</a:t>
            </a:r>
            <a:endParaRPr lang="ko-KR" altLang="en-US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01810F-003C-29B7-3B6F-28F2435A3ADA}"/>
              </a:ext>
            </a:extLst>
          </p:cNvPr>
          <p:cNvSpPr txBox="1"/>
          <p:nvPr/>
        </p:nvSpPr>
        <p:spPr>
          <a:xfrm>
            <a:off x="241065" y="2193485"/>
            <a:ext cx="2209020" cy="702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이상치 탐지 방법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손실함수 및 평가 방법 </a:t>
            </a: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070B51-2B36-A848-9BC1-212E98C62F97}"/>
              </a:ext>
            </a:extLst>
          </p:cNvPr>
          <p:cNvSpPr txBox="1"/>
          <p:nvPr/>
        </p:nvSpPr>
        <p:spPr>
          <a:xfrm>
            <a:off x="2561042" y="2034147"/>
            <a:ext cx="4450080" cy="61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GCN-</a:t>
            </a:r>
            <a:r>
              <a:rPr lang="en-US" altLang="ko-KR" sz="1200" err="1">
                <a:latin typeface="에스코어 드림 4 Regular" panose="020B0503030302020204" pitchFamily="34" charset="-127"/>
                <a:ea typeface="에스코어 드림 4 Regular"/>
              </a:rPr>
              <a:t>BiLSTM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 Autoencoder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로 이상치 탐지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MSE(</a:t>
            </a:r>
            <a:r>
              <a:rPr lang="ko-KR" altLang="en-US" sz="1200" err="1">
                <a:latin typeface="에스코어 드림 4 Regular" panose="020B0503030302020204" pitchFamily="34" charset="-127"/>
                <a:ea typeface="에스코어 드림 4 Regular"/>
              </a:rPr>
              <a:t>평균제곱오차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), ROC-AUC, F1 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등 평가</a:t>
            </a:r>
            <a:endParaRPr lang="en-US" altLang="ko-KR" sz="1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739DC8-89C8-4259-FC71-6DB793D5EF9F}"/>
              </a:ext>
            </a:extLst>
          </p:cNvPr>
          <p:cNvSpPr txBox="1"/>
          <p:nvPr/>
        </p:nvSpPr>
        <p:spPr>
          <a:xfrm>
            <a:off x="7023674" y="2034147"/>
            <a:ext cx="4733732" cy="1169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FFT 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기반 주기 추출 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+ GELU CNN-GRU AE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DTW(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동적시간왜곡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) 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재구성 오차 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+ Isolation Forest 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이상치 판별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모델 손실함수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: RMSE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이상 탐지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: DTW </a:t>
            </a: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재구성 오차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 </a:t>
            </a:r>
            <a:r>
              <a:rPr lang="en-US" altLang="ko-KR" sz="1200" err="1">
                <a:latin typeface="에스코어 드림 4 Regular" panose="020B0503030302020204" pitchFamily="34" charset="-127"/>
                <a:ea typeface="에스코어 드림 4 Regular"/>
              </a:rPr>
              <a:t>IsolationForest</a:t>
            </a:r>
            <a:endParaRPr lang="ko-KR" altLang="en-US" sz="1200">
              <a:latin typeface="에스코어 드림 4 Regular" panose="020B0503030302020204" pitchFamily="34" charset="-127"/>
              <a:ea typeface="에스코어 드림 4 Regula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A246EE-F6F5-5268-CF56-1B921E63B8DB}"/>
              </a:ext>
            </a:extLst>
          </p:cNvPr>
          <p:cNvSpPr txBox="1"/>
          <p:nvPr/>
        </p:nvSpPr>
        <p:spPr>
          <a:xfrm>
            <a:off x="2561042" y="2646634"/>
            <a:ext cx="4450080" cy="61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손실함수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: MSE (Mean Squared Error)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에스코어 드림 4 Regular" panose="020B0503030302020204" pitchFamily="34" charset="-127"/>
                <a:ea typeface="에스코어 드림 4 Regular"/>
              </a:rPr>
              <a:t>평가</a:t>
            </a:r>
            <a:r>
              <a:rPr lang="en-US" altLang="ko-KR" sz="1200">
                <a:latin typeface="에스코어 드림 4 Regular" panose="020B0503030302020204" pitchFamily="34" charset="-127"/>
                <a:ea typeface="에스코어 드림 4 Regular"/>
              </a:rPr>
              <a:t>: Accuracy, Precision, Recall, F1, AUC</a:t>
            </a:r>
            <a:endParaRPr lang="en-US" altLang="ko-KR" sz="120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8B7646-B34D-816A-1A71-1EDD196CB15E}"/>
              </a:ext>
            </a:extLst>
          </p:cNvPr>
          <p:cNvSpPr txBox="1"/>
          <p:nvPr/>
        </p:nvSpPr>
        <p:spPr>
          <a:xfrm>
            <a:off x="1940017" y="3665583"/>
            <a:ext cx="8037717" cy="2636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DTW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기반 재구성 오차만을 사용</a:t>
            </a:r>
            <a:endParaRPr lang="en-US" altLang="ko-KR" sz="16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	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 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  <a:sym typeface="Wingdings" panose="05000000000000000000" pitchFamily="2" charset="2"/>
              </a:rPr>
              <a:t>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직관적이지만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 </a:t>
            </a:r>
            <a:r>
              <a:rPr lang="ko-KR" altLang="en-US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값 해석이 어렵고 </a:t>
            </a:r>
            <a:r>
              <a:rPr lang="en-US" altLang="ko-KR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threshold </a:t>
            </a:r>
            <a:r>
              <a:rPr lang="ko-KR" altLang="en-US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설정 주관적</a:t>
            </a:r>
            <a:endParaRPr lang="en-US" altLang="ko-KR" sz="16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Isolation Forest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로 윈도우별 이상치 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score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산출 </a:t>
            </a:r>
            <a:endParaRPr lang="en-US" altLang="ko-KR" sz="16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  <a:sym typeface="Wingdings" panose="05000000000000000000" pitchFamily="2" charset="2"/>
              </a:rPr>
              <a:t>	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  <a:sym typeface="Wingdings" panose="05000000000000000000" pitchFamily="2" charset="2"/>
              </a:rPr>
              <a:t>마찬가지로 </a:t>
            </a:r>
            <a:r>
              <a:rPr lang="ko-KR" altLang="en-US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비지도적 분류 모델이라 절대적 기준이 없음</a:t>
            </a:r>
            <a:endParaRPr lang="en-US" altLang="ko-KR" sz="1600">
              <a:solidFill>
                <a:srgbClr val="FF0000"/>
              </a:solidFill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이상치로 판별된 시점의 개수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,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윈도우별 이상 </a:t>
            </a:r>
            <a:r>
              <a:rPr lang="ko-KR" altLang="en-US" sz="1600" err="1">
                <a:latin typeface="에스코어 드림 4 Regular" panose="020B0503030302020204" pitchFamily="34" charset="-127"/>
                <a:ea typeface="에스코어 드림 4 Regular"/>
              </a:rPr>
              <a:t>탐지율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 등은 </a:t>
            </a:r>
            <a:r>
              <a:rPr lang="ko-KR" altLang="en-US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정량적 비교</a:t>
            </a:r>
            <a:r>
              <a:rPr lang="en-US" altLang="ko-KR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/</a:t>
            </a:r>
            <a:r>
              <a:rPr lang="ko-KR" altLang="en-US" sz="160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/>
              </a:rPr>
              <a:t>일반화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에 한계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F1-score, AUC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등 표준적 분류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/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이상탐지 성능지표의 부재 → 연구간 객관성</a:t>
            </a:r>
            <a:r>
              <a:rPr lang="en-US" altLang="ko-KR" sz="1600">
                <a:latin typeface="에스코어 드림 4 Regular" panose="020B0503030302020204" pitchFamily="34" charset="-127"/>
                <a:ea typeface="에스코어 드림 4 Regular"/>
              </a:rPr>
              <a:t>, </a:t>
            </a:r>
            <a:r>
              <a:rPr lang="ko-KR" altLang="en-US" sz="1600">
                <a:latin typeface="에스코어 드림 4 Regular" panose="020B0503030302020204" pitchFamily="34" charset="-127"/>
                <a:ea typeface="에스코어 드림 4 Regular"/>
              </a:rPr>
              <a:t>재현성 문제</a:t>
            </a:r>
            <a:endParaRPr lang="en-US" altLang="ko-KR" sz="1600">
              <a:latin typeface="에스코어 드림 4 Regular" panose="020B0503030302020204" pitchFamily="34" charset="-127"/>
              <a:ea typeface="에스코어 드림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45827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01B8-A27D-594F-32F1-E3488BF6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5062D40B-7842-FAF6-B0CB-B9A1D4FB8D44}"/>
              </a:ext>
            </a:extLst>
          </p:cNvPr>
          <p:cNvCxnSpPr>
            <a:cxnSpLocks/>
          </p:cNvCxnSpPr>
          <p:nvPr/>
        </p:nvCxnSpPr>
        <p:spPr>
          <a:xfrm>
            <a:off x="336000" y="642106"/>
            <a:ext cx="1152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0D2DE3-F8CA-CB4B-84E3-03BBD81283ED}"/>
              </a:ext>
            </a:extLst>
          </p:cNvPr>
          <p:cNvSpPr txBox="1"/>
          <p:nvPr/>
        </p:nvSpPr>
        <p:spPr>
          <a:xfrm>
            <a:off x="703470" y="84654"/>
            <a:ext cx="10783611" cy="4542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ple SD Gothic Neo ExtraBold" panose="02000300000000000000" pitchFamily="2" charset="-127"/>
                <a:ea typeface="Apple SD Gothic Neo ExtraBold"/>
              </a:rPr>
              <a:t>논문 연결 방안</a:t>
            </a:r>
            <a:endParaRPr lang="en-US" altLang="ko-KR" b="1">
              <a:ln>
                <a:solidFill>
                  <a:schemeClr val="accent1">
                    <a:alpha val="0"/>
                  </a:schemeClr>
                </a:solidFill>
              </a:ln>
              <a:latin typeface="Apple SD Gothic Neo ExtraBold" panose="02000300000000000000" pitchFamily="2" charset="-127"/>
              <a:ea typeface="Apple SD Gothic Neo ExtraBold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FBEDC1-CCC6-3653-13CC-58D7B4880FA0}"/>
              </a:ext>
            </a:extLst>
          </p:cNvPr>
          <p:cNvSpPr/>
          <p:nvPr/>
        </p:nvSpPr>
        <p:spPr>
          <a:xfrm>
            <a:off x="350514" y="171711"/>
            <a:ext cx="360000" cy="360000"/>
          </a:xfrm>
          <a:prstGeom prst="ellipse">
            <a:avLst/>
          </a:prstGeom>
          <a:solidFill>
            <a:srgbClr val="004D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0000" rIns="91440" bIns="90000" rtlCol="0" anchor="ctr"/>
          <a:lstStyle/>
          <a:p>
            <a:pPr algn="ctr"/>
            <a:r>
              <a:rPr lang="en-US" altLang="ko-KR" b="1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4BBA7D3-9727-4E05-3B72-C3FEA2A1EF96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BE6155-90EC-3195-AF6A-32423E8DC726}"/>
              </a:ext>
            </a:extLst>
          </p:cNvPr>
          <p:cNvSpPr txBox="1"/>
          <p:nvPr/>
        </p:nvSpPr>
        <p:spPr>
          <a:xfrm>
            <a:off x="403858" y="934204"/>
            <a:ext cx="10949941" cy="502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spcAft>
                <a:spcPts val="800"/>
              </a:spcAft>
            </a:pPr>
            <a:r>
              <a:rPr lang="en-US" altLang="ko-KR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FFT </a:t>
            </a:r>
            <a:r>
              <a:rPr lang="ko-KR" altLang="en-US" sz="2000" b="1" spc="-5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65A5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논문 적용 전략</a:t>
            </a:r>
            <a:endParaRPr lang="en-US" altLang="ko-KR" sz="800" b="1" spc="-5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65A5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7A1C9E-F8E8-534A-3B51-5837F05BD946}"/>
              </a:ext>
            </a:extLst>
          </p:cNvPr>
          <p:cNvSpPr txBox="1"/>
          <p:nvPr/>
        </p:nvSpPr>
        <p:spPr>
          <a:xfrm>
            <a:off x="5517769" y="1485976"/>
            <a:ext cx="6674231" cy="4257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[</a:t>
            </a:r>
            <a:r>
              <a:rPr lang="ko-KR" altLang="en-US" sz="1400" err="1">
                <a:latin typeface="에스코어 드림 4 Regular" panose="020B0503030302020204" pitchFamily="34" charset="-127"/>
                <a:ea typeface="에스코어 드림 4 Regular"/>
              </a:rPr>
              <a:t>임계값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 객관성 부여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Isolation Forest-DTW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오차 분포 계산의 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threshold(2.5)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선정 시 </a:t>
            </a:r>
            <a:endParaRPr lang="en-US" altLang="ko-KR" sz="1400" b="1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기존에는 임의로 지정한 </a:t>
            </a:r>
            <a:r>
              <a:rPr lang="ko-KR" altLang="en-US" sz="1400" err="1">
                <a:latin typeface="에스코어 드림 4 Regular" panose="020B0503030302020204" pitchFamily="34" charset="-127"/>
                <a:ea typeface="에스코어 드림 4 Regular"/>
              </a:rPr>
              <a:t>임계값을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 적용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 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  <a:sym typeface="Wingdings" panose="05000000000000000000" pitchFamily="2" charset="2"/>
              </a:rPr>
              <a:t> 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ROC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커브 기반 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threshold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탐색하여 </a:t>
            </a:r>
            <a:r>
              <a:rPr lang="ko-KR" altLang="en-US" sz="1400" b="1" err="1">
                <a:latin typeface="에스코어 드림 4 Regular" panose="020B0503030302020204" pitchFamily="34" charset="-127"/>
                <a:ea typeface="에스코어 드림 4 Regular"/>
              </a:rPr>
              <a:t>임계값을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적용하여 객관성 부여 방법</a:t>
            </a:r>
            <a:endParaRPr lang="en-US" altLang="ko-KR" sz="1400" b="1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[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평가 방법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ground truth(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실제 이상 구간 라벨</a:t>
            </a: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)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데이터셋을 활용해</a:t>
            </a: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confusion matrix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생성 가능</a:t>
            </a: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에스코어 드림 4 Regular" panose="020B0503030302020204" pitchFamily="34" charset="-127"/>
                <a:ea typeface="에스코어 드림 4 Regular"/>
              </a:rPr>
              <a:t>Precision/Recall/F1-score/AUC </a:t>
            </a: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등 정량적 평가 가능</a:t>
            </a: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  <a:sym typeface="Wingdings" panose="05000000000000000000" pitchFamily="2" charset="2"/>
              </a:rPr>
              <a:t>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여러 윈도우 크기별 이상 </a:t>
            </a:r>
            <a:r>
              <a:rPr lang="ko-KR" altLang="en-US" sz="1400" b="1" err="1">
                <a:latin typeface="에스코어 드림 4 Regular" panose="020B0503030302020204" pitchFamily="34" charset="-127"/>
                <a:ea typeface="에스코어 드림 4 Regular"/>
              </a:rPr>
              <a:t>탐지율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, FP/FN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비율을 분석해 모델의 강점</a:t>
            </a: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·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약점 진단</a:t>
            </a:r>
            <a:endParaRPr lang="en-US" altLang="ko-KR" sz="1400" b="1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에스코어 드림 4 Regular" panose="020B0503030302020204" pitchFamily="34" charset="-127"/>
                <a:ea typeface="에스코어 드림 4 Regular"/>
              </a:rPr>
              <a:t>최종적으로</a:t>
            </a:r>
            <a:endParaRPr lang="en-US" altLang="ko-KR" sz="1400">
              <a:latin typeface="에스코어 드림 4 Regular" panose="020B0503030302020204" pitchFamily="34" charset="-127"/>
              <a:ea typeface="에스코어 드림 4 Regular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에스코어 드림 4 Regular" panose="020B0503030302020204" pitchFamily="34" charset="-127"/>
                <a:ea typeface="에스코어 드림 4 Regular"/>
              </a:rPr>
              <a:t>MSE, RMSE, DTW </a:t>
            </a:r>
            <a:r>
              <a:rPr lang="ko-KR" altLang="en-US" sz="1400" b="1">
                <a:latin typeface="에스코어 드림 4 Regular" panose="020B0503030302020204" pitchFamily="34" charset="-127"/>
                <a:ea typeface="에스코어 드림 4 Regular"/>
              </a:rPr>
              <a:t>등 다양한 오차 지표를 한 개의 표로 비교하여 제시</a:t>
            </a:r>
            <a:endParaRPr lang="en-US" altLang="ko-KR" sz="1400" b="1">
              <a:latin typeface="에스코어 드림 4 Regular" panose="020B0503030302020204" pitchFamily="34" charset="-127"/>
              <a:ea typeface="에스코어 드림 4 Regula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67EF76-943F-1A3F-C86D-899F169AF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5" y="4720387"/>
            <a:ext cx="5294345" cy="10231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5B01DC-942D-D05C-62DC-1E5D697DF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1485976"/>
            <a:ext cx="3404550" cy="311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12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E895-942E-65B7-5041-E4A1405B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1A4333-F49C-1F42-93CD-CA0B09F26993}"/>
              </a:ext>
            </a:extLst>
          </p:cNvPr>
          <p:cNvSpPr txBox="1"/>
          <p:nvPr/>
        </p:nvSpPr>
        <p:spPr>
          <a:xfrm>
            <a:off x="4220859" y="2813447"/>
            <a:ext cx="375028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4000" b="1" spc="-10">
                <a:solidFill>
                  <a:prstClr val="black"/>
                </a:solidFill>
                <a:latin typeface="Malgun Gothic"/>
                <a:ea typeface="맑은 고딕"/>
              </a:rPr>
              <a:t>감사합니다</a:t>
            </a:r>
            <a:endParaRPr lang="en-US" altLang="ko-KR" sz="2000" b="1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9" name="직선 연결선[R] 3">
            <a:extLst>
              <a:ext uri="{FF2B5EF4-FFF2-40B4-BE49-F238E27FC236}">
                <a16:creationId xmlns:a16="http://schemas.microsoft.com/office/drawing/2014/main" id="{23A668CF-629B-42C6-BCB2-7CCD1568B3B8}"/>
              </a:ext>
            </a:extLst>
          </p:cNvPr>
          <p:cNvCxnSpPr>
            <a:cxnSpLocks/>
          </p:cNvCxnSpPr>
          <p:nvPr/>
        </p:nvCxnSpPr>
        <p:spPr>
          <a:xfrm>
            <a:off x="4296000" y="2520660"/>
            <a:ext cx="360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4">
            <a:extLst>
              <a:ext uri="{FF2B5EF4-FFF2-40B4-BE49-F238E27FC236}">
                <a16:creationId xmlns:a16="http://schemas.microsoft.com/office/drawing/2014/main" id="{7E536B3E-9830-0FE3-EA22-61495C59FB01}"/>
              </a:ext>
            </a:extLst>
          </p:cNvPr>
          <p:cNvCxnSpPr>
            <a:cxnSpLocks/>
          </p:cNvCxnSpPr>
          <p:nvPr/>
        </p:nvCxnSpPr>
        <p:spPr>
          <a:xfrm>
            <a:off x="4296000" y="3814120"/>
            <a:ext cx="3600000" cy="0"/>
          </a:xfrm>
          <a:prstGeom prst="line">
            <a:avLst/>
          </a:prstGeom>
          <a:ln w="38100">
            <a:solidFill>
              <a:srgbClr val="004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9">
            <a:extLst>
              <a:ext uri="{FF2B5EF4-FFF2-40B4-BE49-F238E27FC236}">
                <a16:creationId xmlns:a16="http://schemas.microsoft.com/office/drawing/2014/main" id="{E62A6626-B04E-375F-B7DA-122A58EABA42}"/>
              </a:ext>
            </a:extLst>
          </p:cNvPr>
          <p:cNvSpPr txBox="1">
            <a:spLocks/>
          </p:cNvSpPr>
          <p:nvPr/>
        </p:nvSpPr>
        <p:spPr>
          <a:xfrm>
            <a:off x="11757406" y="6498684"/>
            <a:ext cx="26606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200" b="1" i="0" kern="1200">
                <a:solidFill>
                  <a:srgbClr val="0066A6"/>
                </a:solidFill>
                <a:latin typeface="Malgun Gothic"/>
                <a:ea typeface="+mn-ea"/>
                <a:cs typeface="Malgun Gothic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1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altLang="ko-KR" sz="1200" b="1" i="0" u="none" strike="noStrike" kern="1200" cap="none" spc="-25" normalizeH="0" baseline="0" noProof="0" smtClean="0">
                <a:ln>
                  <a:noFill/>
                </a:ln>
                <a:solidFill>
                  <a:srgbClr val="0066A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</a:rPr>
              <a:pPr marL="3810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20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1" i="0" u="none" strike="noStrike" kern="1200" cap="none" spc="-25" normalizeH="0" baseline="0" noProof="0">
              <a:ln>
                <a:noFill/>
              </a:ln>
              <a:solidFill>
                <a:srgbClr val="0066A6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473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72de55-9eef-4dbb-832c-135f7a0ab6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57588C6E6823A4DAE0045A456D03093" ma:contentTypeVersion="6" ma:contentTypeDescription="새 문서를 만듭니다." ma:contentTypeScope="" ma:versionID="ab920e2e5758ea8e23b2b09265141b40">
  <xsd:schema xmlns:xsd="http://www.w3.org/2001/XMLSchema" xmlns:xs="http://www.w3.org/2001/XMLSchema" xmlns:p="http://schemas.microsoft.com/office/2006/metadata/properties" xmlns:ns3="9172de55-9eef-4dbb-832c-135f7a0ab6db" targetNamespace="http://schemas.microsoft.com/office/2006/metadata/properties" ma:root="true" ma:fieldsID="ac39375d2f941cd70b88ba288fdf6d8a" ns3:_="">
    <xsd:import namespace="9172de55-9eef-4dbb-832c-135f7a0ab6d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2de55-9eef-4dbb-832c-135f7a0ab6d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6B905F-E044-4DDF-963E-A404CE363970}">
  <ds:schemaRefs>
    <ds:schemaRef ds:uri="http://schemas.microsoft.com/office/infopath/2007/PartnerControls"/>
    <ds:schemaRef ds:uri="9172de55-9eef-4dbb-832c-135f7a0ab6db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602A75A-41BC-476B-8D15-1BB463309E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E4E72-7745-4324-B9D0-0F4A8392284B}">
  <ds:schemaRefs>
    <ds:schemaRef ds:uri="9172de55-9eef-4dbb-832c-135f7a0ab6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1343</Words>
  <Application>Microsoft Office PowerPoint</Application>
  <PresentationFormat>와이드스크린</PresentationFormat>
  <Paragraphs>206</Paragraphs>
  <Slides>15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Apple SD Gothic Neo</vt:lpstr>
      <vt:lpstr>Apple SD Gothic Neo ExtraBold</vt:lpstr>
      <vt:lpstr>나눔바른고딕</vt:lpstr>
      <vt:lpstr>Malgun Gothic</vt:lpstr>
      <vt:lpstr>Malgun Gothic</vt:lpstr>
      <vt:lpstr>에스코어 드림 3 Light</vt:lpstr>
      <vt:lpstr>에스코어 드림 4 Regular</vt:lpstr>
      <vt:lpstr>에스코어 드림 6 Bold</vt:lpstr>
      <vt:lpstr>Arial</vt:lpstr>
      <vt:lpstr>Wingdings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강가에</dc:creator>
  <cp:lastModifiedBy>권우현</cp:lastModifiedBy>
  <cp:revision>4</cp:revision>
  <dcterms:created xsi:type="dcterms:W3CDTF">2024-11-11T02:38:48Z</dcterms:created>
  <dcterms:modified xsi:type="dcterms:W3CDTF">2025-05-29T08:54:00Z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0x010100E57588C6E6823A4DAE0045A456D03093</vt:lpwstr>
  </property>
</Properties>
</file>